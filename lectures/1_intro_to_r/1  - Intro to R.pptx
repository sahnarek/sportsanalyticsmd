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1"/>
  </p:sldMasterIdLst>
  <p:notesMasterIdLst>
    <p:notesMasterId r:id="rId131"/>
  </p:notesMasterIdLst>
  <p:handoutMasterIdLst>
    <p:handoutMasterId r:id="rId132"/>
  </p:handout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91" r:id="rId19"/>
    <p:sldId id="274" r:id="rId20"/>
    <p:sldId id="275" r:id="rId21"/>
    <p:sldId id="499" r:id="rId22"/>
    <p:sldId id="500" r:id="rId23"/>
    <p:sldId id="288" r:id="rId24"/>
    <p:sldId id="289" r:id="rId25"/>
    <p:sldId id="463" r:id="rId26"/>
    <p:sldId id="290" r:id="rId27"/>
    <p:sldId id="464" r:id="rId28"/>
    <p:sldId id="465" r:id="rId29"/>
    <p:sldId id="466" r:id="rId30"/>
    <p:sldId id="467" r:id="rId31"/>
    <p:sldId id="292" r:id="rId32"/>
    <p:sldId id="468" r:id="rId33"/>
    <p:sldId id="469" r:id="rId34"/>
    <p:sldId id="470" r:id="rId35"/>
    <p:sldId id="471" r:id="rId36"/>
    <p:sldId id="472" r:id="rId37"/>
    <p:sldId id="473" r:id="rId38"/>
    <p:sldId id="474" r:id="rId39"/>
    <p:sldId id="522" r:id="rId40"/>
    <p:sldId id="475" r:id="rId41"/>
    <p:sldId id="503" r:id="rId42"/>
    <p:sldId id="476" r:id="rId43"/>
    <p:sldId id="478" r:id="rId44"/>
    <p:sldId id="477" r:id="rId45"/>
    <p:sldId id="479" r:id="rId46"/>
    <p:sldId id="480" r:id="rId47"/>
    <p:sldId id="481" r:id="rId48"/>
    <p:sldId id="278" r:id="rId49"/>
    <p:sldId id="279" r:id="rId50"/>
    <p:sldId id="280" r:id="rId51"/>
    <p:sldId id="281" r:id="rId52"/>
    <p:sldId id="282" r:id="rId53"/>
    <p:sldId id="285" r:id="rId54"/>
    <p:sldId id="283" r:id="rId55"/>
    <p:sldId id="284" r:id="rId56"/>
    <p:sldId id="286" r:id="rId57"/>
    <p:sldId id="483" r:id="rId58"/>
    <p:sldId id="484" r:id="rId59"/>
    <p:sldId id="485" r:id="rId60"/>
    <p:sldId id="486" r:id="rId61"/>
    <p:sldId id="487" r:id="rId62"/>
    <p:sldId id="488" r:id="rId63"/>
    <p:sldId id="489" r:id="rId64"/>
    <p:sldId id="490" r:id="rId65"/>
    <p:sldId id="491" r:id="rId66"/>
    <p:sldId id="494" r:id="rId67"/>
    <p:sldId id="495" r:id="rId68"/>
    <p:sldId id="496" r:id="rId69"/>
    <p:sldId id="497" r:id="rId70"/>
    <p:sldId id="301" r:id="rId71"/>
    <p:sldId id="302" r:id="rId72"/>
    <p:sldId id="303" r:id="rId73"/>
    <p:sldId id="492" r:id="rId74"/>
    <p:sldId id="493" r:id="rId75"/>
    <p:sldId id="315" r:id="rId76"/>
    <p:sldId id="316" r:id="rId77"/>
    <p:sldId id="317" r:id="rId78"/>
    <p:sldId id="318" r:id="rId79"/>
    <p:sldId id="523" r:id="rId80"/>
    <p:sldId id="524" r:id="rId81"/>
    <p:sldId id="312" r:id="rId82"/>
    <p:sldId id="525" r:id="rId83"/>
    <p:sldId id="526" r:id="rId84"/>
    <p:sldId id="527" r:id="rId85"/>
    <p:sldId id="528" r:id="rId86"/>
    <p:sldId id="324" r:id="rId87"/>
    <p:sldId id="529" r:id="rId88"/>
    <p:sldId id="323" r:id="rId89"/>
    <p:sldId id="325" r:id="rId90"/>
    <p:sldId id="530" r:id="rId91"/>
    <p:sldId id="298" r:id="rId92"/>
    <p:sldId id="299" r:id="rId93"/>
    <p:sldId id="320" r:id="rId94"/>
    <p:sldId id="293" r:id="rId95"/>
    <p:sldId id="321" r:id="rId96"/>
    <p:sldId id="322" r:id="rId97"/>
    <p:sldId id="381" r:id="rId98"/>
    <p:sldId id="382" r:id="rId99"/>
    <p:sldId id="391" r:id="rId100"/>
    <p:sldId id="384" r:id="rId101"/>
    <p:sldId id="385" r:id="rId102"/>
    <p:sldId id="392" r:id="rId103"/>
    <p:sldId id="393" r:id="rId104"/>
    <p:sldId id="394" r:id="rId105"/>
    <p:sldId id="498" r:id="rId106"/>
    <p:sldId id="501" r:id="rId107"/>
    <p:sldId id="502" r:id="rId108"/>
    <p:sldId id="504" r:id="rId109"/>
    <p:sldId id="505" r:id="rId110"/>
    <p:sldId id="506" r:id="rId111"/>
    <p:sldId id="507" r:id="rId112"/>
    <p:sldId id="509" r:id="rId113"/>
    <p:sldId id="510" r:id="rId114"/>
    <p:sldId id="404" r:id="rId115"/>
    <p:sldId id="415" r:id="rId116"/>
    <p:sldId id="413" r:id="rId117"/>
    <p:sldId id="414" r:id="rId118"/>
    <p:sldId id="412" r:id="rId119"/>
    <p:sldId id="520" r:id="rId120"/>
    <p:sldId id="511" r:id="rId121"/>
    <p:sldId id="512" r:id="rId122"/>
    <p:sldId id="513" r:id="rId123"/>
    <p:sldId id="514" r:id="rId124"/>
    <p:sldId id="515" r:id="rId125"/>
    <p:sldId id="516" r:id="rId126"/>
    <p:sldId id="521" r:id="rId127"/>
    <p:sldId id="517" r:id="rId128"/>
    <p:sldId id="518" r:id="rId129"/>
    <p:sldId id="519" r:id="rId130"/>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87" autoAdjust="0"/>
    <p:restoredTop sz="94660"/>
  </p:normalViewPr>
  <p:slideViewPr>
    <p:cSldViewPr snapToGrid="0">
      <p:cViewPr varScale="1">
        <p:scale>
          <a:sx n="82" d="100"/>
          <a:sy n="82" d="100"/>
        </p:scale>
        <p:origin x="1562" y="38"/>
      </p:cViewPr>
      <p:guideLst/>
    </p:cSldViewPr>
  </p:slideViewPr>
  <p:notesTextViewPr>
    <p:cViewPr>
      <p:scale>
        <a:sx n="3" d="2"/>
        <a:sy n="3" d="2"/>
      </p:scale>
      <p:origin x="0" y="0"/>
    </p:cViewPr>
  </p:notesTextViewPr>
  <p:notesViewPr>
    <p:cSldViewPr snapToGrid="0">
      <p:cViewPr varScale="1">
        <p:scale>
          <a:sx n="59" d="100"/>
          <a:sy n="59" d="100"/>
        </p:scale>
        <p:origin x="3142" y="48"/>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notesMaster" Target="notesMasters/notesMaster1.xml"/><Relationship Id="rId136"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handoutMaster" Target="handoutMasters/handout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fld id="{ECB6C174-C747-4D2A-9194-C530FC2F0FE9}" type="datetimeFigureOut">
              <a:rPr lang="en-US" smtClean="0"/>
              <a:t>9/11/2019</a:t>
            </a:fld>
            <a:endParaRPr lang="en-US"/>
          </a:p>
        </p:txBody>
      </p:sp>
      <p:sp>
        <p:nvSpPr>
          <p:cNvPr id="4" name="Footer Placeholder 3"/>
          <p:cNvSpPr>
            <a:spLocks noGrp="1"/>
          </p:cNvSpPr>
          <p:nvPr>
            <p:ph type="ftr" sz="quarter" idx="2"/>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8"/>
            <a:ext cx="3170238" cy="481012"/>
          </a:xfrm>
          <a:prstGeom prst="rect">
            <a:avLst/>
          </a:prstGeom>
        </p:spPr>
        <p:txBody>
          <a:bodyPr vert="horz" lIns="91440" tIns="45720" rIns="91440" bIns="45720" rtlCol="0" anchor="b"/>
          <a:lstStyle>
            <a:lvl1pPr algn="r">
              <a:defRPr sz="1200"/>
            </a:lvl1pPr>
          </a:lstStyle>
          <a:p>
            <a:fld id="{9502A517-F58A-4047-9EE1-FA6EFDFB0785}" type="slidenum">
              <a:rPr lang="en-US" smtClean="0"/>
              <a:t>‹#›</a:t>
            </a:fld>
            <a:endParaRPr lang="en-US"/>
          </a:p>
        </p:txBody>
      </p:sp>
    </p:spTree>
    <p:extLst>
      <p:ext uri="{BB962C8B-B14F-4D97-AF65-F5344CB8AC3E}">
        <p14:creationId xmlns:p14="http://schemas.microsoft.com/office/powerpoint/2010/main" val="10441644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988E1136-5AC6-42D7-9EAF-CE789E63A696}" type="datetimeFigureOut">
              <a:rPr lang="en-US" smtClean="0"/>
              <a:t>9/11/2019</a:t>
            </a:fld>
            <a:endParaRPr lang="en-US"/>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643B6085-CE2C-40BC-98E0-20356B1159EB}" type="slidenum">
              <a:rPr lang="en-US" smtClean="0"/>
              <a:t>‹#›</a:t>
            </a:fld>
            <a:endParaRPr lang="en-US"/>
          </a:p>
        </p:txBody>
      </p:sp>
    </p:spTree>
    <p:extLst>
      <p:ext uri="{BB962C8B-B14F-4D97-AF65-F5344CB8AC3E}">
        <p14:creationId xmlns:p14="http://schemas.microsoft.com/office/powerpoint/2010/main" val="1437155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this works only for numeric variables</a:t>
            </a:r>
          </a:p>
        </p:txBody>
      </p:sp>
      <p:sp>
        <p:nvSpPr>
          <p:cNvPr id="4" name="Slide Number Placeholder 3"/>
          <p:cNvSpPr>
            <a:spLocks noGrp="1"/>
          </p:cNvSpPr>
          <p:nvPr>
            <p:ph type="sldNum" sz="quarter" idx="10"/>
          </p:nvPr>
        </p:nvSpPr>
        <p:spPr/>
        <p:txBody>
          <a:bodyPr/>
          <a:lstStyle/>
          <a:p>
            <a:fld id="{A875B520-5D84-4425-BDF7-FA8EB87F90AA}" type="slidenum">
              <a:rPr lang="en-US" smtClean="0"/>
              <a:t>28</a:t>
            </a:fld>
            <a:endParaRPr lang="en-US"/>
          </a:p>
        </p:txBody>
      </p:sp>
    </p:spTree>
    <p:extLst>
      <p:ext uri="{BB962C8B-B14F-4D97-AF65-F5344CB8AC3E}">
        <p14:creationId xmlns:p14="http://schemas.microsoft.com/office/powerpoint/2010/main" val="2974038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75B520-5D84-4425-BDF7-FA8EB87F90AA}" type="slidenum">
              <a:rPr lang="en-US" smtClean="0"/>
              <a:t>29</a:t>
            </a:fld>
            <a:endParaRPr lang="en-US"/>
          </a:p>
        </p:txBody>
      </p:sp>
    </p:spTree>
    <p:extLst>
      <p:ext uri="{BB962C8B-B14F-4D97-AF65-F5344CB8AC3E}">
        <p14:creationId xmlns:p14="http://schemas.microsoft.com/office/powerpoint/2010/main" val="4086209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Boolean vector</a:t>
            </a:r>
          </a:p>
        </p:txBody>
      </p:sp>
      <p:sp>
        <p:nvSpPr>
          <p:cNvPr id="4" name="Slide Number Placeholder 3"/>
          <p:cNvSpPr>
            <a:spLocks noGrp="1"/>
          </p:cNvSpPr>
          <p:nvPr>
            <p:ph type="sldNum" sz="quarter" idx="10"/>
          </p:nvPr>
        </p:nvSpPr>
        <p:spPr/>
        <p:txBody>
          <a:bodyPr/>
          <a:lstStyle/>
          <a:p>
            <a:fld id="{A875B520-5D84-4425-BDF7-FA8EB87F90AA}" type="slidenum">
              <a:rPr lang="en-US" smtClean="0"/>
              <a:t>33</a:t>
            </a:fld>
            <a:endParaRPr lang="en-US"/>
          </a:p>
        </p:txBody>
      </p:sp>
    </p:spTree>
    <p:extLst>
      <p:ext uri="{BB962C8B-B14F-4D97-AF65-F5344CB8AC3E}">
        <p14:creationId xmlns:p14="http://schemas.microsoft.com/office/powerpoint/2010/main" val="15195894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subset vector by name</a:t>
            </a:r>
          </a:p>
        </p:txBody>
      </p:sp>
      <p:sp>
        <p:nvSpPr>
          <p:cNvPr id="4" name="Slide Number Placeholder 3"/>
          <p:cNvSpPr>
            <a:spLocks noGrp="1"/>
          </p:cNvSpPr>
          <p:nvPr>
            <p:ph type="sldNum" sz="quarter" idx="10"/>
          </p:nvPr>
        </p:nvSpPr>
        <p:spPr/>
        <p:txBody>
          <a:bodyPr/>
          <a:lstStyle/>
          <a:p>
            <a:fld id="{A875B520-5D84-4425-BDF7-FA8EB87F90AA}" type="slidenum">
              <a:rPr lang="en-US" smtClean="0"/>
              <a:t>34</a:t>
            </a:fld>
            <a:endParaRPr lang="en-US"/>
          </a:p>
        </p:txBody>
      </p:sp>
    </p:spTree>
    <p:extLst>
      <p:ext uri="{BB962C8B-B14F-4D97-AF65-F5344CB8AC3E}">
        <p14:creationId xmlns:p14="http://schemas.microsoft.com/office/powerpoint/2010/main" val="42147528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perform any arithmetic operation on a matrix</a:t>
            </a:r>
          </a:p>
          <a:p>
            <a:endParaRPr lang="en-US" dirty="0"/>
          </a:p>
        </p:txBody>
      </p:sp>
      <p:sp>
        <p:nvSpPr>
          <p:cNvPr id="4" name="Slide Number Placeholder 3"/>
          <p:cNvSpPr>
            <a:spLocks noGrp="1"/>
          </p:cNvSpPr>
          <p:nvPr>
            <p:ph type="sldNum" sz="quarter" idx="10"/>
          </p:nvPr>
        </p:nvSpPr>
        <p:spPr/>
        <p:txBody>
          <a:bodyPr/>
          <a:lstStyle/>
          <a:p>
            <a:fld id="{A875B520-5D84-4425-BDF7-FA8EB87F90AA}" type="slidenum">
              <a:rPr lang="en-US" smtClean="0"/>
              <a:t>54</a:t>
            </a:fld>
            <a:endParaRPr lang="en-US"/>
          </a:p>
        </p:txBody>
      </p:sp>
    </p:spTree>
    <p:extLst>
      <p:ext uri="{BB962C8B-B14F-4D97-AF65-F5344CB8AC3E}">
        <p14:creationId xmlns:p14="http://schemas.microsoft.com/office/powerpoint/2010/main" val="31631752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62587" y="1894207"/>
            <a:ext cx="7772400" cy="2387600"/>
          </a:xfrm>
        </p:spPr>
        <p:txBody>
          <a:bodyPr anchor="b">
            <a:normAutofit/>
          </a:bodyPr>
          <a:lstStyle>
            <a:lvl1pPr algn="ctr">
              <a:defRPr sz="4800"/>
            </a:lvl1pPr>
          </a:lstStyle>
          <a:p>
            <a:r>
              <a:rPr lang="en-US"/>
              <a:t>Click to edit Master title style</a:t>
            </a:r>
            <a:endParaRPr lang="en-US" dirty="0"/>
          </a:p>
        </p:txBody>
      </p:sp>
      <p:sp>
        <p:nvSpPr>
          <p:cNvPr id="7" name="Rectangle 6"/>
          <p:cNvSpPr/>
          <p:nvPr userDrawn="1"/>
        </p:nvSpPr>
        <p:spPr>
          <a:xfrm>
            <a:off x="0" y="898773"/>
            <a:ext cx="9144000" cy="436918"/>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0" i="0" kern="1200" dirty="0">
                <a:solidFill>
                  <a:schemeClr val="lt1"/>
                </a:solidFill>
                <a:effectLst/>
                <a:latin typeface="+mn-lt"/>
                <a:ea typeface="+mn-ea"/>
                <a:cs typeface="+mn-cs"/>
              </a:rPr>
              <a:t>CSE-241 Data Mining</a:t>
            </a:r>
          </a:p>
        </p:txBody>
      </p:sp>
      <p:pic>
        <p:nvPicPr>
          <p:cNvPr id="8" name="Picture 4" descr="Image result for aua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74514" y="-41522"/>
            <a:ext cx="969486" cy="940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4488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sp>
        <p:nvSpPr>
          <p:cNvPr id="7" name="Rectangle 6"/>
          <p:cNvSpPr/>
          <p:nvPr userDrawn="1"/>
        </p:nvSpPr>
        <p:spPr>
          <a:xfrm>
            <a:off x="3119988" y="2756985"/>
            <a:ext cx="5968871" cy="578968"/>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Placeholder 8"/>
          <p:cNvSpPr>
            <a:spLocks noGrp="1"/>
          </p:cNvSpPr>
          <p:nvPr>
            <p:ph type="body" sz="quarter" idx="10"/>
          </p:nvPr>
        </p:nvSpPr>
        <p:spPr>
          <a:xfrm>
            <a:off x="3119988" y="739863"/>
            <a:ext cx="5969000" cy="1865312"/>
          </a:xfrm>
        </p:spPr>
        <p:txBody>
          <a:bodyPr>
            <a:normAutofit/>
          </a:bodyPr>
          <a:lstStyle>
            <a:lvl1pPr marL="0" indent="0">
              <a:buNone/>
              <a:defRPr sz="3500"/>
            </a:lvl1pPr>
          </a:lstStyle>
          <a:p>
            <a:pPr lvl="0"/>
            <a:r>
              <a:rPr lang="en-US"/>
              <a:t>Edit Master text styles</a:t>
            </a:r>
          </a:p>
        </p:txBody>
      </p:sp>
      <p:pic>
        <p:nvPicPr>
          <p:cNvPr id="10" name="Picture 4" descr="Image result for aua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55843" y="6346637"/>
            <a:ext cx="533016" cy="4382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6188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pic>
        <p:nvPicPr>
          <p:cNvPr id="8" name="Picture 4" descr="Image result for aua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55843" y="6346637"/>
            <a:ext cx="533016" cy="43829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userDrawn="1"/>
        </p:nvSpPr>
        <p:spPr>
          <a:xfrm>
            <a:off x="0" y="672152"/>
            <a:ext cx="9144000" cy="87116"/>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Placeholder 2"/>
          <p:cNvSpPr>
            <a:spLocks noGrp="1"/>
          </p:cNvSpPr>
          <p:nvPr>
            <p:ph type="body" sz="quarter" idx="10" hasCustomPrompt="1"/>
          </p:nvPr>
        </p:nvSpPr>
        <p:spPr>
          <a:xfrm>
            <a:off x="128588" y="119063"/>
            <a:ext cx="8804275" cy="553089"/>
          </a:xfrm>
        </p:spPr>
        <p:txBody>
          <a:bodyPr>
            <a:normAutofit/>
          </a:bodyPr>
          <a:lstStyle>
            <a:lvl1pPr marL="0" indent="0">
              <a:buNone/>
              <a:defRPr sz="1800"/>
            </a:lvl1pPr>
          </a:lstStyle>
          <a:p>
            <a:pPr lvl="0"/>
            <a:r>
              <a:rPr lang="en-US" dirty="0"/>
              <a:t>Intro to R</a:t>
            </a:r>
          </a:p>
        </p:txBody>
      </p:sp>
    </p:spTree>
    <p:extLst>
      <p:ext uri="{BB962C8B-B14F-4D97-AF65-F5344CB8AC3E}">
        <p14:creationId xmlns:p14="http://schemas.microsoft.com/office/powerpoint/2010/main" val="21864065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D74C21-F129-4390-8B58-5FAD307DC540}" type="datetimeFigureOut">
              <a:rPr lang="en-US" smtClean="0"/>
              <a:t>9/11/2019</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4C3AB5-5D04-4530-A12F-E05E6A10177A}" type="slidenum">
              <a:rPr lang="en-US" smtClean="0"/>
              <a:t>‹#›</a:t>
            </a:fld>
            <a:endParaRPr lang="en-US"/>
          </a:p>
        </p:txBody>
      </p:sp>
    </p:spTree>
    <p:extLst>
      <p:ext uri="{BB962C8B-B14F-4D97-AF65-F5344CB8AC3E}">
        <p14:creationId xmlns:p14="http://schemas.microsoft.com/office/powerpoint/2010/main" val="3936510273"/>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67"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rstudio.com/products/rstudio/download/" TargetMode="External"/><Relationship Id="rId2" Type="http://schemas.openxmlformats.org/officeDocument/2006/relationships/hyperlink" Target="https://cran.r-project.org/" TargetMode="External"/><Relationship Id="rId1" Type="http://schemas.openxmlformats.org/officeDocument/2006/relationships/slideLayout" Target="../slideLayouts/slideLayout3.xml"/><Relationship Id="rId5" Type="http://schemas.openxmlformats.org/officeDocument/2006/relationships/image" Target="../media/image3.jpeg"/><Relationship Id="rId4" Type="http://schemas.openxmlformats.org/officeDocument/2006/relationships/hyperlink" Target="https://mran.microsoft.com/open"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www.rdocumentation.org/packages/base/functions/matrix" TargetMode="Externa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www.rdocumentation.org/packages/base/functions/matrix" TargetMode="Externa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hyperlink" Target="http://www.rdocumentation.org/packages/utils/functions/str" TargetMode="Externa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hyperlink" Target="http://vita.had.co.nz/papers/tidy-data.pdf" TargetMode="Externa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hyperlink" Target="http://www.rdocumentation.org/packages/base/functions/list" TargetMode="Externa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hyperlink" Target="https://en.wikipedia.org/wiki/YAML" TargetMode="External"/><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02CB6-2C2C-44C2-98E0-66EAF324EA9B}"/>
              </a:ext>
            </a:extLst>
          </p:cNvPr>
          <p:cNvSpPr>
            <a:spLocks noGrp="1"/>
          </p:cNvSpPr>
          <p:nvPr>
            <p:ph type="ctrTitle"/>
          </p:nvPr>
        </p:nvSpPr>
        <p:spPr>
          <a:xfrm>
            <a:off x="800674" y="1466875"/>
            <a:ext cx="7772400" cy="614649"/>
          </a:xfrm>
        </p:spPr>
        <p:txBody>
          <a:bodyPr>
            <a:normAutofit fontScale="90000"/>
          </a:bodyPr>
          <a:lstStyle/>
          <a:p>
            <a:r>
              <a:rPr lang="en-US" dirty="0"/>
              <a:t>Intro to R</a:t>
            </a:r>
          </a:p>
        </p:txBody>
      </p:sp>
      <p:sp>
        <p:nvSpPr>
          <p:cNvPr id="3" name="TextBox 2">
            <a:extLst>
              <a:ext uri="{FF2B5EF4-FFF2-40B4-BE49-F238E27FC236}">
                <a16:creationId xmlns:a16="http://schemas.microsoft.com/office/drawing/2014/main" id="{26865F58-A96C-4CC6-B0BA-4FDCD28C8A9D}"/>
              </a:ext>
            </a:extLst>
          </p:cNvPr>
          <p:cNvSpPr txBox="1"/>
          <p:nvPr/>
        </p:nvSpPr>
        <p:spPr>
          <a:xfrm>
            <a:off x="5035710" y="5328294"/>
            <a:ext cx="1676400" cy="369332"/>
          </a:xfrm>
          <a:prstGeom prst="rect">
            <a:avLst/>
          </a:prstGeom>
          <a:noFill/>
        </p:spPr>
        <p:txBody>
          <a:bodyPr wrap="square" rtlCol="0">
            <a:spAutoFit/>
          </a:bodyPr>
          <a:lstStyle/>
          <a:p>
            <a:r>
              <a:rPr lang="en-US" sz="1800" b="1" dirty="0">
                <a:latin typeface="+mn-lt"/>
              </a:rPr>
              <a:t>Ross </a:t>
            </a:r>
            <a:r>
              <a:rPr lang="en-US" sz="1800" b="1" dirty="0" err="1">
                <a:latin typeface="+mn-lt"/>
              </a:rPr>
              <a:t>Ihaka</a:t>
            </a:r>
            <a:endParaRPr lang="en-US" sz="1800" b="1" dirty="0">
              <a:latin typeface="+mn-lt"/>
            </a:endParaRPr>
          </a:p>
        </p:txBody>
      </p:sp>
      <p:pic>
        <p:nvPicPr>
          <p:cNvPr id="4" name="Picture 4" descr="http://graphics8.nytimes.com/images/2009/01/07/business/07program.600.jpg">
            <a:extLst>
              <a:ext uri="{FF2B5EF4-FFF2-40B4-BE49-F238E27FC236}">
                <a16:creationId xmlns:a16="http://schemas.microsoft.com/office/drawing/2014/main" id="{F7C33D8C-342F-4901-86D0-2C7BF3B5E0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0510" y="2470794"/>
            <a:ext cx="5715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1DBC0DA-560A-478F-B7C0-2174B1B8DB78}"/>
              </a:ext>
            </a:extLst>
          </p:cNvPr>
          <p:cNvSpPr txBox="1"/>
          <p:nvPr/>
        </p:nvSpPr>
        <p:spPr>
          <a:xfrm>
            <a:off x="1759110" y="5328294"/>
            <a:ext cx="2857500" cy="369332"/>
          </a:xfrm>
          <a:prstGeom prst="rect">
            <a:avLst/>
          </a:prstGeom>
          <a:noFill/>
        </p:spPr>
        <p:txBody>
          <a:bodyPr wrap="square" rtlCol="0">
            <a:spAutoFit/>
          </a:bodyPr>
          <a:lstStyle>
            <a:defPPr>
              <a:defRPr lang="en-US"/>
            </a:defPPr>
            <a:lvl1pPr>
              <a:defRPr sz="1800" b="1">
                <a:latin typeface="+mn-lt"/>
              </a:defRPr>
            </a:lvl1pPr>
          </a:lstStyle>
          <a:p>
            <a:r>
              <a:rPr lang="en-US" dirty="0"/>
              <a:t>Robert Gentleman</a:t>
            </a:r>
          </a:p>
        </p:txBody>
      </p:sp>
      <p:sp>
        <p:nvSpPr>
          <p:cNvPr id="6" name="TextBox 5">
            <a:extLst>
              <a:ext uri="{FF2B5EF4-FFF2-40B4-BE49-F238E27FC236}">
                <a16:creationId xmlns:a16="http://schemas.microsoft.com/office/drawing/2014/main" id="{740BB1C9-323F-483C-81B4-C60ACDEFC041}"/>
              </a:ext>
            </a:extLst>
          </p:cNvPr>
          <p:cNvSpPr txBox="1"/>
          <p:nvPr/>
        </p:nvSpPr>
        <p:spPr>
          <a:xfrm>
            <a:off x="2368710" y="5697626"/>
            <a:ext cx="4343400" cy="461665"/>
          </a:xfrm>
          <a:prstGeom prst="rect">
            <a:avLst/>
          </a:prstGeom>
          <a:noFill/>
        </p:spPr>
        <p:txBody>
          <a:bodyPr wrap="square" rtlCol="0">
            <a:spAutoFit/>
          </a:bodyPr>
          <a:lstStyle/>
          <a:p>
            <a:pPr algn="ctr"/>
            <a:r>
              <a:rPr lang="en-US" b="1" dirty="0"/>
              <a:t>Creators of R</a:t>
            </a:r>
          </a:p>
        </p:txBody>
      </p:sp>
    </p:spTree>
    <p:extLst>
      <p:ext uri="{BB962C8B-B14F-4D97-AF65-F5344CB8AC3E}">
        <p14:creationId xmlns:p14="http://schemas.microsoft.com/office/powerpoint/2010/main" val="2937796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US" sz="2400" dirty="0"/>
              <a:t>Intro to R</a:t>
            </a:r>
          </a:p>
        </p:txBody>
      </p:sp>
      <p:sp>
        <p:nvSpPr>
          <p:cNvPr id="3" name="TextBox 2">
            <a:extLst>
              <a:ext uri="{FF2B5EF4-FFF2-40B4-BE49-F238E27FC236}">
                <a16:creationId xmlns:a16="http://schemas.microsoft.com/office/drawing/2014/main" id="{A8430CB8-59B1-49B6-ABA4-D27C7E639DB1}"/>
              </a:ext>
            </a:extLst>
          </p:cNvPr>
          <p:cNvSpPr txBox="1"/>
          <p:nvPr/>
        </p:nvSpPr>
        <p:spPr>
          <a:xfrm>
            <a:off x="211369" y="1203883"/>
            <a:ext cx="7917142" cy="3693319"/>
          </a:xfrm>
          <a:prstGeom prst="rect">
            <a:avLst/>
          </a:prstGeom>
          <a:noFill/>
        </p:spPr>
        <p:txBody>
          <a:bodyPr wrap="square" rtlCol="0">
            <a:spAutoFit/>
          </a:bodyPr>
          <a:lstStyle/>
          <a:p>
            <a:pPr marL="285750" indent="-285750">
              <a:buFont typeface="Arial" panose="020B0604020202020204" pitchFamily="34" charset="0"/>
              <a:buChar char="•"/>
            </a:pPr>
            <a:r>
              <a:rPr lang="en-US" dirty="0"/>
              <a:t>Go to </a:t>
            </a:r>
            <a:r>
              <a:rPr lang="en-US" dirty="0">
                <a:hlinkClick r:id="rId2"/>
              </a:rPr>
              <a:t>https://cran.r-project.org/</a:t>
            </a:r>
            <a:r>
              <a:rPr lang="en-US" dirty="0"/>
              <a:t> and install version for your operating system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Go to </a:t>
            </a:r>
            <a:r>
              <a:rPr lang="en-US" dirty="0">
                <a:hlinkClick r:id="rId3"/>
              </a:rPr>
              <a:t>https://www.rstudio.com/products/rstudio/download/</a:t>
            </a:r>
            <a:r>
              <a:rPr lang="en-US" dirty="0"/>
              <a:t> and install R Studio IDE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r>
              <a:rPr lang="en-US" dirty="0"/>
              <a:t>You need to install R before installing R studio</a:t>
            </a:r>
          </a:p>
          <a:p>
            <a:endParaRPr lang="en-US" dirty="0"/>
          </a:p>
          <a:p>
            <a:r>
              <a:rPr lang="en-US" b="1" dirty="0"/>
              <a:t>Alternatives</a:t>
            </a:r>
          </a:p>
          <a:p>
            <a:endParaRPr lang="en-US" dirty="0"/>
          </a:p>
          <a:p>
            <a:pPr marL="285750" indent="-285750">
              <a:buFont typeface="Arial" panose="020B0604020202020204" pitchFamily="34" charset="0"/>
              <a:buChar char="•"/>
            </a:pPr>
            <a:r>
              <a:rPr lang="en-US" dirty="0"/>
              <a:t>Install Microsoft R </a:t>
            </a:r>
            <a:r>
              <a:rPr lang="en-US" dirty="0">
                <a:hlinkClick r:id="rId4"/>
              </a:rPr>
              <a:t>https://mran.microsoft.com/open</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Use Microsoft Visual Studio (free version available)</a:t>
            </a:r>
          </a:p>
        </p:txBody>
      </p:sp>
      <p:pic>
        <p:nvPicPr>
          <p:cNvPr id="1026" name="Picture 2" descr="Related image">
            <a:extLst>
              <a:ext uri="{FF2B5EF4-FFF2-40B4-BE49-F238E27FC236}">
                <a16:creationId xmlns:a16="http://schemas.microsoft.com/office/drawing/2014/main" id="{9FF5003D-76C2-4CEB-8EA6-27E6F84FD4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3673" y="3429000"/>
            <a:ext cx="2763782" cy="2763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7570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US" sz="2400" dirty="0"/>
              <a:t>Intro to R</a:t>
            </a:r>
          </a:p>
        </p:txBody>
      </p:sp>
      <p:pic>
        <p:nvPicPr>
          <p:cNvPr id="3" name="Picture 2">
            <a:extLst>
              <a:ext uri="{FF2B5EF4-FFF2-40B4-BE49-F238E27FC236}">
                <a16:creationId xmlns:a16="http://schemas.microsoft.com/office/drawing/2014/main" id="{E945F4B1-3174-47E9-900B-C7671482865B}"/>
              </a:ext>
            </a:extLst>
          </p:cNvPr>
          <p:cNvPicPr>
            <a:picLocks noChangeAspect="1"/>
          </p:cNvPicPr>
          <p:nvPr/>
        </p:nvPicPr>
        <p:blipFill>
          <a:blip r:embed="rId2"/>
          <a:stretch>
            <a:fillRect/>
          </a:stretch>
        </p:blipFill>
        <p:spPr>
          <a:xfrm>
            <a:off x="306508" y="1667976"/>
            <a:ext cx="8676668" cy="4587014"/>
          </a:xfrm>
          <a:prstGeom prst="rect">
            <a:avLst/>
          </a:prstGeom>
        </p:spPr>
      </p:pic>
      <p:sp>
        <p:nvSpPr>
          <p:cNvPr id="4" name="TextBox 3">
            <a:extLst>
              <a:ext uri="{FF2B5EF4-FFF2-40B4-BE49-F238E27FC236}">
                <a16:creationId xmlns:a16="http://schemas.microsoft.com/office/drawing/2014/main" id="{11B8C8A4-40CF-447D-9F19-AB00FC9E5087}"/>
              </a:ext>
            </a:extLst>
          </p:cNvPr>
          <p:cNvSpPr txBox="1"/>
          <p:nvPr/>
        </p:nvSpPr>
        <p:spPr>
          <a:xfrm>
            <a:off x="261914" y="850070"/>
            <a:ext cx="8638552" cy="369332"/>
          </a:xfrm>
          <a:prstGeom prst="rect">
            <a:avLst/>
          </a:prstGeom>
          <a:noFill/>
        </p:spPr>
        <p:txBody>
          <a:bodyPr wrap="square" rtlCol="0">
            <a:spAutoFit/>
          </a:bodyPr>
          <a:lstStyle/>
          <a:p>
            <a:r>
              <a:rPr lang="en-US" dirty="0"/>
              <a:t>Configure the pane layout of R studio as you wish</a:t>
            </a:r>
          </a:p>
        </p:txBody>
      </p:sp>
    </p:spTree>
    <p:extLst>
      <p:ext uri="{BB962C8B-B14F-4D97-AF65-F5344CB8AC3E}">
        <p14:creationId xmlns:p14="http://schemas.microsoft.com/office/powerpoint/2010/main" val="2763957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US" sz="2400" dirty="0"/>
              <a:t>Intro to R</a:t>
            </a:r>
          </a:p>
        </p:txBody>
      </p:sp>
      <p:pic>
        <p:nvPicPr>
          <p:cNvPr id="3" name="Picture 2">
            <a:extLst>
              <a:ext uri="{FF2B5EF4-FFF2-40B4-BE49-F238E27FC236}">
                <a16:creationId xmlns:a16="http://schemas.microsoft.com/office/drawing/2014/main" id="{93FF6450-4506-4605-B894-640577456641}"/>
              </a:ext>
            </a:extLst>
          </p:cNvPr>
          <p:cNvPicPr>
            <a:picLocks noChangeAspect="1"/>
          </p:cNvPicPr>
          <p:nvPr/>
        </p:nvPicPr>
        <p:blipFill>
          <a:blip r:embed="rId2"/>
          <a:stretch>
            <a:fillRect/>
          </a:stretch>
        </p:blipFill>
        <p:spPr>
          <a:xfrm>
            <a:off x="204297" y="1424443"/>
            <a:ext cx="8641029" cy="4578910"/>
          </a:xfrm>
          <a:prstGeom prst="rect">
            <a:avLst/>
          </a:prstGeom>
        </p:spPr>
      </p:pic>
    </p:spTree>
    <p:extLst>
      <p:ext uri="{BB962C8B-B14F-4D97-AF65-F5344CB8AC3E}">
        <p14:creationId xmlns:p14="http://schemas.microsoft.com/office/powerpoint/2010/main" val="139297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US" sz="2400" dirty="0"/>
              <a:t>Intro to R: console</a:t>
            </a:r>
          </a:p>
        </p:txBody>
      </p:sp>
      <p:sp>
        <p:nvSpPr>
          <p:cNvPr id="3" name="TextBox 2">
            <a:extLst>
              <a:ext uri="{FF2B5EF4-FFF2-40B4-BE49-F238E27FC236}">
                <a16:creationId xmlns:a16="http://schemas.microsoft.com/office/drawing/2014/main" id="{A43BFD41-B300-4641-81EA-5BB74572D143}"/>
              </a:ext>
            </a:extLst>
          </p:cNvPr>
          <p:cNvSpPr txBox="1"/>
          <p:nvPr/>
        </p:nvSpPr>
        <p:spPr>
          <a:xfrm>
            <a:off x="165419" y="891425"/>
            <a:ext cx="8142296" cy="1200329"/>
          </a:xfrm>
          <a:prstGeom prst="rect">
            <a:avLst/>
          </a:prstGeom>
          <a:noFill/>
        </p:spPr>
        <p:txBody>
          <a:bodyPr wrap="square" rtlCol="0">
            <a:spAutoFit/>
          </a:bodyPr>
          <a:lstStyle/>
          <a:p>
            <a:pPr lvl="0" defTabSz="914400" eaLnBrk="0" fontAlgn="base" hangingPunct="0">
              <a:spcBef>
                <a:spcPct val="0"/>
              </a:spcBef>
              <a:spcAft>
                <a:spcPct val="0"/>
              </a:spcAft>
            </a:pPr>
            <a:r>
              <a:rPr lang="en-US" altLang="en-US" dirty="0">
                <a:solidFill>
                  <a:srgbClr val="3A3A3A"/>
                </a:solidFill>
                <a:latin typeface="lato"/>
              </a:rPr>
              <a:t>Here you can type any valid R command after the </a:t>
            </a:r>
            <a:r>
              <a:rPr lang="en-US" altLang="en-US" sz="1200" dirty="0">
                <a:solidFill>
                  <a:srgbClr val="3A3A3A"/>
                </a:solidFill>
                <a:latin typeface="Roboto Mono"/>
              </a:rPr>
              <a:t>&gt;</a:t>
            </a:r>
            <a:r>
              <a:rPr lang="en-US" altLang="en-US" dirty="0">
                <a:solidFill>
                  <a:srgbClr val="3A3A3A"/>
                </a:solidFill>
                <a:latin typeface="lato"/>
              </a:rPr>
              <a:t> prompt followed by </a:t>
            </a:r>
            <a:r>
              <a:rPr lang="en-US" altLang="en-US" b="1" dirty="0">
                <a:solidFill>
                  <a:srgbClr val="3A3A3A"/>
                </a:solidFill>
                <a:latin typeface="lato"/>
              </a:rPr>
              <a:t>Enter</a:t>
            </a:r>
            <a:r>
              <a:rPr lang="en-US" altLang="en-US" dirty="0">
                <a:solidFill>
                  <a:srgbClr val="3A3A3A"/>
                </a:solidFill>
                <a:latin typeface="lato"/>
              </a:rPr>
              <a:t> and R will execute that command.</a:t>
            </a:r>
            <a:r>
              <a:rPr lang="en-US" altLang="en-US" sz="600" dirty="0"/>
              <a:t> </a:t>
            </a:r>
            <a:endParaRPr lang="en-US" altLang="en-US" sz="2800" dirty="0">
              <a:latin typeface="Arial" panose="020B0604020202020204" pitchFamily="34" charset="0"/>
            </a:endParaRPr>
          </a:p>
          <a:p>
            <a:endParaRPr lang="en-US" dirty="0"/>
          </a:p>
          <a:p>
            <a:pPr marL="285750" indent="-285750">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A649FFCA-E3AC-4F94-B8C2-2F4D25F15B26}"/>
              </a:ext>
            </a:extLst>
          </p:cNvPr>
          <p:cNvPicPr>
            <a:picLocks noChangeAspect="1"/>
          </p:cNvPicPr>
          <p:nvPr/>
        </p:nvPicPr>
        <p:blipFill>
          <a:blip r:embed="rId2"/>
          <a:stretch>
            <a:fillRect/>
          </a:stretch>
        </p:blipFill>
        <p:spPr>
          <a:xfrm>
            <a:off x="205160" y="2329212"/>
            <a:ext cx="8837982" cy="2834453"/>
          </a:xfrm>
          <a:prstGeom prst="rect">
            <a:avLst/>
          </a:prstGeom>
        </p:spPr>
      </p:pic>
      <p:sp>
        <p:nvSpPr>
          <p:cNvPr id="7" name="Rectangle 6">
            <a:extLst>
              <a:ext uri="{FF2B5EF4-FFF2-40B4-BE49-F238E27FC236}">
                <a16:creationId xmlns:a16="http://schemas.microsoft.com/office/drawing/2014/main" id="{8F7E687F-2F52-458E-B8EC-5B5843F4C47B}"/>
              </a:ext>
            </a:extLst>
          </p:cNvPr>
          <p:cNvSpPr/>
          <p:nvPr/>
        </p:nvSpPr>
        <p:spPr>
          <a:xfrm>
            <a:off x="492226" y="5179748"/>
            <a:ext cx="4232762" cy="923330"/>
          </a:xfrm>
          <a:prstGeom prst="rect">
            <a:avLst/>
          </a:prstGeom>
        </p:spPr>
        <p:txBody>
          <a:bodyPr wrap="none">
            <a:spAutoFit/>
          </a:bodyPr>
          <a:lstStyle/>
          <a:p>
            <a:r>
              <a:rPr lang="en-US" dirty="0"/>
              <a:t>Use console as a calculator</a:t>
            </a:r>
          </a:p>
          <a:p>
            <a:endParaRPr lang="en-US" dirty="0"/>
          </a:p>
          <a:p>
            <a:r>
              <a:rPr lang="en-US" dirty="0"/>
              <a:t>[1] is the index for the output, just ignore it</a:t>
            </a:r>
          </a:p>
        </p:txBody>
      </p:sp>
      <p:sp>
        <p:nvSpPr>
          <p:cNvPr id="8" name="Rectangle 1">
            <a:extLst>
              <a:ext uri="{FF2B5EF4-FFF2-40B4-BE49-F238E27FC236}">
                <a16:creationId xmlns:a16="http://schemas.microsoft.com/office/drawing/2014/main" id="{259ABF42-6F4E-4435-B99F-13917C6B17A1}"/>
              </a:ext>
            </a:extLst>
          </p:cNvPr>
          <p:cNvSpPr>
            <a:spLocks noChangeArrowheads="1"/>
          </p:cNvSpPr>
          <p:nvPr/>
        </p:nvSpPr>
        <p:spPr bwMode="auto">
          <a:xfrm>
            <a:off x="1755280" y="4502426"/>
            <a:ext cx="16090"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935" tIns="0" rIns="7935"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15271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US" sz="2400" dirty="0"/>
              <a:t>Intro to R</a:t>
            </a:r>
          </a:p>
        </p:txBody>
      </p:sp>
      <p:sp>
        <p:nvSpPr>
          <p:cNvPr id="3" name="Rectangle 2">
            <a:extLst>
              <a:ext uri="{FF2B5EF4-FFF2-40B4-BE49-F238E27FC236}">
                <a16:creationId xmlns:a16="http://schemas.microsoft.com/office/drawing/2014/main" id="{1E99C463-CD60-4288-80B6-7A1D9C3B8E8D}"/>
              </a:ext>
            </a:extLst>
          </p:cNvPr>
          <p:cNvSpPr/>
          <p:nvPr/>
        </p:nvSpPr>
        <p:spPr>
          <a:xfrm>
            <a:off x="344624" y="1187173"/>
            <a:ext cx="8440968" cy="3139321"/>
          </a:xfrm>
          <a:prstGeom prst="rect">
            <a:avLst/>
          </a:prstGeom>
        </p:spPr>
        <p:txBody>
          <a:bodyPr wrap="square">
            <a:spAutoFit/>
          </a:bodyPr>
          <a:lstStyle/>
          <a:p>
            <a:r>
              <a:rPr lang="en-US" dirty="0">
                <a:solidFill>
                  <a:srgbClr val="000000"/>
                </a:solidFill>
                <a:latin typeface="Source Sans Pro"/>
              </a:rPr>
              <a:t>RStudio projects make it straightforward to divide your work into multiple contexts, each with their own working directory, workspace, history, and source documents.</a:t>
            </a:r>
            <a:endParaRPr lang="hy-AM" dirty="0">
              <a:solidFill>
                <a:srgbClr val="000000"/>
              </a:solidFill>
              <a:latin typeface="Source Sans Pro"/>
            </a:endParaRPr>
          </a:p>
          <a:p>
            <a:endParaRPr lang="en-US" dirty="0">
              <a:solidFill>
                <a:srgbClr val="000000"/>
              </a:solidFill>
              <a:latin typeface="Source Sans Pro"/>
            </a:endParaRPr>
          </a:p>
          <a:p>
            <a:r>
              <a:rPr lang="en-US" b="1" dirty="0">
                <a:solidFill>
                  <a:srgbClr val="000000"/>
                </a:solidFill>
                <a:latin typeface="Source Sans Pro"/>
              </a:rPr>
              <a:t>Creating Projects</a:t>
            </a:r>
          </a:p>
          <a:p>
            <a:endParaRPr lang="hy-AM" dirty="0">
              <a:solidFill>
                <a:srgbClr val="000000"/>
              </a:solidFill>
              <a:latin typeface="Source Sans Pro"/>
            </a:endParaRPr>
          </a:p>
          <a:p>
            <a:pPr marL="285750" indent="-285750">
              <a:buFont typeface="Arial" panose="020B0604020202020204" pitchFamily="34" charset="0"/>
              <a:buChar char="•"/>
            </a:pPr>
            <a:r>
              <a:rPr lang="en-US" dirty="0">
                <a:solidFill>
                  <a:srgbClr val="000000"/>
                </a:solidFill>
                <a:latin typeface="Source Sans Pro"/>
              </a:rPr>
              <a:t>RStudio projects are associated with R working directories. You can create an RStudio project:</a:t>
            </a:r>
          </a:p>
          <a:p>
            <a:r>
              <a:rPr lang="hy-AM" dirty="0">
                <a:solidFill>
                  <a:srgbClr val="000000"/>
                </a:solidFill>
                <a:latin typeface="Source Sans Pro"/>
              </a:rPr>
              <a:t>	</a:t>
            </a:r>
            <a:r>
              <a:rPr lang="en-US" dirty="0">
                <a:solidFill>
                  <a:srgbClr val="000000"/>
                </a:solidFill>
                <a:latin typeface="Source Sans Pro"/>
              </a:rPr>
              <a:t>In a brand new directory</a:t>
            </a:r>
          </a:p>
          <a:p>
            <a:r>
              <a:rPr lang="hy-AM" dirty="0">
                <a:solidFill>
                  <a:srgbClr val="000000"/>
                </a:solidFill>
                <a:latin typeface="Source Sans Pro"/>
              </a:rPr>
              <a:t>	</a:t>
            </a:r>
            <a:r>
              <a:rPr lang="en-US" dirty="0">
                <a:solidFill>
                  <a:srgbClr val="000000"/>
                </a:solidFill>
                <a:latin typeface="Source Sans Pro"/>
              </a:rPr>
              <a:t>In an existing directory where you already have R code and data</a:t>
            </a:r>
          </a:p>
          <a:p>
            <a:r>
              <a:rPr lang="hy-AM" dirty="0">
                <a:solidFill>
                  <a:srgbClr val="000000"/>
                </a:solidFill>
                <a:latin typeface="Source Sans Pro"/>
              </a:rPr>
              <a:t>	</a:t>
            </a:r>
            <a:r>
              <a:rPr lang="en-US" dirty="0">
                <a:solidFill>
                  <a:srgbClr val="000000"/>
                </a:solidFill>
                <a:latin typeface="Source Sans Pro"/>
              </a:rPr>
              <a:t>By cloning a version control (Git or Subversion) repository</a:t>
            </a:r>
            <a:endParaRPr lang="en-US" b="0" i="0" dirty="0">
              <a:solidFill>
                <a:srgbClr val="000000"/>
              </a:solidFill>
              <a:effectLst/>
              <a:latin typeface="Source Sans Pro"/>
            </a:endParaRPr>
          </a:p>
        </p:txBody>
      </p:sp>
    </p:spTree>
    <p:extLst>
      <p:ext uri="{BB962C8B-B14F-4D97-AF65-F5344CB8AC3E}">
        <p14:creationId xmlns:p14="http://schemas.microsoft.com/office/powerpoint/2010/main" val="2779682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US" sz="2400" dirty="0"/>
              <a:t>Intro to R</a:t>
            </a:r>
          </a:p>
        </p:txBody>
      </p:sp>
      <p:sp>
        <p:nvSpPr>
          <p:cNvPr id="3" name="TextBox 2">
            <a:extLst>
              <a:ext uri="{FF2B5EF4-FFF2-40B4-BE49-F238E27FC236}">
                <a16:creationId xmlns:a16="http://schemas.microsoft.com/office/drawing/2014/main" id="{18632E97-69AD-4191-B9C1-AFBD384078E7}"/>
              </a:ext>
            </a:extLst>
          </p:cNvPr>
          <p:cNvSpPr txBox="1"/>
          <p:nvPr/>
        </p:nvSpPr>
        <p:spPr>
          <a:xfrm>
            <a:off x="128588" y="1070629"/>
            <a:ext cx="8546725" cy="1477328"/>
          </a:xfrm>
          <a:prstGeom prst="rect">
            <a:avLst/>
          </a:prstGeom>
          <a:noFill/>
        </p:spPr>
        <p:txBody>
          <a:bodyPr wrap="square" rtlCol="0">
            <a:spAutoFit/>
          </a:bodyPr>
          <a:lstStyle/>
          <a:p>
            <a:pPr marL="285750" indent="-285750">
              <a:buFont typeface="Arial" panose="020B0604020202020204" pitchFamily="34" charset="0"/>
              <a:buChar char="•"/>
            </a:pPr>
            <a:r>
              <a:rPr lang="en-US" dirty="0"/>
              <a:t>Create an empty directory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Go to File &gt; New Project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Chose existing directory</a:t>
            </a:r>
          </a:p>
        </p:txBody>
      </p:sp>
      <p:pic>
        <p:nvPicPr>
          <p:cNvPr id="2050" name="Picture 2" descr="http://www.rstudio.com/images/docs/projects_new.png">
            <a:extLst>
              <a:ext uri="{FF2B5EF4-FFF2-40B4-BE49-F238E27FC236}">
                <a16:creationId xmlns:a16="http://schemas.microsoft.com/office/drawing/2014/main" id="{55526BA1-0504-4918-AAF7-C4BA699007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7438" y="1031442"/>
            <a:ext cx="5305425" cy="3895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9116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US" sz="2400" dirty="0"/>
              <a:t>Intro to R</a:t>
            </a:r>
          </a:p>
        </p:txBody>
      </p:sp>
      <p:sp>
        <p:nvSpPr>
          <p:cNvPr id="3" name="TextBox 2">
            <a:extLst>
              <a:ext uri="{FF2B5EF4-FFF2-40B4-BE49-F238E27FC236}">
                <a16:creationId xmlns:a16="http://schemas.microsoft.com/office/drawing/2014/main" id="{58F21FFC-10E1-415C-93B0-4ADF88D2AD31}"/>
              </a:ext>
            </a:extLst>
          </p:cNvPr>
          <p:cNvSpPr txBox="1"/>
          <p:nvPr/>
        </p:nvSpPr>
        <p:spPr>
          <a:xfrm>
            <a:off x="82710" y="955755"/>
            <a:ext cx="8532868" cy="1754326"/>
          </a:xfrm>
          <a:prstGeom prst="rect">
            <a:avLst/>
          </a:prstGeom>
          <a:noFill/>
        </p:spPr>
        <p:txBody>
          <a:bodyPr wrap="square" rtlCol="0">
            <a:spAutoFit/>
          </a:bodyPr>
          <a:lstStyle/>
          <a:p>
            <a:pPr marL="285750" indent="-285750">
              <a:buFont typeface="Arial" panose="020B0604020202020204" pitchFamily="34" charset="0"/>
              <a:buChar char="•"/>
            </a:pPr>
            <a:r>
              <a:rPr lang="en-US" dirty="0"/>
              <a:t>Now when you have created your project, all files associated with the project need to be save in the project directory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To check the project directory do </a:t>
            </a:r>
            <a:r>
              <a:rPr lang="en-US" dirty="0" err="1"/>
              <a:t>getwd</a:t>
            </a:r>
            <a:r>
              <a:rPr lang="en-US" dirty="0"/>
              <a:t>() in console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D95FFD4E-4FEC-4C50-9719-ABF38F81200C}"/>
              </a:ext>
            </a:extLst>
          </p:cNvPr>
          <p:cNvPicPr>
            <a:picLocks noChangeAspect="1"/>
          </p:cNvPicPr>
          <p:nvPr/>
        </p:nvPicPr>
        <p:blipFill>
          <a:blip r:embed="rId2"/>
          <a:stretch>
            <a:fillRect/>
          </a:stretch>
        </p:blipFill>
        <p:spPr>
          <a:xfrm>
            <a:off x="1162529" y="2180015"/>
            <a:ext cx="7388720" cy="2946692"/>
          </a:xfrm>
          <a:prstGeom prst="rect">
            <a:avLst/>
          </a:prstGeom>
        </p:spPr>
      </p:pic>
      <p:sp>
        <p:nvSpPr>
          <p:cNvPr id="6" name="TextBox 5">
            <a:extLst>
              <a:ext uri="{FF2B5EF4-FFF2-40B4-BE49-F238E27FC236}">
                <a16:creationId xmlns:a16="http://schemas.microsoft.com/office/drawing/2014/main" id="{6E7BCEC9-FB51-48AB-B85C-CB6671B88627}"/>
              </a:ext>
            </a:extLst>
          </p:cNvPr>
          <p:cNvSpPr txBox="1"/>
          <p:nvPr/>
        </p:nvSpPr>
        <p:spPr>
          <a:xfrm>
            <a:off x="886830" y="5717579"/>
            <a:ext cx="6809753" cy="369332"/>
          </a:xfrm>
          <a:prstGeom prst="rect">
            <a:avLst/>
          </a:prstGeom>
          <a:noFill/>
        </p:spPr>
        <p:txBody>
          <a:bodyPr wrap="square" rtlCol="0">
            <a:spAutoFit/>
          </a:bodyPr>
          <a:lstStyle/>
          <a:p>
            <a:r>
              <a:rPr lang="en-US" dirty="0"/>
              <a:t>The name of the project appears at the top of R Studio window</a:t>
            </a:r>
          </a:p>
        </p:txBody>
      </p:sp>
      <p:cxnSp>
        <p:nvCxnSpPr>
          <p:cNvPr id="8" name="Connector: Curved 7">
            <a:extLst>
              <a:ext uri="{FF2B5EF4-FFF2-40B4-BE49-F238E27FC236}">
                <a16:creationId xmlns:a16="http://schemas.microsoft.com/office/drawing/2014/main" id="{AD8C2980-87F1-4171-A25F-56960A36C72D}"/>
              </a:ext>
            </a:extLst>
          </p:cNvPr>
          <p:cNvCxnSpPr>
            <a:stCxn id="6" idx="1"/>
          </p:cNvCxnSpPr>
          <p:nvPr/>
        </p:nvCxnSpPr>
        <p:spPr>
          <a:xfrm rot="10800000" flipH="1">
            <a:off x="886830" y="2274513"/>
            <a:ext cx="321648" cy="3627732"/>
          </a:xfrm>
          <a:prstGeom prst="curvedConnector4">
            <a:avLst>
              <a:gd name="adj1" fmla="val -188214"/>
              <a:gd name="adj2" fmla="val 96877"/>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6785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US" sz="2400" dirty="0"/>
              <a:t>Intro to R</a:t>
            </a:r>
          </a:p>
        </p:txBody>
      </p:sp>
      <p:sp>
        <p:nvSpPr>
          <p:cNvPr id="3" name="Rectangle 2">
            <a:extLst>
              <a:ext uri="{FF2B5EF4-FFF2-40B4-BE49-F238E27FC236}">
                <a16:creationId xmlns:a16="http://schemas.microsoft.com/office/drawing/2014/main" id="{B7E84044-B776-4386-90D2-6580237A1452}"/>
              </a:ext>
            </a:extLst>
          </p:cNvPr>
          <p:cNvSpPr/>
          <p:nvPr/>
        </p:nvSpPr>
        <p:spPr>
          <a:xfrm>
            <a:off x="280293" y="1028343"/>
            <a:ext cx="8275550" cy="3416320"/>
          </a:xfrm>
          <a:prstGeom prst="rect">
            <a:avLst/>
          </a:prstGeom>
        </p:spPr>
        <p:txBody>
          <a:bodyPr wrap="square">
            <a:spAutoFit/>
          </a:bodyPr>
          <a:lstStyle/>
          <a:p>
            <a:r>
              <a:rPr lang="en-US" dirty="0">
                <a:solidFill>
                  <a:srgbClr val="000000"/>
                </a:solidFill>
                <a:latin typeface="Source Sans Pro"/>
              </a:rPr>
              <a:t>When a new project is created RStudio:</a:t>
            </a:r>
          </a:p>
          <a:p>
            <a:pPr marL="285750" indent="-285750">
              <a:buFont typeface="Arial" panose="020B0604020202020204" pitchFamily="34" charset="0"/>
              <a:buChar char="•"/>
            </a:pPr>
            <a:r>
              <a:rPr lang="en-US" dirty="0">
                <a:solidFill>
                  <a:srgbClr val="000000"/>
                </a:solidFill>
                <a:latin typeface="Source Sans Pro"/>
              </a:rPr>
              <a:t>Creates a project file (with an .</a:t>
            </a:r>
            <a:r>
              <a:rPr lang="en-US" dirty="0" err="1">
                <a:solidFill>
                  <a:srgbClr val="000000"/>
                </a:solidFill>
                <a:latin typeface="Source Sans Pro"/>
              </a:rPr>
              <a:t>Rproj</a:t>
            </a:r>
            <a:r>
              <a:rPr lang="en-US" dirty="0">
                <a:solidFill>
                  <a:srgbClr val="000000"/>
                </a:solidFill>
                <a:latin typeface="Source Sans Pro"/>
              </a:rPr>
              <a:t> extension) within the project directory. This file contains various project options (discussed below) and can also be used as a shortcut for opening the project directly from the filesystem.</a:t>
            </a:r>
          </a:p>
          <a:p>
            <a:endParaRPr lang="en-US" dirty="0">
              <a:solidFill>
                <a:srgbClr val="000000"/>
              </a:solidFill>
              <a:latin typeface="Source Sans Pro"/>
            </a:endParaRPr>
          </a:p>
          <a:p>
            <a:pPr marL="285750" indent="-285750">
              <a:buFont typeface="Arial" panose="020B0604020202020204" pitchFamily="34" charset="0"/>
              <a:buChar char="•"/>
            </a:pPr>
            <a:r>
              <a:rPr lang="en-US" dirty="0">
                <a:solidFill>
                  <a:srgbClr val="000000"/>
                </a:solidFill>
                <a:latin typeface="Source Sans Pro"/>
              </a:rPr>
              <a:t>Creates a hidden directory (named .</a:t>
            </a:r>
            <a:r>
              <a:rPr lang="en-US" dirty="0" err="1">
                <a:solidFill>
                  <a:srgbClr val="000000"/>
                </a:solidFill>
                <a:latin typeface="Source Sans Pro"/>
              </a:rPr>
              <a:t>Rproj.user</a:t>
            </a:r>
            <a:r>
              <a:rPr lang="en-US" dirty="0">
                <a:solidFill>
                  <a:srgbClr val="000000"/>
                </a:solidFill>
                <a:latin typeface="Source Sans Pro"/>
              </a:rPr>
              <a:t>) where project-specific temporary files (e.g. auto-saved source documents, window-state, etc.) are stored. This directory is also automatically added to .</a:t>
            </a:r>
            <a:r>
              <a:rPr lang="en-US" dirty="0" err="1">
                <a:solidFill>
                  <a:srgbClr val="000000"/>
                </a:solidFill>
                <a:latin typeface="Source Sans Pro"/>
              </a:rPr>
              <a:t>Rbuildignore</a:t>
            </a:r>
            <a:r>
              <a:rPr lang="en-US" dirty="0">
                <a:solidFill>
                  <a:srgbClr val="000000"/>
                </a:solidFill>
                <a:latin typeface="Source Sans Pro"/>
              </a:rPr>
              <a:t>, .</a:t>
            </a:r>
            <a:r>
              <a:rPr lang="en-US" dirty="0" err="1">
                <a:solidFill>
                  <a:srgbClr val="000000"/>
                </a:solidFill>
                <a:latin typeface="Source Sans Pro"/>
              </a:rPr>
              <a:t>gitignore</a:t>
            </a:r>
            <a:r>
              <a:rPr lang="en-US" dirty="0">
                <a:solidFill>
                  <a:srgbClr val="000000"/>
                </a:solidFill>
                <a:latin typeface="Source Sans Pro"/>
              </a:rPr>
              <a:t>, etc. if required.</a:t>
            </a:r>
          </a:p>
          <a:p>
            <a:pPr marL="285750" indent="-285750">
              <a:buFont typeface="Arial" panose="020B0604020202020204" pitchFamily="34" charset="0"/>
              <a:buChar char="•"/>
            </a:pPr>
            <a:endParaRPr lang="en-US" dirty="0">
              <a:solidFill>
                <a:srgbClr val="000000"/>
              </a:solidFill>
              <a:latin typeface="Source Sans Pro"/>
            </a:endParaRPr>
          </a:p>
          <a:p>
            <a:pPr marL="285750" indent="-285750">
              <a:buFont typeface="Arial" panose="020B0604020202020204" pitchFamily="34" charset="0"/>
              <a:buChar char="•"/>
            </a:pPr>
            <a:r>
              <a:rPr lang="en-US" dirty="0">
                <a:solidFill>
                  <a:srgbClr val="000000"/>
                </a:solidFill>
                <a:latin typeface="Source Sans Pro"/>
              </a:rPr>
              <a:t>Loads the project into RStudio and display its name in the Projects toolbar (which is located on the far right side of the main toolbar)</a:t>
            </a:r>
            <a:endParaRPr lang="en-US" b="0" i="0" dirty="0">
              <a:solidFill>
                <a:srgbClr val="000000"/>
              </a:solidFill>
              <a:effectLst/>
              <a:latin typeface="Source Sans Pro"/>
            </a:endParaRPr>
          </a:p>
        </p:txBody>
      </p:sp>
    </p:spTree>
    <p:extLst>
      <p:ext uri="{BB962C8B-B14F-4D97-AF65-F5344CB8AC3E}">
        <p14:creationId xmlns:p14="http://schemas.microsoft.com/office/powerpoint/2010/main" val="3714102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US" sz="2400" dirty="0"/>
              <a:t>Intro to R</a:t>
            </a:r>
          </a:p>
        </p:txBody>
      </p:sp>
      <p:sp>
        <p:nvSpPr>
          <p:cNvPr id="3" name="Rectangle 2">
            <a:extLst>
              <a:ext uri="{FF2B5EF4-FFF2-40B4-BE49-F238E27FC236}">
                <a16:creationId xmlns:a16="http://schemas.microsoft.com/office/drawing/2014/main" id="{95CDACE2-C27D-474F-A64F-F11DC7922AFA}"/>
              </a:ext>
            </a:extLst>
          </p:cNvPr>
          <p:cNvSpPr/>
          <p:nvPr/>
        </p:nvSpPr>
        <p:spPr>
          <a:xfrm>
            <a:off x="411250" y="1118249"/>
            <a:ext cx="8029718" cy="3524042"/>
          </a:xfrm>
          <a:prstGeom prst="rect">
            <a:avLst/>
          </a:prstGeom>
        </p:spPr>
        <p:txBody>
          <a:bodyPr wrap="square">
            <a:spAutoFit/>
          </a:bodyPr>
          <a:lstStyle/>
          <a:p>
            <a:r>
              <a:rPr lang="en-US" b="1" dirty="0">
                <a:solidFill>
                  <a:srgbClr val="000000"/>
                </a:solidFill>
                <a:latin typeface="Source Sans Pro"/>
              </a:rPr>
              <a:t>Opening Projects</a:t>
            </a:r>
          </a:p>
          <a:p>
            <a:endParaRPr lang="en-US" dirty="0">
              <a:solidFill>
                <a:srgbClr val="000000"/>
              </a:solidFill>
              <a:latin typeface="Source Sans Pro"/>
            </a:endParaRPr>
          </a:p>
          <a:p>
            <a:pPr>
              <a:spcBef>
                <a:spcPts val="600"/>
              </a:spcBef>
            </a:pPr>
            <a:endParaRPr lang="en-US" dirty="0">
              <a:solidFill>
                <a:srgbClr val="000000"/>
              </a:solidFill>
              <a:latin typeface="Source Sans Pro"/>
            </a:endParaRPr>
          </a:p>
          <a:p>
            <a:pPr>
              <a:spcBef>
                <a:spcPts val="600"/>
              </a:spcBef>
            </a:pPr>
            <a:r>
              <a:rPr lang="en-US" dirty="0">
                <a:solidFill>
                  <a:srgbClr val="000000"/>
                </a:solidFill>
                <a:latin typeface="Source Sans Pro"/>
              </a:rPr>
              <a:t>There are several ways to open a project:</a:t>
            </a:r>
          </a:p>
          <a:p>
            <a:pPr marL="285750" indent="-285750">
              <a:spcBef>
                <a:spcPts val="600"/>
              </a:spcBef>
              <a:buFont typeface="Arial" panose="020B0604020202020204" pitchFamily="34" charset="0"/>
              <a:buChar char="•"/>
            </a:pPr>
            <a:r>
              <a:rPr lang="en-US" dirty="0">
                <a:solidFill>
                  <a:srgbClr val="000000"/>
                </a:solidFill>
                <a:latin typeface="Source Sans Pro"/>
              </a:rPr>
              <a:t>Using the </a:t>
            </a:r>
            <a:r>
              <a:rPr lang="en-US" b="1" dirty="0">
                <a:solidFill>
                  <a:srgbClr val="000000"/>
                </a:solidFill>
                <a:latin typeface="Source Sans Pro"/>
              </a:rPr>
              <a:t>Open Project</a:t>
            </a:r>
            <a:r>
              <a:rPr lang="en-US" dirty="0">
                <a:solidFill>
                  <a:srgbClr val="000000"/>
                </a:solidFill>
                <a:latin typeface="Source Sans Pro"/>
              </a:rPr>
              <a:t> command (available from both the Projects menu and the Projects toolbar) to browse for and select an existing project file (e.g. </a:t>
            </a:r>
            <a:r>
              <a:rPr lang="en-US" dirty="0" err="1">
                <a:solidFill>
                  <a:srgbClr val="000000"/>
                </a:solidFill>
                <a:latin typeface="Source Sans Pro"/>
              </a:rPr>
              <a:t>MyProject.Rproj</a:t>
            </a:r>
            <a:r>
              <a:rPr lang="en-US" dirty="0">
                <a:solidFill>
                  <a:srgbClr val="000000"/>
                </a:solidFill>
                <a:latin typeface="Source Sans Pro"/>
              </a:rPr>
              <a:t>).</a:t>
            </a:r>
          </a:p>
          <a:p>
            <a:pPr marL="285750" indent="-285750">
              <a:spcBef>
                <a:spcPts val="600"/>
              </a:spcBef>
              <a:buFont typeface="Arial" panose="020B0604020202020204" pitchFamily="34" charset="0"/>
              <a:buChar char="•"/>
            </a:pPr>
            <a:r>
              <a:rPr lang="en-US" dirty="0">
                <a:solidFill>
                  <a:srgbClr val="000000"/>
                </a:solidFill>
                <a:latin typeface="Source Sans Pro"/>
              </a:rPr>
              <a:t>Selecting a project from the list of most recently opened projects (also available from both the Projects menu and toolbar).</a:t>
            </a:r>
          </a:p>
          <a:p>
            <a:pPr marL="285750" indent="-285750">
              <a:spcBef>
                <a:spcPts val="600"/>
              </a:spcBef>
              <a:buFont typeface="Arial" panose="020B0604020202020204" pitchFamily="34" charset="0"/>
              <a:buChar char="•"/>
            </a:pPr>
            <a:r>
              <a:rPr lang="en-US" dirty="0">
                <a:solidFill>
                  <a:srgbClr val="000000"/>
                </a:solidFill>
                <a:latin typeface="Source Sans Pro"/>
              </a:rPr>
              <a:t>Double-clicking on the project file within the system shell (e.g. Windows Explorer, OSX Finder, etc.).</a:t>
            </a:r>
            <a:endParaRPr lang="en-US" b="0" i="0" dirty="0">
              <a:solidFill>
                <a:srgbClr val="000000"/>
              </a:solidFill>
              <a:effectLst/>
              <a:latin typeface="Source Sans Pro"/>
            </a:endParaRPr>
          </a:p>
        </p:txBody>
      </p:sp>
    </p:spTree>
    <p:extLst>
      <p:ext uri="{BB962C8B-B14F-4D97-AF65-F5344CB8AC3E}">
        <p14:creationId xmlns:p14="http://schemas.microsoft.com/office/powerpoint/2010/main" val="2167989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US" sz="2400" dirty="0"/>
              <a:t>Intro to R</a:t>
            </a:r>
          </a:p>
        </p:txBody>
      </p:sp>
      <p:pic>
        <p:nvPicPr>
          <p:cNvPr id="4" name="Picture 3">
            <a:extLst>
              <a:ext uri="{FF2B5EF4-FFF2-40B4-BE49-F238E27FC236}">
                <a16:creationId xmlns:a16="http://schemas.microsoft.com/office/drawing/2014/main" id="{5A45BBD6-FF6C-4744-81FA-AACCAEEC2A75}"/>
              </a:ext>
            </a:extLst>
          </p:cNvPr>
          <p:cNvPicPr>
            <a:picLocks noChangeAspect="1"/>
          </p:cNvPicPr>
          <p:nvPr/>
        </p:nvPicPr>
        <p:blipFill>
          <a:blip r:embed="rId2"/>
          <a:stretch>
            <a:fillRect/>
          </a:stretch>
        </p:blipFill>
        <p:spPr>
          <a:xfrm>
            <a:off x="303268" y="2678592"/>
            <a:ext cx="8105536" cy="2870018"/>
          </a:xfrm>
          <a:prstGeom prst="rect">
            <a:avLst/>
          </a:prstGeom>
        </p:spPr>
      </p:pic>
      <p:sp>
        <p:nvSpPr>
          <p:cNvPr id="5" name="TextBox 4">
            <a:extLst>
              <a:ext uri="{FF2B5EF4-FFF2-40B4-BE49-F238E27FC236}">
                <a16:creationId xmlns:a16="http://schemas.microsoft.com/office/drawing/2014/main" id="{E5C05267-BAC4-44A5-A63A-C44A5FEBBAF5}"/>
              </a:ext>
            </a:extLst>
          </p:cNvPr>
          <p:cNvSpPr txBox="1"/>
          <p:nvPr/>
        </p:nvSpPr>
        <p:spPr>
          <a:xfrm>
            <a:off x="183799" y="955755"/>
            <a:ext cx="8266360" cy="1477328"/>
          </a:xfrm>
          <a:prstGeom prst="rect">
            <a:avLst/>
          </a:prstGeom>
          <a:noFill/>
        </p:spPr>
        <p:txBody>
          <a:bodyPr wrap="square" rtlCol="0">
            <a:spAutoFit/>
          </a:bodyPr>
          <a:lstStyle/>
          <a:p>
            <a:r>
              <a:rPr lang="en-US" b="1" dirty="0"/>
              <a:t>The source editor</a:t>
            </a:r>
          </a:p>
          <a:p>
            <a:endParaRPr lang="en-US" b="1" dirty="0"/>
          </a:p>
          <a:p>
            <a:pPr marL="285750" indent="-285750">
              <a:buFont typeface="Arial" panose="020B0604020202020204" pitchFamily="34" charset="0"/>
              <a:buChar char="•"/>
            </a:pPr>
            <a:r>
              <a:rPr lang="en-US" b="1" dirty="0"/>
              <a:t>If you plan to reuse your code, write it in source editor</a:t>
            </a:r>
          </a:p>
          <a:p>
            <a:pPr marL="285750" indent="-285750">
              <a:buFont typeface="Arial" panose="020B0604020202020204" pitchFamily="34" charset="0"/>
              <a:buChar char="•"/>
            </a:pPr>
            <a:endParaRPr lang="en-US" b="1" dirty="0"/>
          </a:p>
          <a:p>
            <a:endParaRPr lang="en-US" b="1" dirty="0"/>
          </a:p>
        </p:txBody>
      </p:sp>
    </p:spTree>
    <p:extLst>
      <p:ext uri="{BB962C8B-B14F-4D97-AF65-F5344CB8AC3E}">
        <p14:creationId xmlns:p14="http://schemas.microsoft.com/office/powerpoint/2010/main" val="4240209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US" sz="2400" dirty="0"/>
              <a:t>Intro to R</a:t>
            </a:r>
          </a:p>
        </p:txBody>
      </p:sp>
      <p:pic>
        <p:nvPicPr>
          <p:cNvPr id="4" name="Picture 3">
            <a:extLst>
              <a:ext uri="{FF2B5EF4-FFF2-40B4-BE49-F238E27FC236}">
                <a16:creationId xmlns:a16="http://schemas.microsoft.com/office/drawing/2014/main" id="{A2A5ECB9-4578-4B7A-B511-C79B54BCA5F3}"/>
              </a:ext>
            </a:extLst>
          </p:cNvPr>
          <p:cNvPicPr>
            <a:picLocks noChangeAspect="1"/>
          </p:cNvPicPr>
          <p:nvPr/>
        </p:nvPicPr>
        <p:blipFill>
          <a:blip r:embed="rId2"/>
          <a:stretch>
            <a:fillRect/>
          </a:stretch>
        </p:blipFill>
        <p:spPr>
          <a:xfrm>
            <a:off x="289483" y="860425"/>
            <a:ext cx="5863945" cy="5726472"/>
          </a:xfrm>
          <a:prstGeom prst="rect">
            <a:avLst/>
          </a:prstGeom>
        </p:spPr>
      </p:pic>
      <p:sp>
        <p:nvSpPr>
          <p:cNvPr id="5" name="TextBox 4">
            <a:extLst>
              <a:ext uri="{FF2B5EF4-FFF2-40B4-BE49-F238E27FC236}">
                <a16:creationId xmlns:a16="http://schemas.microsoft.com/office/drawing/2014/main" id="{C6354096-E298-481F-BE5C-36D14DD90AAA}"/>
              </a:ext>
            </a:extLst>
          </p:cNvPr>
          <p:cNvSpPr txBox="1"/>
          <p:nvPr/>
        </p:nvSpPr>
        <p:spPr>
          <a:xfrm>
            <a:off x="6529459" y="1075224"/>
            <a:ext cx="2614541" cy="646331"/>
          </a:xfrm>
          <a:prstGeom prst="rect">
            <a:avLst/>
          </a:prstGeom>
          <a:noFill/>
        </p:spPr>
        <p:txBody>
          <a:bodyPr wrap="square" rtlCol="0">
            <a:spAutoFit/>
          </a:bodyPr>
          <a:lstStyle/>
          <a:p>
            <a:r>
              <a:rPr lang="en-US" dirty="0"/>
              <a:t>This will create new script file</a:t>
            </a:r>
          </a:p>
        </p:txBody>
      </p:sp>
    </p:spTree>
    <p:extLst>
      <p:ext uri="{BB962C8B-B14F-4D97-AF65-F5344CB8AC3E}">
        <p14:creationId xmlns:p14="http://schemas.microsoft.com/office/powerpoint/2010/main" val="3561994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US" sz="2400" dirty="0"/>
              <a:t>Intro to R</a:t>
            </a:r>
          </a:p>
        </p:txBody>
      </p:sp>
      <p:pic>
        <p:nvPicPr>
          <p:cNvPr id="4" name="Picture 3">
            <a:extLst>
              <a:ext uri="{FF2B5EF4-FFF2-40B4-BE49-F238E27FC236}">
                <a16:creationId xmlns:a16="http://schemas.microsoft.com/office/drawing/2014/main" id="{73465B02-5DA5-4CAE-B94E-217D0181877F}"/>
              </a:ext>
            </a:extLst>
          </p:cNvPr>
          <p:cNvPicPr>
            <a:picLocks noChangeAspect="1"/>
          </p:cNvPicPr>
          <p:nvPr/>
        </p:nvPicPr>
        <p:blipFill>
          <a:blip r:embed="rId2"/>
          <a:stretch>
            <a:fillRect/>
          </a:stretch>
        </p:blipFill>
        <p:spPr>
          <a:xfrm>
            <a:off x="321648" y="2535624"/>
            <a:ext cx="6818943" cy="2017752"/>
          </a:xfrm>
          <a:prstGeom prst="rect">
            <a:avLst/>
          </a:prstGeom>
        </p:spPr>
      </p:pic>
      <p:sp>
        <p:nvSpPr>
          <p:cNvPr id="5" name="TextBox 4">
            <a:extLst>
              <a:ext uri="{FF2B5EF4-FFF2-40B4-BE49-F238E27FC236}">
                <a16:creationId xmlns:a16="http://schemas.microsoft.com/office/drawing/2014/main" id="{2EB2A573-93D3-488C-A9C1-25745398AF06}"/>
              </a:ext>
            </a:extLst>
          </p:cNvPr>
          <p:cNvSpPr txBox="1"/>
          <p:nvPr/>
        </p:nvSpPr>
        <p:spPr>
          <a:xfrm>
            <a:off x="321648" y="882235"/>
            <a:ext cx="7347365" cy="1200329"/>
          </a:xfrm>
          <a:prstGeom prst="rect">
            <a:avLst/>
          </a:prstGeom>
          <a:noFill/>
        </p:spPr>
        <p:txBody>
          <a:bodyPr wrap="square" rtlCol="0">
            <a:spAutoFit/>
          </a:bodyPr>
          <a:lstStyle/>
          <a:p>
            <a:pPr marL="285750" indent="-285750">
              <a:buFont typeface="Arial" panose="020B0604020202020204" pitchFamily="34" charset="0"/>
              <a:buChar char="•"/>
            </a:pPr>
            <a:r>
              <a:rPr lang="en-US" dirty="0"/>
              <a:t>To run the script line from source editor, put the </a:t>
            </a:r>
            <a:r>
              <a:rPr lang="en-US" dirty="0" err="1"/>
              <a:t>coursor</a:t>
            </a:r>
            <a:r>
              <a:rPr lang="en-US" dirty="0"/>
              <a:t> anywhere on the line and hit </a:t>
            </a:r>
            <a:r>
              <a:rPr lang="en-US" b="1" dirty="0" err="1"/>
              <a:t>ctrl+enter</a:t>
            </a:r>
            <a:endParaRPr lang="en-US" b="1" dirty="0"/>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dirty="0"/>
              <a:t>You will see the output in the console</a:t>
            </a:r>
          </a:p>
        </p:txBody>
      </p:sp>
    </p:spTree>
    <p:extLst>
      <p:ext uri="{BB962C8B-B14F-4D97-AF65-F5344CB8AC3E}">
        <p14:creationId xmlns:p14="http://schemas.microsoft.com/office/powerpoint/2010/main" val="3415672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US" sz="2400" dirty="0"/>
              <a:t>Intro to R</a:t>
            </a:r>
          </a:p>
        </p:txBody>
      </p:sp>
      <p:sp>
        <p:nvSpPr>
          <p:cNvPr id="3" name="TextBox 2">
            <a:extLst>
              <a:ext uri="{FF2B5EF4-FFF2-40B4-BE49-F238E27FC236}">
                <a16:creationId xmlns:a16="http://schemas.microsoft.com/office/drawing/2014/main" id="{474914EE-C773-4205-939A-8D7F7548B08D}"/>
              </a:ext>
            </a:extLst>
          </p:cNvPr>
          <p:cNvSpPr txBox="1"/>
          <p:nvPr/>
        </p:nvSpPr>
        <p:spPr>
          <a:xfrm>
            <a:off x="55140" y="1020084"/>
            <a:ext cx="8693692" cy="1477328"/>
          </a:xfrm>
          <a:prstGeom prst="rect">
            <a:avLst/>
          </a:prstGeom>
          <a:noFill/>
        </p:spPr>
        <p:txBody>
          <a:bodyPr wrap="square" rtlCol="0">
            <a:spAutoFit/>
          </a:bodyPr>
          <a:lstStyle/>
          <a:p>
            <a:pPr marL="285750" indent="-285750">
              <a:buFont typeface="Arial" panose="020B0604020202020204" pitchFamily="34" charset="0"/>
              <a:buChar char="•"/>
            </a:pPr>
            <a:r>
              <a:rPr lang="en-US" dirty="0"/>
              <a:t>If you have a piece of text in your editor that is not a code (thus is not executable by R) then you need to comment it, add # before each line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When run this line of code will printed in console as a text</a:t>
            </a:r>
          </a:p>
          <a:p>
            <a:pPr marL="285750" indent="-285750">
              <a:buFont typeface="Arial" panose="020B0604020202020204" pitchFamily="34" charset="0"/>
              <a:buChar char="•"/>
            </a:pPr>
            <a:endParaRPr lang="en-US" dirty="0"/>
          </a:p>
        </p:txBody>
      </p:sp>
      <p:pic>
        <p:nvPicPr>
          <p:cNvPr id="4" name="Picture 3">
            <a:extLst>
              <a:ext uri="{FF2B5EF4-FFF2-40B4-BE49-F238E27FC236}">
                <a16:creationId xmlns:a16="http://schemas.microsoft.com/office/drawing/2014/main" id="{167C2170-F727-4B4F-905B-E7E3230C2454}"/>
              </a:ext>
            </a:extLst>
          </p:cNvPr>
          <p:cNvPicPr>
            <a:picLocks noChangeAspect="1"/>
          </p:cNvPicPr>
          <p:nvPr/>
        </p:nvPicPr>
        <p:blipFill>
          <a:blip r:embed="rId2"/>
          <a:stretch>
            <a:fillRect/>
          </a:stretch>
        </p:blipFill>
        <p:spPr>
          <a:xfrm>
            <a:off x="284519" y="2313230"/>
            <a:ext cx="6327650" cy="4094717"/>
          </a:xfrm>
          <a:prstGeom prst="rect">
            <a:avLst/>
          </a:prstGeom>
        </p:spPr>
      </p:pic>
      <p:sp>
        <p:nvSpPr>
          <p:cNvPr id="5" name="TextBox 4">
            <a:extLst>
              <a:ext uri="{FF2B5EF4-FFF2-40B4-BE49-F238E27FC236}">
                <a16:creationId xmlns:a16="http://schemas.microsoft.com/office/drawing/2014/main" id="{68D1DBE2-2BC8-4C22-B6FC-3DD873E4E7A0}"/>
              </a:ext>
            </a:extLst>
          </p:cNvPr>
          <p:cNvSpPr txBox="1"/>
          <p:nvPr/>
        </p:nvSpPr>
        <p:spPr>
          <a:xfrm>
            <a:off x="6772993" y="2497412"/>
            <a:ext cx="2086488" cy="923330"/>
          </a:xfrm>
          <a:prstGeom prst="rect">
            <a:avLst/>
          </a:prstGeom>
          <a:noFill/>
        </p:spPr>
        <p:txBody>
          <a:bodyPr wrap="square" rtlCol="0">
            <a:spAutoFit/>
          </a:bodyPr>
          <a:lstStyle/>
          <a:p>
            <a:r>
              <a:rPr lang="en-US" b="1" dirty="0"/>
              <a:t>To comment large chunk of text, use </a:t>
            </a:r>
            <a:r>
              <a:rPr lang="en-US" b="1" dirty="0" err="1"/>
              <a:t>ctrl+shift+c</a:t>
            </a:r>
            <a:endParaRPr lang="en-US" b="1" dirty="0"/>
          </a:p>
        </p:txBody>
      </p:sp>
    </p:spTree>
    <p:extLst>
      <p:ext uri="{BB962C8B-B14F-4D97-AF65-F5344CB8AC3E}">
        <p14:creationId xmlns:p14="http://schemas.microsoft.com/office/powerpoint/2010/main" val="1121533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US" sz="2400" dirty="0"/>
              <a:t>Intro to R</a:t>
            </a:r>
          </a:p>
        </p:txBody>
      </p:sp>
      <p:sp>
        <p:nvSpPr>
          <p:cNvPr id="3" name="Rectangle 2">
            <a:extLst>
              <a:ext uri="{FF2B5EF4-FFF2-40B4-BE49-F238E27FC236}">
                <a16:creationId xmlns:a16="http://schemas.microsoft.com/office/drawing/2014/main" id="{549BF990-A545-4C2C-B42D-CF022C9DBACB}"/>
              </a:ext>
            </a:extLst>
          </p:cNvPr>
          <p:cNvSpPr/>
          <p:nvPr/>
        </p:nvSpPr>
        <p:spPr>
          <a:xfrm>
            <a:off x="562885" y="1100475"/>
            <a:ext cx="7519676" cy="1200329"/>
          </a:xfrm>
          <a:prstGeom prst="rect">
            <a:avLst/>
          </a:prstGeom>
        </p:spPr>
        <p:txBody>
          <a:bodyPr wrap="square">
            <a:spAutoFit/>
          </a:bodyPr>
          <a:lstStyle/>
          <a:p>
            <a:pPr marL="285750" indent="-285750">
              <a:buFont typeface="Arial" panose="020B0604020202020204" pitchFamily="34" charset="0"/>
              <a:buChar char="•"/>
            </a:pPr>
            <a:r>
              <a:rPr lang="en-US" dirty="0">
                <a:solidFill>
                  <a:srgbClr val="3A3A3A"/>
                </a:solidFill>
                <a:latin typeface="lato"/>
              </a:rPr>
              <a:t> The environment window contains objects (data, values, functions) R has currently stored in its memory. </a:t>
            </a:r>
          </a:p>
          <a:p>
            <a:pPr marL="285750" indent="-285750">
              <a:buFont typeface="Arial" panose="020B0604020202020204" pitchFamily="34" charset="0"/>
              <a:buChar char="•"/>
            </a:pPr>
            <a:r>
              <a:rPr lang="en-US" dirty="0">
                <a:solidFill>
                  <a:srgbClr val="3A3A3A"/>
                </a:solidFill>
                <a:latin typeface="lato"/>
              </a:rPr>
              <a:t>The history window shows all commands that were executed in the console.</a:t>
            </a:r>
            <a:endParaRPr lang="en-US" dirty="0"/>
          </a:p>
        </p:txBody>
      </p:sp>
      <p:pic>
        <p:nvPicPr>
          <p:cNvPr id="5" name="Picture 4">
            <a:extLst>
              <a:ext uri="{FF2B5EF4-FFF2-40B4-BE49-F238E27FC236}">
                <a16:creationId xmlns:a16="http://schemas.microsoft.com/office/drawing/2014/main" id="{977B22BC-6287-45CB-BC68-A019371F2B82}"/>
              </a:ext>
            </a:extLst>
          </p:cNvPr>
          <p:cNvPicPr>
            <a:picLocks noChangeAspect="1"/>
          </p:cNvPicPr>
          <p:nvPr/>
        </p:nvPicPr>
        <p:blipFill>
          <a:blip r:embed="rId2"/>
          <a:stretch>
            <a:fillRect/>
          </a:stretch>
        </p:blipFill>
        <p:spPr>
          <a:xfrm>
            <a:off x="864080" y="2541022"/>
            <a:ext cx="7415839" cy="3852886"/>
          </a:xfrm>
          <a:prstGeom prst="rect">
            <a:avLst/>
          </a:prstGeom>
        </p:spPr>
      </p:pic>
    </p:spTree>
    <p:extLst>
      <p:ext uri="{BB962C8B-B14F-4D97-AF65-F5344CB8AC3E}">
        <p14:creationId xmlns:p14="http://schemas.microsoft.com/office/powerpoint/2010/main" val="1731579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US" sz="2400" dirty="0"/>
              <a:t>Intro to R</a:t>
            </a:r>
          </a:p>
        </p:txBody>
      </p:sp>
      <p:pic>
        <p:nvPicPr>
          <p:cNvPr id="4" name="Picture 3">
            <a:extLst>
              <a:ext uri="{FF2B5EF4-FFF2-40B4-BE49-F238E27FC236}">
                <a16:creationId xmlns:a16="http://schemas.microsoft.com/office/drawing/2014/main" id="{DE75948A-7B2C-45E4-AC10-DDBF88F863BF}"/>
              </a:ext>
            </a:extLst>
          </p:cNvPr>
          <p:cNvPicPr>
            <a:picLocks noChangeAspect="1"/>
          </p:cNvPicPr>
          <p:nvPr/>
        </p:nvPicPr>
        <p:blipFill>
          <a:blip r:embed="rId2"/>
          <a:stretch>
            <a:fillRect/>
          </a:stretch>
        </p:blipFill>
        <p:spPr>
          <a:xfrm>
            <a:off x="900616" y="2375004"/>
            <a:ext cx="7420278" cy="3624142"/>
          </a:xfrm>
          <a:prstGeom prst="rect">
            <a:avLst/>
          </a:prstGeom>
        </p:spPr>
      </p:pic>
      <p:sp>
        <p:nvSpPr>
          <p:cNvPr id="5" name="Rectangle 4">
            <a:extLst>
              <a:ext uri="{FF2B5EF4-FFF2-40B4-BE49-F238E27FC236}">
                <a16:creationId xmlns:a16="http://schemas.microsoft.com/office/drawing/2014/main" id="{C2B0D45A-6173-4B06-8296-A6BF4A625CB8}"/>
              </a:ext>
            </a:extLst>
          </p:cNvPr>
          <p:cNvSpPr/>
          <p:nvPr/>
        </p:nvSpPr>
        <p:spPr>
          <a:xfrm>
            <a:off x="620321" y="1154809"/>
            <a:ext cx="7521973" cy="923330"/>
          </a:xfrm>
          <a:prstGeom prst="rect">
            <a:avLst/>
          </a:prstGeom>
        </p:spPr>
        <p:txBody>
          <a:bodyPr wrap="square">
            <a:spAutoFit/>
          </a:bodyPr>
          <a:lstStyle/>
          <a:p>
            <a:pPr>
              <a:buFont typeface="+mj-lt"/>
              <a:buAutoNum type="arabicPeriod"/>
            </a:pPr>
            <a:r>
              <a:rPr lang="en-US" b="1" dirty="0">
                <a:solidFill>
                  <a:srgbClr val="3A3A3A"/>
                </a:solidFill>
                <a:latin typeface="+mj-lt"/>
              </a:rPr>
              <a:t>Bottom right</a:t>
            </a:r>
            <a:r>
              <a:rPr lang="en-US" dirty="0">
                <a:solidFill>
                  <a:srgbClr val="3A3A3A"/>
                </a:solidFill>
                <a:latin typeface="+mj-lt"/>
              </a:rPr>
              <a:t>: files, plots, packages, help, &amp; viewer pane. Here you can open files, view plots, install and load packages, read man pages, and view markdown and other documents in the viewer tab.</a:t>
            </a:r>
            <a:endParaRPr lang="en-US" b="0" i="0" dirty="0">
              <a:solidFill>
                <a:srgbClr val="3A3A3A"/>
              </a:solidFill>
              <a:effectLst/>
              <a:latin typeface="+mj-lt"/>
            </a:endParaRPr>
          </a:p>
        </p:txBody>
      </p:sp>
    </p:spTree>
    <p:extLst>
      <p:ext uri="{BB962C8B-B14F-4D97-AF65-F5344CB8AC3E}">
        <p14:creationId xmlns:p14="http://schemas.microsoft.com/office/powerpoint/2010/main" val="3845885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US" sz="2400" dirty="0"/>
              <a:t>Intro to R</a:t>
            </a:r>
          </a:p>
        </p:txBody>
      </p:sp>
      <p:sp>
        <p:nvSpPr>
          <p:cNvPr id="3" name="TextBox 2">
            <a:extLst>
              <a:ext uri="{FF2B5EF4-FFF2-40B4-BE49-F238E27FC236}">
                <a16:creationId xmlns:a16="http://schemas.microsoft.com/office/drawing/2014/main" id="{7C587216-56D0-4F2D-B50B-F3C407F348C0}"/>
              </a:ext>
            </a:extLst>
          </p:cNvPr>
          <p:cNvSpPr txBox="1"/>
          <p:nvPr/>
        </p:nvSpPr>
        <p:spPr>
          <a:xfrm>
            <a:off x="179204" y="937375"/>
            <a:ext cx="7829837" cy="923330"/>
          </a:xfrm>
          <a:prstGeom prst="rect">
            <a:avLst/>
          </a:prstGeom>
          <a:noFill/>
        </p:spPr>
        <p:txBody>
          <a:bodyPr wrap="square" rtlCol="0">
            <a:spAutoFit/>
          </a:bodyPr>
          <a:lstStyle/>
          <a:p>
            <a:r>
              <a:rPr lang="en-US" dirty="0"/>
              <a:t>Some useful shortcuts:</a:t>
            </a:r>
          </a:p>
          <a:p>
            <a:pPr marL="285750" indent="-285750">
              <a:buFont typeface="Arial" panose="020B0604020202020204" pitchFamily="34" charset="0"/>
              <a:buChar char="•"/>
            </a:pPr>
            <a:r>
              <a:rPr lang="en-US" dirty="0"/>
              <a:t>type first few letters of the function/object then hit </a:t>
            </a:r>
            <a:r>
              <a:rPr lang="en-US" b="1" dirty="0"/>
              <a:t>Tab </a:t>
            </a:r>
            <a:r>
              <a:rPr lang="en-US" dirty="0"/>
              <a:t>to open dropdown menu with possible options</a:t>
            </a:r>
            <a:endParaRPr lang="en-US" b="1" dirty="0"/>
          </a:p>
        </p:txBody>
      </p:sp>
      <p:pic>
        <p:nvPicPr>
          <p:cNvPr id="5" name="Picture 4">
            <a:extLst>
              <a:ext uri="{FF2B5EF4-FFF2-40B4-BE49-F238E27FC236}">
                <a16:creationId xmlns:a16="http://schemas.microsoft.com/office/drawing/2014/main" id="{074198B4-4A6F-454D-9BEC-66AED26A5212}"/>
              </a:ext>
            </a:extLst>
          </p:cNvPr>
          <p:cNvPicPr>
            <a:picLocks noChangeAspect="1"/>
          </p:cNvPicPr>
          <p:nvPr/>
        </p:nvPicPr>
        <p:blipFill>
          <a:blip r:embed="rId2"/>
          <a:stretch>
            <a:fillRect/>
          </a:stretch>
        </p:blipFill>
        <p:spPr>
          <a:xfrm>
            <a:off x="598204" y="2008004"/>
            <a:ext cx="6905319" cy="4014973"/>
          </a:xfrm>
          <a:prstGeom prst="rect">
            <a:avLst/>
          </a:prstGeom>
        </p:spPr>
      </p:pic>
    </p:spTree>
    <p:extLst>
      <p:ext uri="{BB962C8B-B14F-4D97-AF65-F5344CB8AC3E}">
        <p14:creationId xmlns:p14="http://schemas.microsoft.com/office/powerpoint/2010/main" val="3613319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Intro to R: Function</a:t>
            </a:r>
          </a:p>
        </p:txBody>
      </p:sp>
      <p:pic>
        <p:nvPicPr>
          <p:cNvPr id="5" name="Picture 4">
            <a:extLst>
              <a:ext uri="{FF2B5EF4-FFF2-40B4-BE49-F238E27FC236}">
                <a16:creationId xmlns:a16="http://schemas.microsoft.com/office/drawing/2014/main" id="{80F3CE95-CB6E-4CF8-B9F2-E01A95ACBF6D}"/>
              </a:ext>
            </a:extLst>
          </p:cNvPr>
          <p:cNvPicPr>
            <a:picLocks noChangeAspect="1"/>
          </p:cNvPicPr>
          <p:nvPr/>
        </p:nvPicPr>
        <p:blipFill>
          <a:blip r:embed="rId2"/>
          <a:stretch>
            <a:fillRect/>
          </a:stretch>
        </p:blipFill>
        <p:spPr>
          <a:xfrm>
            <a:off x="248129" y="2788105"/>
            <a:ext cx="7475407" cy="2410504"/>
          </a:xfrm>
          <a:prstGeom prst="rect">
            <a:avLst/>
          </a:prstGeom>
        </p:spPr>
      </p:pic>
      <p:sp>
        <p:nvSpPr>
          <p:cNvPr id="6" name="TextBox 5">
            <a:extLst>
              <a:ext uri="{FF2B5EF4-FFF2-40B4-BE49-F238E27FC236}">
                <a16:creationId xmlns:a16="http://schemas.microsoft.com/office/drawing/2014/main" id="{E1297F37-DC62-4C00-B405-0C0C4232B9E9}"/>
              </a:ext>
            </a:extLst>
          </p:cNvPr>
          <p:cNvSpPr txBox="1"/>
          <p:nvPr/>
        </p:nvSpPr>
        <p:spPr>
          <a:xfrm>
            <a:off x="188394" y="918995"/>
            <a:ext cx="7930927" cy="1754326"/>
          </a:xfrm>
          <a:prstGeom prst="rect">
            <a:avLst/>
          </a:prstGeom>
          <a:noFill/>
        </p:spPr>
        <p:txBody>
          <a:bodyPr wrap="square" rtlCol="0">
            <a:spAutoFit/>
          </a:bodyPr>
          <a:lstStyle/>
          <a:p>
            <a:pPr marL="285750" indent="-285750">
              <a:buFont typeface="Arial" panose="020B0604020202020204" pitchFamily="34" charset="0"/>
              <a:buChar char="•"/>
            </a:pPr>
            <a:r>
              <a:rPr lang="en-US" dirty="0"/>
              <a:t>to look at the function arguments, hit </a:t>
            </a:r>
            <a:r>
              <a:rPr lang="en-US" b="1" dirty="0"/>
              <a:t>Tab</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dirty="0"/>
              <a:t>you need to name the arguments if they are not in the same order as defined in within the function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the order is the same you can skip the names </a:t>
            </a:r>
          </a:p>
        </p:txBody>
      </p:sp>
    </p:spTree>
    <p:extLst>
      <p:ext uri="{BB962C8B-B14F-4D97-AF65-F5344CB8AC3E}">
        <p14:creationId xmlns:p14="http://schemas.microsoft.com/office/powerpoint/2010/main" val="1675222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US" sz="2400" dirty="0"/>
              <a:t>Intro to R</a:t>
            </a:r>
          </a:p>
        </p:txBody>
      </p:sp>
      <p:sp>
        <p:nvSpPr>
          <p:cNvPr id="5" name="Rectangle 4">
            <a:extLst>
              <a:ext uri="{FF2B5EF4-FFF2-40B4-BE49-F238E27FC236}">
                <a16:creationId xmlns:a16="http://schemas.microsoft.com/office/drawing/2014/main" id="{F5CCE59D-9485-4BF5-8EAE-880CBE58AE5F}"/>
              </a:ext>
            </a:extLst>
          </p:cNvPr>
          <p:cNvSpPr/>
          <p:nvPr/>
        </p:nvSpPr>
        <p:spPr>
          <a:xfrm>
            <a:off x="485998" y="843677"/>
            <a:ext cx="8089453" cy="2585323"/>
          </a:xfrm>
          <a:prstGeom prst="rect">
            <a:avLst/>
          </a:prstGeom>
        </p:spPr>
        <p:txBody>
          <a:bodyPr wrap="square">
            <a:spAutoFit/>
          </a:bodyPr>
          <a:lstStyle/>
          <a:p>
            <a:r>
              <a:rPr lang="en-US" dirty="0">
                <a:solidFill>
                  <a:srgbClr val="3A3A3A"/>
                </a:solidFill>
                <a:latin typeface="lato"/>
              </a:rPr>
              <a:t>It's often the case that you want to re-execute commands that you previously entered. The RStudio console supports the ability to recall previous commands using the arrow keys:</a:t>
            </a:r>
          </a:p>
          <a:p>
            <a:endParaRPr lang="en-US" dirty="0">
              <a:solidFill>
                <a:srgbClr val="3A3A3A"/>
              </a:solidFill>
              <a:latin typeface="lato"/>
            </a:endParaRPr>
          </a:p>
          <a:p>
            <a:pPr marL="285750" indent="-285750">
              <a:buFont typeface="Arial" panose="020B0604020202020204" pitchFamily="34" charset="0"/>
              <a:buChar char="•"/>
            </a:pPr>
            <a:r>
              <a:rPr lang="en-US" b="1" dirty="0">
                <a:solidFill>
                  <a:srgbClr val="3A3A3A"/>
                </a:solidFill>
                <a:latin typeface="lato"/>
              </a:rPr>
              <a:t>Up</a:t>
            </a:r>
            <a:r>
              <a:rPr lang="en-US" dirty="0">
                <a:solidFill>
                  <a:srgbClr val="3A3A3A"/>
                </a:solidFill>
                <a:latin typeface="lato"/>
              </a:rPr>
              <a:t> — Recall previous command(s)</a:t>
            </a:r>
          </a:p>
          <a:p>
            <a:pPr marL="285750" indent="-285750">
              <a:buFont typeface="Arial" panose="020B0604020202020204" pitchFamily="34" charset="0"/>
              <a:buChar char="•"/>
            </a:pPr>
            <a:r>
              <a:rPr lang="en-US" b="1" dirty="0">
                <a:solidFill>
                  <a:srgbClr val="3A3A3A"/>
                </a:solidFill>
                <a:latin typeface="lato"/>
              </a:rPr>
              <a:t>Down</a:t>
            </a:r>
            <a:r>
              <a:rPr lang="en-US" dirty="0">
                <a:solidFill>
                  <a:srgbClr val="3A3A3A"/>
                </a:solidFill>
                <a:latin typeface="lato"/>
              </a:rPr>
              <a:t> — Reverse of Up</a:t>
            </a:r>
          </a:p>
          <a:p>
            <a:pPr marL="285750" indent="-285750">
              <a:buFont typeface="Arial" panose="020B0604020202020204" pitchFamily="34" charset="0"/>
              <a:buChar char="•"/>
            </a:pPr>
            <a:endParaRPr lang="en-US" b="0" i="0" dirty="0">
              <a:solidFill>
                <a:srgbClr val="3A3A3A"/>
              </a:solidFill>
              <a:effectLst/>
              <a:latin typeface="lato"/>
            </a:endParaRPr>
          </a:p>
          <a:p>
            <a:r>
              <a:rPr lang="en-US" dirty="0"/>
              <a:t>You can even view a list of your recent commands by pressing </a:t>
            </a:r>
            <a:r>
              <a:rPr lang="en-US" dirty="0" err="1"/>
              <a:t>Ctrl+Up</a:t>
            </a:r>
            <a:r>
              <a:rPr lang="en-US" dirty="0"/>
              <a:t> on Windows or </a:t>
            </a:r>
            <a:r>
              <a:rPr lang="en-US" dirty="0" err="1"/>
              <a:t>Command+Up</a:t>
            </a:r>
            <a:r>
              <a:rPr lang="en-US" dirty="0"/>
              <a:t> on a Mac.</a:t>
            </a:r>
            <a:endParaRPr lang="en-US" b="0" i="0" dirty="0">
              <a:solidFill>
                <a:srgbClr val="3A3A3A"/>
              </a:solidFill>
              <a:effectLst/>
              <a:latin typeface="lato"/>
            </a:endParaRPr>
          </a:p>
        </p:txBody>
      </p:sp>
      <p:pic>
        <p:nvPicPr>
          <p:cNvPr id="7" name="Picture 6">
            <a:extLst>
              <a:ext uri="{FF2B5EF4-FFF2-40B4-BE49-F238E27FC236}">
                <a16:creationId xmlns:a16="http://schemas.microsoft.com/office/drawing/2014/main" id="{B77B1B05-B19B-4E20-9806-D82DC484BC45}"/>
              </a:ext>
            </a:extLst>
          </p:cNvPr>
          <p:cNvPicPr>
            <a:picLocks noChangeAspect="1"/>
          </p:cNvPicPr>
          <p:nvPr/>
        </p:nvPicPr>
        <p:blipFill>
          <a:blip r:embed="rId2"/>
          <a:stretch>
            <a:fillRect/>
          </a:stretch>
        </p:blipFill>
        <p:spPr>
          <a:xfrm>
            <a:off x="900544" y="3600525"/>
            <a:ext cx="7825314" cy="2059455"/>
          </a:xfrm>
          <a:prstGeom prst="rect">
            <a:avLst/>
          </a:prstGeom>
        </p:spPr>
      </p:pic>
    </p:spTree>
    <p:extLst>
      <p:ext uri="{BB962C8B-B14F-4D97-AF65-F5344CB8AC3E}">
        <p14:creationId xmlns:p14="http://schemas.microsoft.com/office/powerpoint/2010/main" val="19734286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US" sz="2400" dirty="0"/>
              <a:t>Intro to R</a:t>
            </a:r>
          </a:p>
        </p:txBody>
      </p:sp>
      <p:sp>
        <p:nvSpPr>
          <p:cNvPr id="3" name="Rectangle 2">
            <a:extLst>
              <a:ext uri="{FF2B5EF4-FFF2-40B4-BE49-F238E27FC236}">
                <a16:creationId xmlns:a16="http://schemas.microsoft.com/office/drawing/2014/main" id="{0D7A8914-02D9-4E3F-977A-9EC9CFE35B24}"/>
              </a:ext>
            </a:extLst>
          </p:cNvPr>
          <p:cNvSpPr/>
          <p:nvPr/>
        </p:nvSpPr>
        <p:spPr>
          <a:xfrm>
            <a:off x="475579" y="954780"/>
            <a:ext cx="8006745" cy="2542363"/>
          </a:xfrm>
          <a:prstGeom prst="rect">
            <a:avLst/>
          </a:prstGeom>
        </p:spPr>
        <p:txBody>
          <a:bodyPr wrap="square">
            <a:spAutoFit/>
          </a:bodyPr>
          <a:lstStyle/>
          <a:p>
            <a:pPr marL="285750" indent="-285750" algn="just" fontAlgn="base">
              <a:lnSpc>
                <a:spcPct val="150000"/>
              </a:lnSpc>
              <a:buFont typeface="Arial" panose="020B0604020202020204" pitchFamily="34" charset="0"/>
              <a:buChar char="•"/>
            </a:pPr>
            <a:r>
              <a:rPr lang="en-US" dirty="0"/>
              <a:t>When you download R from the Comprehensive R Archive Network (CRAN), you get that ``base" R system</a:t>
            </a:r>
          </a:p>
          <a:p>
            <a:pPr marL="285750" indent="-285750" algn="just" fontAlgn="base">
              <a:lnSpc>
                <a:spcPct val="150000"/>
              </a:lnSpc>
              <a:buFont typeface="Arial" panose="020B0604020202020204" pitchFamily="34" charset="0"/>
              <a:buChar char="•"/>
            </a:pPr>
            <a:r>
              <a:rPr lang="en-US" dirty="0"/>
              <a:t>The base R system comes with basic functionality; implements the R language</a:t>
            </a:r>
          </a:p>
          <a:p>
            <a:pPr marL="285750" indent="-285750" algn="just" fontAlgn="base">
              <a:lnSpc>
                <a:spcPct val="150000"/>
              </a:lnSpc>
              <a:buFont typeface="Arial" panose="020B0604020202020204" pitchFamily="34" charset="0"/>
              <a:buChar char="•"/>
            </a:pPr>
            <a:r>
              <a:rPr lang="en-US" dirty="0"/>
              <a:t>One reason R is so useful is the large collection of packages that extend the basic functionality of R</a:t>
            </a:r>
          </a:p>
          <a:p>
            <a:pPr marL="285750" indent="-285750" algn="just" fontAlgn="base">
              <a:lnSpc>
                <a:spcPct val="150000"/>
              </a:lnSpc>
              <a:buFont typeface="Arial" panose="020B0604020202020204" pitchFamily="34" charset="0"/>
              <a:buChar char="•"/>
            </a:pPr>
            <a:r>
              <a:rPr lang="en-US" dirty="0"/>
              <a:t>R packages are developed and published by the larger R community</a:t>
            </a:r>
            <a:endParaRPr lang="en-US" b="0" i="0" dirty="0">
              <a:effectLst/>
            </a:endParaRPr>
          </a:p>
        </p:txBody>
      </p:sp>
    </p:spTree>
    <p:extLst>
      <p:ext uri="{BB962C8B-B14F-4D97-AF65-F5344CB8AC3E}">
        <p14:creationId xmlns:p14="http://schemas.microsoft.com/office/powerpoint/2010/main" val="20013727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DCB19CA-036D-4492-859B-A8764B9520BC}"/>
              </a:ext>
            </a:extLst>
          </p:cNvPr>
          <p:cNvSpPr>
            <a:spLocks noGrp="1"/>
          </p:cNvSpPr>
          <p:nvPr>
            <p:ph type="body" sz="quarter" idx="10"/>
          </p:nvPr>
        </p:nvSpPr>
        <p:spPr/>
        <p:txBody>
          <a:bodyPr/>
          <a:lstStyle/>
          <a:p>
            <a:r>
              <a:rPr lang="en-US" dirty="0"/>
              <a:t>Install packages</a:t>
            </a:r>
          </a:p>
        </p:txBody>
      </p:sp>
      <p:sp>
        <p:nvSpPr>
          <p:cNvPr id="3" name="TextBox 2">
            <a:extLst>
              <a:ext uri="{FF2B5EF4-FFF2-40B4-BE49-F238E27FC236}">
                <a16:creationId xmlns:a16="http://schemas.microsoft.com/office/drawing/2014/main" id="{E568B566-0DD8-4196-AE6D-95445E6680C6}"/>
              </a:ext>
            </a:extLst>
          </p:cNvPr>
          <p:cNvSpPr txBox="1"/>
          <p:nvPr/>
        </p:nvSpPr>
        <p:spPr>
          <a:xfrm>
            <a:off x="326243" y="997110"/>
            <a:ext cx="7719558" cy="2585323"/>
          </a:xfrm>
          <a:prstGeom prst="rect">
            <a:avLst/>
          </a:prstGeom>
          <a:noFill/>
        </p:spPr>
        <p:txBody>
          <a:bodyPr wrap="square" rtlCol="0">
            <a:spAutoFit/>
          </a:bodyPr>
          <a:lstStyle/>
          <a:p>
            <a:pPr marL="285750" indent="-285750">
              <a:buFont typeface="Arial" panose="020B0604020202020204" pitchFamily="34" charset="0"/>
              <a:buChar char="•"/>
            </a:pPr>
            <a:r>
              <a:rPr lang="en-US" dirty="0"/>
              <a:t>Very often we are going to use functions that are not in base R, but instead are </a:t>
            </a:r>
            <a:r>
              <a:rPr lang="en-US"/>
              <a:t>in external </a:t>
            </a:r>
            <a:r>
              <a:rPr lang="en-US" dirty="0"/>
              <a:t>libraries (packages).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 library is a collection of functions/datasets developed by the community members for specific purposes.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You need to install library only once</a:t>
            </a:r>
          </a:p>
          <a:p>
            <a:endParaRPr lang="en-US" dirty="0"/>
          </a:p>
          <a:p>
            <a:endParaRPr lang="en-US" dirty="0"/>
          </a:p>
        </p:txBody>
      </p:sp>
      <p:pic>
        <p:nvPicPr>
          <p:cNvPr id="4" name="Picture 3">
            <a:extLst>
              <a:ext uri="{FF2B5EF4-FFF2-40B4-BE49-F238E27FC236}">
                <a16:creationId xmlns:a16="http://schemas.microsoft.com/office/drawing/2014/main" id="{2185A00B-67FC-480D-82C1-C33B6D9EC962}"/>
              </a:ext>
            </a:extLst>
          </p:cNvPr>
          <p:cNvPicPr>
            <a:picLocks noChangeAspect="1"/>
          </p:cNvPicPr>
          <p:nvPr/>
        </p:nvPicPr>
        <p:blipFill rotWithShape="1">
          <a:blip r:embed="rId2"/>
          <a:srcRect r="32934"/>
          <a:stretch/>
        </p:blipFill>
        <p:spPr>
          <a:xfrm>
            <a:off x="1962437" y="3300388"/>
            <a:ext cx="5417092" cy="781050"/>
          </a:xfrm>
          <a:prstGeom prst="rect">
            <a:avLst/>
          </a:prstGeom>
        </p:spPr>
      </p:pic>
    </p:spTree>
    <p:extLst>
      <p:ext uri="{BB962C8B-B14F-4D97-AF65-F5344CB8AC3E}">
        <p14:creationId xmlns:p14="http://schemas.microsoft.com/office/powerpoint/2010/main" val="13886280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DCB19CA-036D-4492-859B-A8764B9520BC}"/>
              </a:ext>
            </a:extLst>
          </p:cNvPr>
          <p:cNvSpPr>
            <a:spLocks noGrp="1"/>
          </p:cNvSpPr>
          <p:nvPr>
            <p:ph type="body" sz="quarter" idx="10"/>
          </p:nvPr>
        </p:nvSpPr>
        <p:spPr/>
        <p:txBody>
          <a:bodyPr/>
          <a:lstStyle/>
          <a:p>
            <a:r>
              <a:rPr lang="en-US" dirty="0"/>
              <a:t>Install packages</a:t>
            </a:r>
          </a:p>
        </p:txBody>
      </p:sp>
      <p:sp>
        <p:nvSpPr>
          <p:cNvPr id="3" name="TextBox 2">
            <a:extLst>
              <a:ext uri="{FF2B5EF4-FFF2-40B4-BE49-F238E27FC236}">
                <a16:creationId xmlns:a16="http://schemas.microsoft.com/office/drawing/2014/main" id="{DA9E21D1-17E0-45DE-8CB4-EC12831DA849}"/>
              </a:ext>
            </a:extLst>
          </p:cNvPr>
          <p:cNvSpPr txBox="1"/>
          <p:nvPr/>
        </p:nvSpPr>
        <p:spPr>
          <a:xfrm>
            <a:off x="275698" y="983325"/>
            <a:ext cx="8280145" cy="923330"/>
          </a:xfrm>
          <a:prstGeom prst="rect">
            <a:avLst/>
          </a:prstGeom>
          <a:noFill/>
        </p:spPr>
        <p:txBody>
          <a:bodyPr wrap="square" rtlCol="0">
            <a:spAutoFit/>
          </a:bodyPr>
          <a:lstStyle/>
          <a:p>
            <a:pPr marL="285750" indent="-285750">
              <a:buFont typeface="Arial" panose="020B0604020202020204" pitchFamily="34" charset="0"/>
              <a:buChar char="•"/>
            </a:pPr>
            <a:r>
              <a:rPr lang="en-US" dirty="0"/>
              <a:t>To use the functions from the library, you need to call it first.</a:t>
            </a:r>
          </a:p>
          <a:p>
            <a:pPr marL="285750" indent="-285750">
              <a:buFont typeface="Arial" panose="020B0604020202020204" pitchFamily="34" charset="0"/>
              <a:buChar char="•"/>
            </a:pPr>
            <a:r>
              <a:rPr lang="en-US" dirty="0"/>
              <a:t>Need to do this only once per R session</a:t>
            </a:r>
          </a:p>
          <a:p>
            <a:pPr marL="285750" indent="-285750">
              <a:buFont typeface="Arial" panose="020B0604020202020204" pitchFamily="34" charset="0"/>
              <a:buChar char="•"/>
            </a:pPr>
            <a:r>
              <a:rPr lang="en-US" dirty="0"/>
              <a:t>If you restarted R, you need to call it again.</a:t>
            </a:r>
          </a:p>
        </p:txBody>
      </p:sp>
      <p:pic>
        <p:nvPicPr>
          <p:cNvPr id="4" name="Picture 3">
            <a:extLst>
              <a:ext uri="{FF2B5EF4-FFF2-40B4-BE49-F238E27FC236}">
                <a16:creationId xmlns:a16="http://schemas.microsoft.com/office/drawing/2014/main" id="{3D4DBC80-EB55-449E-8FBD-698D8A5797EC}"/>
              </a:ext>
            </a:extLst>
          </p:cNvPr>
          <p:cNvPicPr>
            <a:picLocks noChangeAspect="1"/>
          </p:cNvPicPr>
          <p:nvPr/>
        </p:nvPicPr>
        <p:blipFill>
          <a:blip r:embed="rId2"/>
          <a:stretch>
            <a:fillRect/>
          </a:stretch>
        </p:blipFill>
        <p:spPr>
          <a:xfrm>
            <a:off x="1406829" y="2024972"/>
            <a:ext cx="7010400" cy="1190625"/>
          </a:xfrm>
          <a:prstGeom prst="rect">
            <a:avLst/>
          </a:prstGeom>
        </p:spPr>
      </p:pic>
      <p:sp>
        <p:nvSpPr>
          <p:cNvPr id="5" name="TextBox 4">
            <a:extLst>
              <a:ext uri="{FF2B5EF4-FFF2-40B4-BE49-F238E27FC236}">
                <a16:creationId xmlns:a16="http://schemas.microsoft.com/office/drawing/2014/main" id="{BFDE3715-6F50-4B1B-88CC-6F9DFA8F7A1F}"/>
              </a:ext>
            </a:extLst>
          </p:cNvPr>
          <p:cNvSpPr txBox="1"/>
          <p:nvPr/>
        </p:nvSpPr>
        <p:spPr>
          <a:xfrm>
            <a:off x="363003" y="3391091"/>
            <a:ext cx="8054226" cy="738664"/>
          </a:xfrm>
          <a:prstGeom prst="rect">
            <a:avLst/>
          </a:prstGeom>
          <a:noFill/>
        </p:spPr>
        <p:txBody>
          <a:bodyPr wrap="square" rtlCol="0">
            <a:spAutoFit/>
          </a:bodyPr>
          <a:lstStyle/>
          <a:p>
            <a:r>
              <a:rPr lang="en-US" dirty="0"/>
              <a:t>If you want to use specific function from the library without calling the whole library, use </a:t>
            </a:r>
            <a:r>
              <a:rPr lang="en-US" sz="2400" b="1" dirty="0">
                <a:solidFill>
                  <a:srgbClr val="FF0000"/>
                </a:solidFill>
              </a:rPr>
              <a:t>library::function()</a:t>
            </a:r>
            <a:endParaRPr lang="en-US" b="1" dirty="0">
              <a:solidFill>
                <a:srgbClr val="FF0000"/>
              </a:solidFill>
            </a:endParaRPr>
          </a:p>
        </p:txBody>
      </p:sp>
      <p:pic>
        <p:nvPicPr>
          <p:cNvPr id="6" name="Picture 5">
            <a:extLst>
              <a:ext uri="{FF2B5EF4-FFF2-40B4-BE49-F238E27FC236}">
                <a16:creationId xmlns:a16="http://schemas.microsoft.com/office/drawing/2014/main" id="{CEA4AA66-D097-4099-A3DC-6DE1533F8DC8}"/>
              </a:ext>
            </a:extLst>
          </p:cNvPr>
          <p:cNvPicPr>
            <a:picLocks noChangeAspect="1"/>
          </p:cNvPicPr>
          <p:nvPr/>
        </p:nvPicPr>
        <p:blipFill rotWithShape="1">
          <a:blip r:embed="rId3"/>
          <a:srcRect r="19955"/>
          <a:stretch/>
        </p:blipFill>
        <p:spPr>
          <a:xfrm>
            <a:off x="1406829" y="4833028"/>
            <a:ext cx="6358679" cy="1009650"/>
          </a:xfrm>
          <a:prstGeom prst="rect">
            <a:avLst/>
          </a:prstGeom>
        </p:spPr>
      </p:pic>
    </p:spTree>
    <p:extLst>
      <p:ext uri="{BB962C8B-B14F-4D97-AF65-F5344CB8AC3E}">
        <p14:creationId xmlns:p14="http://schemas.microsoft.com/office/powerpoint/2010/main" val="14664868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F37FAB-E2BD-4C1B-A4BA-9C7894B35A06}"/>
              </a:ext>
            </a:extLst>
          </p:cNvPr>
          <p:cNvSpPr>
            <a:spLocks noGrp="1"/>
          </p:cNvSpPr>
          <p:nvPr>
            <p:ph type="body" sz="quarter" idx="10"/>
          </p:nvPr>
        </p:nvSpPr>
        <p:spPr/>
        <p:txBody>
          <a:bodyPr/>
          <a:lstStyle/>
          <a:p>
            <a:r>
              <a:rPr lang="en-US" dirty="0"/>
              <a:t>Intro to R</a:t>
            </a:r>
          </a:p>
        </p:txBody>
      </p:sp>
      <p:pic>
        <p:nvPicPr>
          <p:cNvPr id="3" name="Picture 2">
            <a:extLst>
              <a:ext uri="{FF2B5EF4-FFF2-40B4-BE49-F238E27FC236}">
                <a16:creationId xmlns:a16="http://schemas.microsoft.com/office/drawing/2014/main" id="{B025A6E9-E325-453D-937C-CAE943D7E5E2}"/>
              </a:ext>
            </a:extLst>
          </p:cNvPr>
          <p:cNvPicPr>
            <a:picLocks noChangeAspect="1"/>
          </p:cNvPicPr>
          <p:nvPr/>
        </p:nvPicPr>
        <p:blipFill>
          <a:blip r:embed="rId2"/>
          <a:stretch>
            <a:fillRect/>
          </a:stretch>
        </p:blipFill>
        <p:spPr>
          <a:xfrm>
            <a:off x="397428" y="1004607"/>
            <a:ext cx="8631698" cy="3978751"/>
          </a:xfrm>
          <a:prstGeom prst="rect">
            <a:avLst/>
          </a:prstGeom>
        </p:spPr>
      </p:pic>
    </p:spTree>
    <p:extLst>
      <p:ext uri="{BB962C8B-B14F-4D97-AF65-F5344CB8AC3E}">
        <p14:creationId xmlns:p14="http://schemas.microsoft.com/office/powerpoint/2010/main" val="3476326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984C0E-2A6B-4AE0-8F44-94AF4F82B978}"/>
              </a:ext>
            </a:extLst>
          </p:cNvPr>
          <p:cNvSpPr>
            <a:spLocks noGrp="1"/>
          </p:cNvSpPr>
          <p:nvPr>
            <p:ph type="body" sz="quarter" idx="10"/>
          </p:nvPr>
        </p:nvSpPr>
        <p:spPr/>
        <p:txBody>
          <a:bodyPr/>
          <a:lstStyle/>
          <a:p>
            <a:r>
              <a:rPr lang="en-US" dirty="0"/>
              <a:t>Intro to R</a:t>
            </a:r>
          </a:p>
        </p:txBody>
      </p:sp>
      <p:sp>
        <p:nvSpPr>
          <p:cNvPr id="3" name="TextBox 2">
            <a:extLst>
              <a:ext uri="{FF2B5EF4-FFF2-40B4-BE49-F238E27FC236}">
                <a16:creationId xmlns:a16="http://schemas.microsoft.com/office/drawing/2014/main" id="{086332BC-1C08-4C97-B774-372F1FADEB09}"/>
              </a:ext>
            </a:extLst>
          </p:cNvPr>
          <p:cNvSpPr txBox="1"/>
          <p:nvPr/>
        </p:nvSpPr>
        <p:spPr>
          <a:xfrm>
            <a:off x="229749" y="1093604"/>
            <a:ext cx="7866597" cy="1477328"/>
          </a:xfrm>
          <a:prstGeom prst="rect">
            <a:avLst/>
          </a:prstGeom>
          <a:noFill/>
        </p:spPr>
        <p:txBody>
          <a:bodyPr wrap="square" rtlCol="0">
            <a:spAutoFit/>
          </a:bodyPr>
          <a:lstStyle/>
          <a:p>
            <a:pPr marL="285750" indent="-285750">
              <a:buFont typeface="Arial" panose="020B0604020202020204" pitchFamily="34" charset="0"/>
              <a:buChar char="•"/>
            </a:pPr>
            <a:r>
              <a:rPr lang="en-US" dirty="0"/>
              <a:t>Each package on CRAN has its own webpage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includes documentation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And sometimes includes vignettes </a:t>
            </a:r>
          </a:p>
        </p:txBody>
      </p:sp>
      <p:sp>
        <p:nvSpPr>
          <p:cNvPr id="4" name="TextBox 3">
            <a:extLst>
              <a:ext uri="{FF2B5EF4-FFF2-40B4-BE49-F238E27FC236}">
                <a16:creationId xmlns:a16="http://schemas.microsoft.com/office/drawing/2014/main" id="{0FDE0569-4CF7-4985-9B9F-8E4089109FE2}"/>
              </a:ext>
            </a:extLst>
          </p:cNvPr>
          <p:cNvSpPr txBox="1"/>
          <p:nvPr/>
        </p:nvSpPr>
        <p:spPr>
          <a:xfrm>
            <a:off x="229749" y="3257837"/>
            <a:ext cx="7866597" cy="1754326"/>
          </a:xfrm>
          <a:prstGeom prst="rect">
            <a:avLst/>
          </a:prstGeom>
          <a:noFill/>
        </p:spPr>
        <p:txBody>
          <a:bodyPr wrap="square" rtlCol="0">
            <a:spAutoFit/>
          </a:bodyPr>
          <a:lstStyle/>
          <a:p>
            <a:r>
              <a:rPr lang="en-US" dirty="0"/>
              <a:t>If you have a specific task to do, then look at R Task View</a:t>
            </a:r>
          </a:p>
          <a:p>
            <a:endParaRPr lang="en-US" dirty="0"/>
          </a:p>
          <a:p>
            <a:pPr marL="285750" indent="-285750">
              <a:buFont typeface="Arial" panose="020B0604020202020204" pitchFamily="34" charset="0"/>
              <a:buChar char="•"/>
            </a:pPr>
            <a:r>
              <a:rPr lang="en-US" dirty="0"/>
              <a:t>here are all the packages and R functionality described for the Time series analysis</a:t>
            </a:r>
          </a:p>
          <a:p>
            <a:pPr marL="285750" indent="-285750">
              <a:buFont typeface="Arial" panose="020B0604020202020204" pitchFamily="34" charset="0"/>
              <a:buChar char="•"/>
            </a:pPr>
            <a:endParaRPr lang="en-US" dirty="0"/>
          </a:p>
          <a:p>
            <a:r>
              <a:rPr lang="en-US" dirty="0"/>
              <a:t>https://cran.r-project.org/web/views/TimeSeries.html</a:t>
            </a:r>
          </a:p>
        </p:txBody>
      </p:sp>
    </p:spTree>
    <p:extLst>
      <p:ext uri="{BB962C8B-B14F-4D97-AF65-F5344CB8AC3E}">
        <p14:creationId xmlns:p14="http://schemas.microsoft.com/office/powerpoint/2010/main" val="18963633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2FC952-1131-424D-87D1-E6651ABBBCAD}"/>
              </a:ext>
            </a:extLst>
          </p:cNvPr>
          <p:cNvSpPr>
            <a:spLocks noGrp="1"/>
          </p:cNvSpPr>
          <p:nvPr>
            <p:ph type="body" sz="quarter" idx="10"/>
          </p:nvPr>
        </p:nvSpPr>
        <p:spPr/>
        <p:txBody>
          <a:bodyPr/>
          <a:lstStyle/>
          <a:p>
            <a:r>
              <a:rPr lang="en-US" dirty="0"/>
              <a:t>R basic concepts</a:t>
            </a:r>
          </a:p>
        </p:txBody>
      </p:sp>
    </p:spTree>
    <p:extLst>
      <p:ext uri="{BB962C8B-B14F-4D97-AF65-F5344CB8AC3E}">
        <p14:creationId xmlns:p14="http://schemas.microsoft.com/office/powerpoint/2010/main" val="3545654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Intro to R: Data Structures</a:t>
            </a:r>
          </a:p>
        </p:txBody>
      </p:sp>
      <p:pic>
        <p:nvPicPr>
          <p:cNvPr id="3" name="Picture 2">
            <a:extLst>
              <a:ext uri="{FF2B5EF4-FFF2-40B4-BE49-F238E27FC236}">
                <a16:creationId xmlns:a16="http://schemas.microsoft.com/office/drawing/2014/main" id="{6A6CCF14-3035-4810-B9CB-0DFF031F6210}"/>
              </a:ext>
            </a:extLst>
          </p:cNvPr>
          <p:cNvPicPr>
            <a:picLocks noChangeAspect="1"/>
          </p:cNvPicPr>
          <p:nvPr/>
        </p:nvPicPr>
        <p:blipFill>
          <a:blip r:embed="rId2"/>
          <a:stretch>
            <a:fillRect/>
          </a:stretch>
        </p:blipFill>
        <p:spPr>
          <a:xfrm>
            <a:off x="215248" y="1102794"/>
            <a:ext cx="8713504" cy="3492414"/>
          </a:xfrm>
          <a:prstGeom prst="rect">
            <a:avLst/>
          </a:prstGeom>
        </p:spPr>
      </p:pic>
    </p:spTree>
    <p:extLst>
      <p:ext uri="{BB962C8B-B14F-4D97-AF65-F5344CB8AC3E}">
        <p14:creationId xmlns:p14="http://schemas.microsoft.com/office/powerpoint/2010/main" val="18493440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4E5139E-AA1B-4921-A0C3-9B076C6AA1DA}"/>
              </a:ext>
            </a:extLst>
          </p:cNvPr>
          <p:cNvSpPr>
            <a:spLocks noGrp="1"/>
          </p:cNvSpPr>
          <p:nvPr>
            <p:ph type="body" sz="quarter" idx="10"/>
          </p:nvPr>
        </p:nvSpPr>
        <p:spPr/>
        <p:txBody>
          <a:bodyPr/>
          <a:lstStyle/>
          <a:p>
            <a:r>
              <a:rPr lang="en-US" dirty="0"/>
              <a:t>Variable</a:t>
            </a:r>
          </a:p>
        </p:txBody>
      </p:sp>
      <p:sp>
        <p:nvSpPr>
          <p:cNvPr id="5" name="Rectangle 2">
            <a:extLst>
              <a:ext uri="{FF2B5EF4-FFF2-40B4-BE49-F238E27FC236}">
                <a16:creationId xmlns:a16="http://schemas.microsoft.com/office/drawing/2014/main" id="{6DC0F826-64ED-4630-8999-40077BFBC5D3}"/>
              </a:ext>
            </a:extLst>
          </p:cNvPr>
          <p:cNvSpPr>
            <a:spLocks noChangeArrowheads="1"/>
          </p:cNvSpPr>
          <p:nvPr/>
        </p:nvSpPr>
        <p:spPr bwMode="auto">
          <a:xfrm>
            <a:off x="316035" y="1582340"/>
            <a:ext cx="8358259" cy="3693319"/>
          </a:xfrm>
          <a:prstGeom prst="rect">
            <a:avLst/>
          </a:prstGeom>
          <a:solidFill>
            <a:srgbClr val="EB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9675" tIns="0" rIns="39675"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A3A3A"/>
                </a:solidFill>
                <a:effectLst/>
                <a:latin typeface="karmina-sans"/>
              </a:rPr>
              <a:t>A basic concept in (statistical) programming is called a </a:t>
            </a:r>
            <a:r>
              <a:rPr kumimoji="0" lang="en-US" altLang="en-US" sz="2000" b="1" i="0" u="none" strike="noStrike" cap="none" normalizeH="0" baseline="0" dirty="0">
                <a:ln>
                  <a:noFill/>
                </a:ln>
                <a:solidFill>
                  <a:srgbClr val="3A3A3A"/>
                </a:solidFill>
                <a:effectLst/>
                <a:latin typeface="karmina-sans"/>
              </a:rPr>
              <a:t>variable</a:t>
            </a:r>
            <a:r>
              <a:rPr kumimoji="0" lang="en-US" altLang="en-US" sz="2000" b="0" i="0" u="none" strike="noStrike" cap="none" normalizeH="0" baseline="0" dirty="0">
                <a:ln>
                  <a:noFill/>
                </a:ln>
                <a:solidFill>
                  <a:srgbClr val="3A3A3A"/>
                </a:solidFill>
                <a:effectLst/>
                <a:latin typeface="karmina-sans"/>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A3A3A"/>
                </a:solidFill>
                <a:effectLst/>
                <a:latin typeface="karmina-sans"/>
              </a:rPr>
              <a:t>A variable allows you to store a value (e.g. 4) or an object (e.g. a function description) in R. You can then later use this variable's name to easily access the value or the object that is stored within this variable.</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3A3A3A"/>
              </a:solidFill>
              <a:effectLst/>
              <a:latin typeface="karmina-sans"/>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rgbClr val="3A3A3A"/>
              </a:solidFill>
              <a:latin typeface="karmina-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3A3A3A"/>
              </a:solidFill>
              <a:effectLst/>
              <a:latin typeface="karmina-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A3A3A"/>
                </a:solidFill>
                <a:effectLst/>
                <a:latin typeface="karmina-sans"/>
              </a:rPr>
              <a:t>You can assign a value 4 to a variable </a:t>
            </a:r>
            <a:r>
              <a:rPr kumimoji="0" lang="en-US" altLang="en-US" sz="2000" b="0" i="0" u="none" strike="noStrike" cap="none" normalizeH="0" baseline="0" dirty="0" err="1">
                <a:ln>
                  <a:noFill/>
                </a:ln>
                <a:solidFill>
                  <a:srgbClr val="3A3A3A"/>
                </a:solidFill>
                <a:effectLst/>
                <a:latin typeface="Courier New" panose="02070309020205020404" pitchFamily="49" charset="0"/>
                <a:cs typeface="Courier New" panose="02070309020205020404" pitchFamily="49" charset="0"/>
              </a:rPr>
              <a:t>my_var</a:t>
            </a:r>
            <a:r>
              <a:rPr kumimoji="0" lang="en-US" altLang="en-US" sz="2000" b="0" i="0" u="none" strike="noStrike" cap="none" normalizeH="0" baseline="0" dirty="0">
                <a:ln>
                  <a:noFill/>
                </a:ln>
                <a:solidFill>
                  <a:srgbClr val="3A3A3A"/>
                </a:solidFill>
                <a:effectLst/>
                <a:latin typeface="karmina-sans"/>
              </a:rPr>
              <a:t> with the command</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rgbClr val="3A3A3A"/>
              </a:solidFill>
              <a:latin typeface="karmina-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3A3A3A"/>
              </a:solidFill>
              <a:effectLst/>
              <a:latin typeface="karmina-sans"/>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err="1">
                <a:solidFill>
                  <a:srgbClr val="3A3A3A"/>
                </a:solidFill>
                <a:latin typeface="karmina-sans"/>
              </a:rPr>
              <a:t>my_var</a:t>
            </a:r>
            <a:r>
              <a:rPr lang="en-US" altLang="en-US" sz="2000" b="1" dirty="0">
                <a:solidFill>
                  <a:srgbClr val="3A3A3A"/>
                </a:solidFill>
                <a:latin typeface="karmina-sans"/>
              </a:rPr>
              <a:t> &lt;-4</a:t>
            </a:r>
            <a:endParaRPr kumimoji="0" lang="en-US" altLang="en-US" sz="20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084966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4E5139E-AA1B-4921-A0C3-9B076C6AA1DA}"/>
              </a:ext>
            </a:extLst>
          </p:cNvPr>
          <p:cNvSpPr>
            <a:spLocks noGrp="1"/>
          </p:cNvSpPr>
          <p:nvPr>
            <p:ph type="body" sz="quarter" idx="10"/>
          </p:nvPr>
        </p:nvSpPr>
        <p:spPr/>
        <p:txBody>
          <a:bodyPr/>
          <a:lstStyle/>
          <a:p>
            <a:r>
              <a:rPr lang="en-US" dirty="0"/>
              <a:t>Variable</a:t>
            </a:r>
          </a:p>
        </p:txBody>
      </p:sp>
      <p:sp>
        <p:nvSpPr>
          <p:cNvPr id="5" name="Rectangle 2">
            <a:extLst>
              <a:ext uri="{FF2B5EF4-FFF2-40B4-BE49-F238E27FC236}">
                <a16:creationId xmlns:a16="http://schemas.microsoft.com/office/drawing/2014/main" id="{6DC0F826-64ED-4630-8999-40077BFBC5D3}"/>
              </a:ext>
            </a:extLst>
          </p:cNvPr>
          <p:cNvSpPr>
            <a:spLocks noChangeArrowheads="1"/>
          </p:cNvSpPr>
          <p:nvPr/>
        </p:nvSpPr>
        <p:spPr bwMode="auto">
          <a:xfrm>
            <a:off x="443035" y="1377404"/>
            <a:ext cx="8358259" cy="4001095"/>
          </a:xfrm>
          <a:prstGeom prst="rect">
            <a:avLst/>
          </a:prstGeom>
          <a:solidFill>
            <a:srgbClr val="EB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9675" tIns="0" rIns="39675"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A3A3A"/>
                </a:solidFill>
                <a:effectLst/>
                <a:latin typeface="+mj-lt"/>
              </a:rPr>
              <a:t>You can do basic operations with variables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rgbClr val="3A3A3A"/>
              </a:solidFill>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3A3A3A"/>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err="1">
                <a:solidFill>
                  <a:srgbClr val="3A3A3A"/>
                </a:solidFill>
                <a:latin typeface="+mj-lt"/>
              </a:rPr>
              <a:t>my_var</a:t>
            </a:r>
            <a:r>
              <a:rPr lang="en-US" altLang="en-US" sz="2000" b="1" dirty="0">
                <a:solidFill>
                  <a:srgbClr val="3A3A3A"/>
                </a:solidFill>
                <a:latin typeface="+mj-lt"/>
              </a:rPr>
              <a:t> &lt;- 4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rgbClr val="3A3A3A"/>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A3A3A"/>
                </a:solidFill>
                <a:effectLst/>
                <a:latin typeface="+mj-lt"/>
              </a:rPr>
              <a:t>my_var1</a:t>
            </a:r>
            <a:r>
              <a:rPr lang="en-US" altLang="en-US" sz="2000" b="1" dirty="0">
                <a:solidFill>
                  <a:srgbClr val="3A3A3A"/>
                </a:solidFill>
                <a:latin typeface="+mj-lt"/>
              </a:rPr>
              <a:t> &lt;- 5</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rgbClr val="3A3A3A"/>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err="1">
                <a:solidFill>
                  <a:srgbClr val="3A3A3A"/>
                </a:solidFill>
                <a:latin typeface="+mj-lt"/>
              </a:rPr>
              <a:t>my_var</a:t>
            </a:r>
            <a:r>
              <a:rPr lang="en-US" altLang="en-US" sz="2000" b="1" dirty="0">
                <a:solidFill>
                  <a:srgbClr val="3A3A3A"/>
                </a:solidFill>
                <a:latin typeface="+mj-lt"/>
              </a:rPr>
              <a:t> + my_var1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A3A3A"/>
                </a:solidFill>
                <a:effectLst/>
                <a:latin typeface="+mj-lt"/>
              </a:rPr>
              <a:t>[1] 9</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b="1" dirty="0">
              <a:solidFill>
                <a:srgbClr val="3A3A3A"/>
              </a:solidFill>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A3A3A"/>
                </a:solidFill>
                <a:effectLst/>
                <a:latin typeface="+mj-lt"/>
              </a:rPr>
              <a:t>Or you can create a new variable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b="1" dirty="0">
              <a:solidFill>
                <a:srgbClr val="3A3A3A"/>
              </a:solidFill>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A3A3A"/>
                </a:solidFill>
                <a:effectLst/>
                <a:latin typeface="+mj-lt"/>
              </a:rPr>
              <a:t>var2&lt;- my_var+my_var1</a:t>
            </a:r>
            <a:endParaRPr kumimoji="0" lang="en-US" altLang="en-US" sz="2000" b="1"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35272785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EDF9CF4-E5BD-475D-9327-1E6A103ECE29}"/>
              </a:ext>
            </a:extLst>
          </p:cNvPr>
          <p:cNvSpPr>
            <a:spLocks noGrp="1"/>
          </p:cNvSpPr>
          <p:nvPr>
            <p:ph type="body" sz="quarter" idx="10"/>
          </p:nvPr>
        </p:nvSpPr>
        <p:spPr/>
        <p:txBody>
          <a:bodyPr/>
          <a:lstStyle/>
          <a:p>
            <a:r>
              <a:rPr lang="en-US" dirty="0"/>
              <a:t>Data types in R</a:t>
            </a:r>
          </a:p>
        </p:txBody>
      </p:sp>
      <p:sp>
        <p:nvSpPr>
          <p:cNvPr id="4" name="Rectangle 2">
            <a:extLst>
              <a:ext uri="{FF2B5EF4-FFF2-40B4-BE49-F238E27FC236}">
                <a16:creationId xmlns:a16="http://schemas.microsoft.com/office/drawing/2014/main" id="{64886E68-305A-42CD-A774-514983AFCFF4}"/>
              </a:ext>
            </a:extLst>
          </p:cNvPr>
          <p:cNvSpPr>
            <a:spLocks noChangeArrowheads="1"/>
          </p:cNvSpPr>
          <p:nvPr/>
        </p:nvSpPr>
        <p:spPr bwMode="auto">
          <a:xfrm>
            <a:off x="604520" y="1657947"/>
            <a:ext cx="7934960" cy="3816429"/>
          </a:xfrm>
          <a:prstGeom prst="rect">
            <a:avLst/>
          </a:prstGeom>
          <a:solidFill>
            <a:srgbClr val="EB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9675" tIns="0" rIns="39675"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a:spcBef>
                <a:spcPts val="600"/>
              </a:spcBef>
              <a:spcAft>
                <a:spcPts val="600"/>
              </a:spcAft>
            </a:pPr>
            <a:r>
              <a:rPr lang="en-US" altLang="en-US" sz="2200" dirty="0">
                <a:solidFill>
                  <a:srgbClr val="3A3A3A"/>
                </a:solidFill>
                <a:latin typeface="+mj-lt"/>
              </a:rPr>
              <a:t>R works with numerous data types. Some of the most basic types to get started are:</a:t>
            </a:r>
          </a:p>
          <a:p>
            <a:pPr marL="285750" indent="-285750" defTabSz="914400">
              <a:spcBef>
                <a:spcPts val="600"/>
              </a:spcBef>
              <a:spcAft>
                <a:spcPts val="600"/>
              </a:spcAft>
              <a:buFont typeface="Arial" panose="020B0604020202020204" pitchFamily="34" charset="0"/>
              <a:buChar char="•"/>
            </a:pPr>
            <a:r>
              <a:rPr lang="en-US" altLang="en-US" sz="2200" dirty="0">
                <a:solidFill>
                  <a:srgbClr val="3A3A3A"/>
                </a:solidFill>
                <a:latin typeface="+mj-lt"/>
              </a:rPr>
              <a:t>Decimals values like 4.5 are called </a:t>
            </a:r>
            <a:r>
              <a:rPr lang="en-US" altLang="en-US" sz="2200" dirty="0" err="1">
                <a:solidFill>
                  <a:srgbClr val="3A3A3A"/>
                </a:solidFill>
                <a:latin typeface="+mj-lt"/>
              </a:rPr>
              <a:t>numerics</a:t>
            </a:r>
            <a:r>
              <a:rPr lang="en-US" altLang="en-US" sz="2200" dirty="0">
                <a:solidFill>
                  <a:srgbClr val="3A3A3A"/>
                </a:solidFill>
                <a:latin typeface="+mj-lt"/>
              </a:rPr>
              <a:t>.</a:t>
            </a:r>
          </a:p>
          <a:p>
            <a:pPr marL="285750" indent="-285750" defTabSz="914400">
              <a:spcBef>
                <a:spcPts val="600"/>
              </a:spcBef>
              <a:spcAft>
                <a:spcPts val="600"/>
              </a:spcAft>
              <a:buFont typeface="Arial" panose="020B0604020202020204" pitchFamily="34" charset="0"/>
              <a:buChar char="•"/>
            </a:pPr>
            <a:r>
              <a:rPr lang="en-US" altLang="en-US" sz="2200" dirty="0">
                <a:solidFill>
                  <a:srgbClr val="3A3A3A"/>
                </a:solidFill>
                <a:latin typeface="+mj-lt"/>
              </a:rPr>
              <a:t>Natural numbers like 4 are called integers. Integers are also </a:t>
            </a:r>
            <a:r>
              <a:rPr lang="en-US" altLang="en-US" sz="2200" dirty="0" err="1">
                <a:solidFill>
                  <a:srgbClr val="3A3A3A"/>
                </a:solidFill>
                <a:latin typeface="+mj-lt"/>
              </a:rPr>
              <a:t>numerics</a:t>
            </a:r>
            <a:r>
              <a:rPr lang="en-US" altLang="en-US" sz="2200" dirty="0">
                <a:solidFill>
                  <a:srgbClr val="3A3A3A"/>
                </a:solidFill>
                <a:latin typeface="+mj-lt"/>
              </a:rPr>
              <a:t>.</a:t>
            </a:r>
          </a:p>
          <a:p>
            <a:pPr marL="285750" indent="-285750" defTabSz="914400">
              <a:spcBef>
                <a:spcPts val="600"/>
              </a:spcBef>
              <a:spcAft>
                <a:spcPts val="600"/>
              </a:spcAft>
              <a:buFont typeface="Arial" panose="020B0604020202020204" pitchFamily="34" charset="0"/>
              <a:buChar char="•"/>
            </a:pPr>
            <a:r>
              <a:rPr lang="en-US" altLang="en-US" sz="2200" dirty="0">
                <a:solidFill>
                  <a:srgbClr val="3A3A3A"/>
                </a:solidFill>
                <a:latin typeface="+mj-lt"/>
              </a:rPr>
              <a:t>Boolean values (TRUE or FALSE) are called logical.</a:t>
            </a:r>
          </a:p>
          <a:p>
            <a:pPr marL="285750" indent="-285750" defTabSz="914400">
              <a:spcBef>
                <a:spcPts val="600"/>
              </a:spcBef>
              <a:spcAft>
                <a:spcPts val="600"/>
              </a:spcAft>
              <a:buFont typeface="Arial" panose="020B0604020202020204" pitchFamily="34" charset="0"/>
              <a:buChar char="•"/>
            </a:pPr>
            <a:r>
              <a:rPr lang="en-US" altLang="en-US" sz="2200" dirty="0">
                <a:solidFill>
                  <a:srgbClr val="3A3A3A"/>
                </a:solidFill>
                <a:latin typeface="+mj-lt"/>
              </a:rPr>
              <a:t>Text (or string) values are called characters.</a:t>
            </a:r>
          </a:p>
          <a:p>
            <a:pPr defTabSz="914400">
              <a:spcBef>
                <a:spcPts val="600"/>
              </a:spcBef>
              <a:spcAft>
                <a:spcPts val="600"/>
              </a:spcAft>
            </a:pPr>
            <a:r>
              <a:rPr lang="en-US" altLang="en-US" sz="2200" dirty="0">
                <a:solidFill>
                  <a:srgbClr val="3A3A3A"/>
                </a:solidFill>
                <a:latin typeface="+mj-lt"/>
              </a:rPr>
              <a:t>Note how the quotation marks indicate that "some text" is a character.</a:t>
            </a:r>
          </a:p>
        </p:txBody>
      </p:sp>
    </p:spTree>
    <p:extLst>
      <p:ext uri="{BB962C8B-B14F-4D97-AF65-F5344CB8AC3E}">
        <p14:creationId xmlns:p14="http://schemas.microsoft.com/office/powerpoint/2010/main" val="11841935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2FA9C79-9877-4D99-9DC3-98E98728409B}"/>
              </a:ext>
            </a:extLst>
          </p:cNvPr>
          <p:cNvSpPr>
            <a:spLocks noGrp="1"/>
          </p:cNvSpPr>
          <p:nvPr>
            <p:ph type="body" sz="quarter" idx="10"/>
          </p:nvPr>
        </p:nvSpPr>
        <p:spPr/>
        <p:txBody>
          <a:bodyPr/>
          <a:lstStyle/>
          <a:p>
            <a:r>
              <a:rPr lang="en-US" dirty="0"/>
              <a:t>Checking data type</a:t>
            </a:r>
          </a:p>
        </p:txBody>
      </p:sp>
      <p:sp>
        <p:nvSpPr>
          <p:cNvPr id="3" name="Rectangle 2">
            <a:extLst>
              <a:ext uri="{FF2B5EF4-FFF2-40B4-BE49-F238E27FC236}">
                <a16:creationId xmlns:a16="http://schemas.microsoft.com/office/drawing/2014/main" id="{50A5F38D-502D-4D2F-AD27-D41D5683853A}"/>
              </a:ext>
            </a:extLst>
          </p:cNvPr>
          <p:cNvSpPr/>
          <p:nvPr/>
        </p:nvSpPr>
        <p:spPr>
          <a:xfrm>
            <a:off x="477520" y="1327835"/>
            <a:ext cx="5638800" cy="3416320"/>
          </a:xfrm>
          <a:prstGeom prst="rect">
            <a:avLst/>
          </a:prstGeom>
        </p:spPr>
        <p:txBody>
          <a:bodyPr wrap="square">
            <a:spAutoFit/>
          </a:bodyPr>
          <a:lstStyle/>
          <a:p>
            <a:r>
              <a:rPr lang="en-US" sz="2400" dirty="0"/>
              <a:t>Assign integer 42 to variable </a:t>
            </a:r>
            <a:r>
              <a:rPr lang="en-US" sz="2400" dirty="0" err="1">
                <a:solidFill>
                  <a:srgbClr val="FF0000"/>
                </a:solidFill>
              </a:rPr>
              <a:t>my_numeric</a:t>
            </a:r>
            <a:endParaRPr lang="en-US" sz="2400" dirty="0">
              <a:solidFill>
                <a:srgbClr val="FF0000"/>
              </a:solidFill>
            </a:endParaRPr>
          </a:p>
          <a:p>
            <a:endParaRPr lang="en-US" sz="2400" dirty="0"/>
          </a:p>
          <a:p>
            <a:endParaRPr lang="en-US" sz="2400" dirty="0"/>
          </a:p>
          <a:p>
            <a:endParaRPr lang="en-US" sz="2400" dirty="0"/>
          </a:p>
          <a:p>
            <a:r>
              <a:rPr lang="en-US" sz="2400" dirty="0"/>
              <a:t>String  "universe“ to </a:t>
            </a:r>
            <a:r>
              <a:rPr lang="en-US" sz="2400" dirty="0" err="1">
                <a:solidFill>
                  <a:srgbClr val="FF0000"/>
                </a:solidFill>
              </a:rPr>
              <a:t>my_character</a:t>
            </a:r>
            <a:r>
              <a:rPr lang="en-US" sz="2400" dirty="0">
                <a:solidFill>
                  <a:srgbClr val="FF0000"/>
                </a:solidFill>
              </a:rPr>
              <a:t> </a:t>
            </a:r>
          </a:p>
          <a:p>
            <a:endParaRPr lang="en-US" sz="2400" dirty="0"/>
          </a:p>
          <a:p>
            <a:endParaRPr lang="en-US" sz="2400" dirty="0"/>
          </a:p>
          <a:p>
            <a:endParaRPr lang="en-US" sz="2400" dirty="0"/>
          </a:p>
          <a:p>
            <a:r>
              <a:rPr lang="en-US" sz="2400" dirty="0"/>
              <a:t>FALSE to </a:t>
            </a:r>
            <a:r>
              <a:rPr lang="en-US" sz="2400" dirty="0" err="1"/>
              <a:t>boolean</a:t>
            </a:r>
            <a:r>
              <a:rPr lang="en-US" sz="2400" dirty="0"/>
              <a:t> </a:t>
            </a:r>
            <a:r>
              <a:rPr lang="en-US" sz="2400" dirty="0" err="1">
                <a:solidFill>
                  <a:srgbClr val="FF0000"/>
                </a:solidFill>
              </a:rPr>
              <a:t>my_logical</a:t>
            </a:r>
            <a:r>
              <a:rPr lang="en-US" sz="2400" dirty="0">
                <a:solidFill>
                  <a:srgbClr val="FF0000"/>
                </a:solidFill>
              </a:rPr>
              <a:t> </a:t>
            </a:r>
          </a:p>
        </p:txBody>
      </p:sp>
      <p:sp>
        <p:nvSpPr>
          <p:cNvPr id="4" name="TextBox 3">
            <a:extLst>
              <a:ext uri="{FF2B5EF4-FFF2-40B4-BE49-F238E27FC236}">
                <a16:creationId xmlns:a16="http://schemas.microsoft.com/office/drawing/2014/main" id="{7AF4D2A7-D697-45E5-B3C9-9FA138E1832D}"/>
              </a:ext>
            </a:extLst>
          </p:cNvPr>
          <p:cNvSpPr txBox="1"/>
          <p:nvPr/>
        </p:nvSpPr>
        <p:spPr>
          <a:xfrm>
            <a:off x="528320" y="5029200"/>
            <a:ext cx="7569200" cy="646331"/>
          </a:xfrm>
          <a:prstGeom prst="rect">
            <a:avLst/>
          </a:prstGeom>
          <a:noFill/>
        </p:spPr>
        <p:txBody>
          <a:bodyPr wrap="square" rtlCol="0">
            <a:spAutoFit/>
          </a:bodyPr>
          <a:lstStyle/>
          <a:p>
            <a:r>
              <a:rPr lang="en-US" dirty="0"/>
              <a:t>Now run</a:t>
            </a:r>
          </a:p>
          <a:p>
            <a:r>
              <a:rPr lang="en-US" dirty="0"/>
              <a:t>class() for each variable</a:t>
            </a:r>
          </a:p>
        </p:txBody>
      </p:sp>
    </p:spTree>
    <p:extLst>
      <p:ext uri="{BB962C8B-B14F-4D97-AF65-F5344CB8AC3E}">
        <p14:creationId xmlns:p14="http://schemas.microsoft.com/office/powerpoint/2010/main" val="30618409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Intro to R: Data Structures</a:t>
            </a:r>
          </a:p>
        </p:txBody>
      </p:sp>
      <p:pic>
        <p:nvPicPr>
          <p:cNvPr id="3" name="Picture 2">
            <a:extLst>
              <a:ext uri="{FF2B5EF4-FFF2-40B4-BE49-F238E27FC236}">
                <a16:creationId xmlns:a16="http://schemas.microsoft.com/office/drawing/2014/main" id="{AAB72480-9F63-45EF-B86B-154E7FED4D77}"/>
              </a:ext>
            </a:extLst>
          </p:cNvPr>
          <p:cNvPicPr>
            <a:picLocks noChangeAspect="1"/>
          </p:cNvPicPr>
          <p:nvPr/>
        </p:nvPicPr>
        <p:blipFill>
          <a:blip r:embed="rId2"/>
          <a:stretch>
            <a:fillRect/>
          </a:stretch>
        </p:blipFill>
        <p:spPr>
          <a:xfrm>
            <a:off x="276345" y="951160"/>
            <a:ext cx="8513842" cy="5322022"/>
          </a:xfrm>
          <a:prstGeom prst="rect">
            <a:avLst/>
          </a:prstGeom>
        </p:spPr>
      </p:pic>
    </p:spTree>
    <p:extLst>
      <p:ext uri="{BB962C8B-B14F-4D97-AF65-F5344CB8AC3E}">
        <p14:creationId xmlns:p14="http://schemas.microsoft.com/office/powerpoint/2010/main" val="10309084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7F004EB-4391-4B3A-BB48-8802DC78CDA9}"/>
              </a:ext>
            </a:extLst>
          </p:cNvPr>
          <p:cNvSpPr>
            <a:spLocks noGrp="1"/>
          </p:cNvSpPr>
          <p:nvPr>
            <p:ph type="body" sz="quarter" idx="10"/>
          </p:nvPr>
        </p:nvSpPr>
        <p:spPr/>
        <p:txBody>
          <a:bodyPr/>
          <a:lstStyle/>
          <a:p>
            <a:r>
              <a:rPr lang="en-US" dirty="0"/>
              <a:t>Working with vectors</a:t>
            </a:r>
          </a:p>
        </p:txBody>
      </p:sp>
    </p:spTree>
    <p:extLst>
      <p:ext uri="{BB962C8B-B14F-4D97-AF65-F5344CB8AC3E}">
        <p14:creationId xmlns:p14="http://schemas.microsoft.com/office/powerpoint/2010/main" val="35643776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E7CA808-B22E-45A9-A948-B5E1DE319C60}"/>
              </a:ext>
            </a:extLst>
          </p:cNvPr>
          <p:cNvSpPr>
            <a:spLocks noGrp="1"/>
          </p:cNvSpPr>
          <p:nvPr>
            <p:ph type="body" sz="quarter" idx="10"/>
          </p:nvPr>
        </p:nvSpPr>
        <p:spPr/>
        <p:txBody>
          <a:bodyPr/>
          <a:lstStyle/>
          <a:p>
            <a:r>
              <a:rPr lang="en-US" dirty="0"/>
              <a:t>Types of variables: Vectors</a:t>
            </a:r>
          </a:p>
        </p:txBody>
      </p:sp>
      <p:sp>
        <p:nvSpPr>
          <p:cNvPr id="3" name="Rectangle 1">
            <a:extLst>
              <a:ext uri="{FF2B5EF4-FFF2-40B4-BE49-F238E27FC236}">
                <a16:creationId xmlns:a16="http://schemas.microsoft.com/office/drawing/2014/main" id="{4B0B01C1-060C-411C-8BA6-F77D3B4E5878}"/>
              </a:ext>
            </a:extLst>
          </p:cNvPr>
          <p:cNvSpPr>
            <a:spLocks noChangeArrowheads="1"/>
          </p:cNvSpPr>
          <p:nvPr/>
        </p:nvSpPr>
        <p:spPr bwMode="auto">
          <a:xfrm>
            <a:off x="455114" y="1307406"/>
            <a:ext cx="7445302" cy="2769989"/>
          </a:xfrm>
          <a:prstGeom prst="rect">
            <a:avLst/>
          </a:prstGeom>
          <a:solidFill>
            <a:srgbClr val="EB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9675" tIns="0" rIns="39675"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a:r>
              <a:rPr lang="en-US" altLang="en-US" sz="2000" dirty="0">
                <a:solidFill>
                  <a:srgbClr val="3A3A3A"/>
                </a:solidFill>
                <a:latin typeface="+mj-lt"/>
              </a:rPr>
              <a:t>Vectors are one-dimension arrays that can hold numeric data, character data, or logical data. In other words, a vector is a simple tool to store data. </a:t>
            </a:r>
          </a:p>
          <a:p>
            <a:pPr defTabSz="914400"/>
            <a:endParaRPr lang="en-US" altLang="en-US" sz="2000" dirty="0">
              <a:solidFill>
                <a:srgbClr val="3A3A3A"/>
              </a:solidFill>
              <a:latin typeface="+mj-lt"/>
            </a:endParaRPr>
          </a:p>
          <a:p>
            <a:pPr defTabSz="914400"/>
            <a:endParaRPr lang="en-US" altLang="en-US" sz="2000" dirty="0">
              <a:solidFill>
                <a:srgbClr val="3A3A3A"/>
              </a:solidFill>
              <a:latin typeface="+mj-lt"/>
            </a:endParaRPr>
          </a:p>
          <a:p>
            <a:pPr defTabSz="914400"/>
            <a:endParaRPr lang="en-US" altLang="en-US" sz="2000" dirty="0">
              <a:solidFill>
                <a:srgbClr val="3A3A3A"/>
              </a:solidFill>
              <a:latin typeface="+mj-lt"/>
            </a:endParaRPr>
          </a:p>
          <a:p>
            <a:pPr defTabSz="914400"/>
            <a:r>
              <a:rPr lang="en-US" altLang="en-US" sz="2000" dirty="0">
                <a:solidFill>
                  <a:srgbClr val="3A3A3A"/>
                </a:solidFill>
                <a:latin typeface="+mj-lt"/>
              </a:rPr>
              <a:t>In R, you create a vector with the combine function c(). You place the vector elements separated by a comma between the parentheses. For example:</a:t>
            </a:r>
          </a:p>
        </p:txBody>
      </p:sp>
      <p:sp>
        <p:nvSpPr>
          <p:cNvPr id="4" name="Rectangle 2">
            <a:extLst>
              <a:ext uri="{FF2B5EF4-FFF2-40B4-BE49-F238E27FC236}">
                <a16:creationId xmlns:a16="http://schemas.microsoft.com/office/drawing/2014/main" id="{829D8581-FA2B-4C67-87E5-66002F479713}"/>
              </a:ext>
            </a:extLst>
          </p:cNvPr>
          <p:cNvSpPr>
            <a:spLocks noChangeArrowheads="1"/>
          </p:cNvSpPr>
          <p:nvPr/>
        </p:nvSpPr>
        <p:spPr bwMode="auto">
          <a:xfrm>
            <a:off x="455114" y="4694818"/>
            <a:ext cx="5073087" cy="984885"/>
          </a:xfrm>
          <a:prstGeom prst="rect">
            <a:avLst/>
          </a:prstGeom>
          <a:solidFill>
            <a:srgbClr val="EB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333333"/>
                </a:solidFill>
                <a:effectLst/>
                <a:latin typeface="+mj-lt"/>
                <a:cs typeface="Courier New" panose="02070309020205020404" pitchFamily="49" charset="0"/>
              </a:rPr>
              <a:t>numeric_vector</a:t>
            </a:r>
            <a:r>
              <a:rPr kumimoji="0" lang="en-US" altLang="en-US" sz="1600" b="0" i="0" u="none" strike="noStrike" cap="none" normalizeH="0" baseline="0" dirty="0">
                <a:ln>
                  <a:noFill/>
                </a:ln>
                <a:solidFill>
                  <a:srgbClr val="333333"/>
                </a:solidFill>
                <a:effectLst/>
                <a:latin typeface="+mj-lt"/>
                <a:cs typeface="Courier New" panose="02070309020205020404" pitchFamily="49" charset="0"/>
              </a:rPr>
              <a:t> &lt;- c(1, 2, 3)</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333333"/>
              </a:solidFill>
              <a:latin typeface="+mj-lt"/>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333333"/>
              </a:solidFill>
              <a:effectLst/>
              <a:latin typeface="+mj-lt"/>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333333"/>
                </a:solidFill>
                <a:effectLst/>
                <a:latin typeface="+mj-lt"/>
                <a:cs typeface="Courier New" panose="02070309020205020404" pitchFamily="49" charset="0"/>
              </a:rPr>
              <a:t>character_vector</a:t>
            </a:r>
            <a:r>
              <a:rPr kumimoji="0" lang="en-US" altLang="en-US" sz="1600" b="0" i="0" u="none" strike="noStrike" cap="none" normalizeH="0" baseline="0" dirty="0">
                <a:ln>
                  <a:noFill/>
                </a:ln>
                <a:solidFill>
                  <a:srgbClr val="333333"/>
                </a:solidFill>
                <a:effectLst/>
                <a:latin typeface="+mj-lt"/>
                <a:cs typeface="Courier New" panose="02070309020205020404" pitchFamily="49" charset="0"/>
              </a:rPr>
              <a:t> &lt;- c("a", "b", "c")</a:t>
            </a:r>
            <a:r>
              <a:rPr kumimoji="0" lang="en-US" altLang="en-US" sz="1600" b="0" i="0" u="none" strike="noStrike" cap="none" normalizeH="0" baseline="0" dirty="0">
                <a:ln>
                  <a:noFill/>
                </a:ln>
                <a:solidFill>
                  <a:schemeClr val="tx1"/>
                </a:solidFill>
                <a:effectLst/>
                <a:latin typeface="+mj-lt"/>
              </a:rPr>
              <a:t> </a:t>
            </a:r>
          </a:p>
        </p:txBody>
      </p:sp>
    </p:spTree>
    <p:extLst>
      <p:ext uri="{BB962C8B-B14F-4D97-AF65-F5344CB8AC3E}">
        <p14:creationId xmlns:p14="http://schemas.microsoft.com/office/powerpoint/2010/main" val="36539627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C51E5A1-B360-486E-86C4-3C83E1D5F607}"/>
              </a:ext>
            </a:extLst>
          </p:cNvPr>
          <p:cNvSpPr>
            <a:spLocks noGrp="1"/>
          </p:cNvSpPr>
          <p:nvPr>
            <p:ph type="body" sz="quarter" idx="10"/>
          </p:nvPr>
        </p:nvSpPr>
        <p:spPr/>
        <p:txBody>
          <a:bodyPr/>
          <a:lstStyle/>
          <a:p>
            <a:r>
              <a:rPr lang="en-US" dirty="0"/>
              <a:t>Naming a vector</a:t>
            </a:r>
          </a:p>
        </p:txBody>
      </p:sp>
      <p:pic>
        <p:nvPicPr>
          <p:cNvPr id="4" name="Picture 3">
            <a:extLst>
              <a:ext uri="{FF2B5EF4-FFF2-40B4-BE49-F238E27FC236}">
                <a16:creationId xmlns:a16="http://schemas.microsoft.com/office/drawing/2014/main" id="{E0E12925-3038-49C5-9EAC-A8E3B4CFB967}"/>
              </a:ext>
            </a:extLst>
          </p:cNvPr>
          <p:cNvPicPr>
            <a:picLocks noChangeAspect="1"/>
          </p:cNvPicPr>
          <p:nvPr/>
        </p:nvPicPr>
        <p:blipFill>
          <a:blip r:embed="rId3"/>
          <a:stretch>
            <a:fillRect/>
          </a:stretch>
        </p:blipFill>
        <p:spPr>
          <a:xfrm>
            <a:off x="247933" y="1788808"/>
            <a:ext cx="8440564" cy="1264271"/>
          </a:xfrm>
          <a:prstGeom prst="rect">
            <a:avLst/>
          </a:prstGeom>
        </p:spPr>
      </p:pic>
    </p:spTree>
    <p:extLst>
      <p:ext uri="{BB962C8B-B14F-4D97-AF65-F5344CB8AC3E}">
        <p14:creationId xmlns:p14="http://schemas.microsoft.com/office/powerpoint/2010/main" val="20444760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A4B8F1-5EAF-4D12-AF2D-EE5DB500E522}"/>
              </a:ext>
            </a:extLst>
          </p:cNvPr>
          <p:cNvSpPr>
            <a:spLocks noGrp="1"/>
          </p:cNvSpPr>
          <p:nvPr>
            <p:ph type="body" sz="quarter" idx="10"/>
          </p:nvPr>
        </p:nvSpPr>
        <p:spPr/>
        <p:txBody>
          <a:bodyPr/>
          <a:lstStyle/>
          <a:p>
            <a:r>
              <a:rPr lang="en-US" dirty="0" err="1"/>
              <a:t>Subseting</a:t>
            </a:r>
            <a:r>
              <a:rPr lang="en-US" dirty="0"/>
              <a:t> vectors</a:t>
            </a:r>
          </a:p>
        </p:txBody>
      </p:sp>
      <p:pic>
        <p:nvPicPr>
          <p:cNvPr id="3" name="Picture 2">
            <a:extLst>
              <a:ext uri="{FF2B5EF4-FFF2-40B4-BE49-F238E27FC236}">
                <a16:creationId xmlns:a16="http://schemas.microsoft.com/office/drawing/2014/main" id="{A538ADDC-78F4-4B3B-A6A1-A045A640AD08}"/>
              </a:ext>
            </a:extLst>
          </p:cNvPr>
          <p:cNvPicPr>
            <a:picLocks noChangeAspect="1"/>
          </p:cNvPicPr>
          <p:nvPr/>
        </p:nvPicPr>
        <p:blipFill>
          <a:blip r:embed="rId2"/>
          <a:stretch>
            <a:fillRect/>
          </a:stretch>
        </p:blipFill>
        <p:spPr>
          <a:xfrm>
            <a:off x="296884" y="1540042"/>
            <a:ext cx="8569464" cy="2462182"/>
          </a:xfrm>
          <a:prstGeom prst="rect">
            <a:avLst/>
          </a:prstGeom>
        </p:spPr>
      </p:pic>
    </p:spTree>
    <p:extLst>
      <p:ext uri="{BB962C8B-B14F-4D97-AF65-F5344CB8AC3E}">
        <p14:creationId xmlns:p14="http://schemas.microsoft.com/office/powerpoint/2010/main" val="42644323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A4B8F1-5EAF-4D12-AF2D-EE5DB500E522}"/>
              </a:ext>
            </a:extLst>
          </p:cNvPr>
          <p:cNvSpPr>
            <a:spLocks noGrp="1"/>
          </p:cNvSpPr>
          <p:nvPr>
            <p:ph type="body" sz="quarter" idx="10"/>
          </p:nvPr>
        </p:nvSpPr>
        <p:spPr/>
        <p:txBody>
          <a:bodyPr/>
          <a:lstStyle/>
          <a:p>
            <a:r>
              <a:rPr lang="en-US" dirty="0" err="1"/>
              <a:t>Subseting</a:t>
            </a:r>
            <a:r>
              <a:rPr lang="en-US" dirty="0"/>
              <a:t> vectors</a:t>
            </a:r>
          </a:p>
        </p:txBody>
      </p:sp>
      <p:pic>
        <p:nvPicPr>
          <p:cNvPr id="4" name="Picture 3">
            <a:extLst>
              <a:ext uri="{FF2B5EF4-FFF2-40B4-BE49-F238E27FC236}">
                <a16:creationId xmlns:a16="http://schemas.microsoft.com/office/drawing/2014/main" id="{922FEFB7-EBB5-484E-B6E0-9DA9FBD4F9C8}"/>
              </a:ext>
            </a:extLst>
          </p:cNvPr>
          <p:cNvPicPr>
            <a:picLocks noChangeAspect="1"/>
          </p:cNvPicPr>
          <p:nvPr/>
        </p:nvPicPr>
        <p:blipFill>
          <a:blip r:embed="rId2"/>
          <a:stretch>
            <a:fillRect/>
          </a:stretch>
        </p:blipFill>
        <p:spPr>
          <a:xfrm>
            <a:off x="362799" y="1515609"/>
            <a:ext cx="8177771" cy="2919166"/>
          </a:xfrm>
          <a:prstGeom prst="rect">
            <a:avLst/>
          </a:prstGeom>
        </p:spPr>
      </p:pic>
    </p:spTree>
    <p:extLst>
      <p:ext uri="{BB962C8B-B14F-4D97-AF65-F5344CB8AC3E}">
        <p14:creationId xmlns:p14="http://schemas.microsoft.com/office/powerpoint/2010/main" val="391506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01BC512-04ED-40C3-B88E-36C1E577A263}"/>
              </a:ext>
            </a:extLst>
          </p:cNvPr>
          <p:cNvSpPr>
            <a:spLocks noGrp="1"/>
          </p:cNvSpPr>
          <p:nvPr>
            <p:ph type="body" sz="quarter" idx="10"/>
          </p:nvPr>
        </p:nvSpPr>
        <p:spPr/>
        <p:txBody>
          <a:bodyPr/>
          <a:lstStyle/>
          <a:p>
            <a:r>
              <a:rPr lang="en-US" dirty="0"/>
              <a:t>Operations with vectors</a:t>
            </a:r>
          </a:p>
        </p:txBody>
      </p:sp>
      <p:sp>
        <p:nvSpPr>
          <p:cNvPr id="4" name="Rectangle 1">
            <a:extLst>
              <a:ext uri="{FF2B5EF4-FFF2-40B4-BE49-F238E27FC236}">
                <a16:creationId xmlns:a16="http://schemas.microsoft.com/office/drawing/2014/main" id="{FCEE6409-AD16-427D-A148-06F1A93B1E98}"/>
              </a:ext>
            </a:extLst>
          </p:cNvPr>
          <p:cNvSpPr>
            <a:spLocks noChangeArrowheads="1"/>
          </p:cNvSpPr>
          <p:nvPr/>
        </p:nvSpPr>
        <p:spPr bwMode="auto">
          <a:xfrm>
            <a:off x="328697" y="1434286"/>
            <a:ext cx="7763743" cy="2215991"/>
          </a:xfrm>
          <a:prstGeom prst="rect">
            <a:avLst/>
          </a:prstGeom>
          <a:solidFill>
            <a:srgbClr val="EB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lvl="0" defTabSz="914400" eaLnBrk="0" fontAlgn="base" hangingPunct="0">
              <a:spcBef>
                <a:spcPct val="0"/>
              </a:spcBef>
              <a:spcAft>
                <a:spcPct val="0"/>
              </a:spcAft>
            </a:pPr>
            <a:r>
              <a:rPr lang="en-US" sz="1600" dirty="0">
                <a:solidFill>
                  <a:srgbClr val="3A3A3A"/>
                </a:solidFill>
                <a:latin typeface="+mj-lt"/>
              </a:rPr>
              <a:t>Arithmetic operations of vectors are performed member-by-member, i.e., </a:t>
            </a:r>
            <a:r>
              <a:rPr lang="en-US" sz="1600" dirty="0" err="1">
                <a:solidFill>
                  <a:srgbClr val="3A3A3A"/>
                </a:solidFill>
                <a:latin typeface="+mj-lt"/>
              </a:rPr>
              <a:t>memberwise</a:t>
            </a:r>
            <a:r>
              <a:rPr lang="en-US" sz="1600" dirty="0">
                <a:solidFill>
                  <a:srgbClr val="3A3A3A"/>
                </a:solidFill>
                <a:latin typeface="+mj-lt"/>
              </a:rPr>
              <a:t>.</a:t>
            </a:r>
          </a:p>
          <a:p>
            <a:pPr lvl="0" defTabSz="914400" eaLnBrk="0" fontAlgn="base" hangingPunct="0">
              <a:spcBef>
                <a:spcPct val="0"/>
              </a:spcBef>
              <a:spcAft>
                <a:spcPct val="0"/>
              </a:spcAft>
            </a:pPr>
            <a:endParaRPr kumimoji="0" lang="en-US" altLang="en-US" sz="1600" b="0" i="0" u="none" strike="noStrike" cap="none" normalizeH="0" baseline="0" dirty="0">
              <a:ln>
                <a:noFill/>
              </a:ln>
              <a:solidFill>
                <a:srgbClr val="3A3A3A"/>
              </a:solidFill>
              <a:effectLst/>
              <a:latin typeface="+mj-lt"/>
            </a:endParaRPr>
          </a:p>
          <a:p>
            <a:pPr lvl="0" defTabSz="914400" eaLnBrk="0" fontAlgn="base" hangingPunct="0">
              <a:spcBef>
                <a:spcPct val="0"/>
              </a:spcBef>
              <a:spcAft>
                <a:spcPct val="0"/>
              </a:spcAft>
            </a:pPr>
            <a:r>
              <a:rPr kumimoji="0" lang="en-US" altLang="en-US" sz="1600" b="0" i="0" u="none" strike="noStrike" cap="none" normalizeH="0" baseline="0" dirty="0">
                <a:ln>
                  <a:noFill/>
                </a:ln>
                <a:solidFill>
                  <a:srgbClr val="3A3A3A"/>
                </a:solidFill>
                <a:effectLst/>
                <a:latin typeface="+mj-lt"/>
              </a:rPr>
              <a:t>For example, the following three statements are completely equivalent: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rPr>
              <a:t>c(1, 2, 3) + c(4, 5, 6)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rPr>
              <a:t>c(1 + 4, 2 + 5, 3 + 6)</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333333"/>
              </a:solidFill>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rPr>
              <a:t>c(5, 7, 9)</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D4C5C5C3-B8C4-41C2-A9D8-0DFB3B19C934}"/>
              </a:ext>
            </a:extLst>
          </p:cNvPr>
          <p:cNvSpPr>
            <a:spLocks noChangeArrowheads="1"/>
          </p:cNvSpPr>
          <p:nvPr/>
        </p:nvSpPr>
        <p:spPr bwMode="auto">
          <a:xfrm>
            <a:off x="328696" y="4374518"/>
            <a:ext cx="7763743" cy="1477328"/>
          </a:xfrm>
          <a:prstGeom prst="rect">
            <a:avLst/>
          </a:prstGeom>
          <a:solidFill>
            <a:srgbClr val="EB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defTabSz="914400" eaLnBrk="0" fontAlgn="base" hangingPunct="0">
              <a:spcBef>
                <a:spcPct val="0"/>
              </a:spcBef>
              <a:spcAft>
                <a:spcPct val="0"/>
              </a:spcAft>
            </a:pPr>
            <a:r>
              <a:rPr lang="en-US" altLang="en-US" sz="1600" dirty="0">
                <a:solidFill>
                  <a:srgbClr val="3A3A3A"/>
                </a:solidFill>
                <a:latin typeface="+mj-lt"/>
              </a:rPr>
              <a:t>You can also do the calculations with variables that represent vectors:</a:t>
            </a:r>
          </a:p>
          <a:p>
            <a:pPr defTabSz="914400" eaLnBrk="0" fontAlgn="base" hangingPunct="0">
              <a:spcBef>
                <a:spcPct val="0"/>
              </a:spcBef>
              <a:spcAft>
                <a:spcPct val="0"/>
              </a:spcAft>
            </a:pPr>
            <a:endParaRPr lang="en-US" altLang="en-US" sz="1600" dirty="0">
              <a:solidFill>
                <a:srgbClr val="3A3A3A"/>
              </a:solidFill>
              <a:latin typeface="+mj-lt"/>
            </a:endParaRPr>
          </a:p>
          <a:p>
            <a:pPr defTabSz="914400" eaLnBrk="0" fontAlgn="base" hangingPunct="0">
              <a:spcBef>
                <a:spcPct val="0"/>
              </a:spcBef>
              <a:spcAft>
                <a:spcPct val="0"/>
              </a:spcAft>
            </a:pPr>
            <a:endParaRPr lang="en-US" altLang="en-US" sz="1600" dirty="0">
              <a:solidFill>
                <a:srgbClr val="3A3A3A"/>
              </a:solidFill>
              <a:latin typeface="+mj-lt"/>
            </a:endParaRPr>
          </a:p>
          <a:p>
            <a:pPr defTabSz="914400" eaLnBrk="0" fontAlgn="base" hangingPunct="0">
              <a:spcBef>
                <a:spcPct val="0"/>
              </a:spcBef>
              <a:spcAft>
                <a:spcPct val="0"/>
              </a:spcAft>
            </a:pPr>
            <a:r>
              <a:rPr lang="en-US" altLang="en-US" sz="1600" dirty="0">
                <a:solidFill>
                  <a:srgbClr val="3A3A3A"/>
                </a:solidFill>
                <a:latin typeface="+mj-lt"/>
              </a:rPr>
              <a:t>a &lt;- c(1, 2, 3)</a:t>
            </a:r>
          </a:p>
          <a:p>
            <a:pPr defTabSz="914400" eaLnBrk="0" fontAlgn="base" hangingPunct="0">
              <a:spcBef>
                <a:spcPct val="0"/>
              </a:spcBef>
              <a:spcAft>
                <a:spcPct val="0"/>
              </a:spcAft>
            </a:pPr>
            <a:r>
              <a:rPr lang="en-US" altLang="en-US" sz="1600" dirty="0">
                <a:solidFill>
                  <a:srgbClr val="3A3A3A"/>
                </a:solidFill>
                <a:latin typeface="+mj-lt"/>
              </a:rPr>
              <a:t>b &lt;- c(4, 5, 6)</a:t>
            </a:r>
          </a:p>
          <a:p>
            <a:pPr defTabSz="914400" eaLnBrk="0" fontAlgn="base" hangingPunct="0">
              <a:spcBef>
                <a:spcPct val="0"/>
              </a:spcBef>
              <a:spcAft>
                <a:spcPct val="0"/>
              </a:spcAft>
            </a:pPr>
            <a:r>
              <a:rPr lang="en-US" altLang="en-US" sz="1600" dirty="0">
                <a:solidFill>
                  <a:srgbClr val="3A3A3A"/>
                </a:solidFill>
                <a:latin typeface="+mj-lt"/>
              </a:rPr>
              <a:t>c &lt;- a + b </a:t>
            </a:r>
          </a:p>
        </p:txBody>
      </p:sp>
    </p:spTree>
    <p:extLst>
      <p:ext uri="{BB962C8B-B14F-4D97-AF65-F5344CB8AC3E}">
        <p14:creationId xmlns:p14="http://schemas.microsoft.com/office/powerpoint/2010/main" val="19516725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6265BE-8829-4BA6-8157-6998389D0DC0}"/>
              </a:ext>
            </a:extLst>
          </p:cNvPr>
          <p:cNvSpPr>
            <a:spLocks noGrp="1"/>
          </p:cNvSpPr>
          <p:nvPr>
            <p:ph type="body" sz="quarter" idx="10"/>
          </p:nvPr>
        </p:nvSpPr>
        <p:spPr/>
        <p:txBody>
          <a:bodyPr/>
          <a:lstStyle/>
          <a:p>
            <a:r>
              <a:rPr lang="en-US" dirty="0"/>
              <a:t>Working with vectors</a:t>
            </a:r>
          </a:p>
        </p:txBody>
      </p:sp>
      <p:pic>
        <p:nvPicPr>
          <p:cNvPr id="3" name="Picture 2">
            <a:extLst>
              <a:ext uri="{FF2B5EF4-FFF2-40B4-BE49-F238E27FC236}">
                <a16:creationId xmlns:a16="http://schemas.microsoft.com/office/drawing/2014/main" id="{B771E074-FB77-4C66-85F9-6343CC3C5DBF}"/>
              </a:ext>
            </a:extLst>
          </p:cNvPr>
          <p:cNvPicPr>
            <a:picLocks noChangeAspect="1"/>
          </p:cNvPicPr>
          <p:nvPr/>
        </p:nvPicPr>
        <p:blipFill rotWithShape="1">
          <a:blip r:embed="rId2"/>
          <a:srcRect r="13589"/>
          <a:stretch/>
        </p:blipFill>
        <p:spPr>
          <a:xfrm>
            <a:off x="252654" y="1136715"/>
            <a:ext cx="8427254" cy="3180571"/>
          </a:xfrm>
          <a:prstGeom prst="rect">
            <a:avLst/>
          </a:prstGeom>
        </p:spPr>
      </p:pic>
    </p:spTree>
    <p:extLst>
      <p:ext uri="{BB962C8B-B14F-4D97-AF65-F5344CB8AC3E}">
        <p14:creationId xmlns:p14="http://schemas.microsoft.com/office/powerpoint/2010/main" val="18173342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BA3C5D0-EF4E-4ED4-B857-EA47A363A330}"/>
              </a:ext>
            </a:extLst>
          </p:cNvPr>
          <p:cNvSpPr>
            <a:spLocks noGrp="1"/>
          </p:cNvSpPr>
          <p:nvPr>
            <p:ph type="body" sz="quarter" idx="10"/>
          </p:nvPr>
        </p:nvSpPr>
        <p:spPr/>
        <p:txBody>
          <a:bodyPr/>
          <a:lstStyle/>
          <a:p>
            <a:r>
              <a:rPr lang="en-US" dirty="0" err="1"/>
              <a:t>Subsetting</a:t>
            </a:r>
            <a:r>
              <a:rPr lang="en-US" dirty="0"/>
              <a:t> on condition</a:t>
            </a:r>
          </a:p>
        </p:txBody>
      </p:sp>
      <p:sp>
        <p:nvSpPr>
          <p:cNvPr id="3" name="TextBox 2">
            <a:extLst>
              <a:ext uri="{FF2B5EF4-FFF2-40B4-BE49-F238E27FC236}">
                <a16:creationId xmlns:a16="http://schemas.microsoft.com/office/drawing/2014/main" id="{8473BE27-F9A5-405C-B96B-F9BB7E069F9D}"/>
              </a:ext>
            </a:extLst>
          </p:cNvPr>
          <p:cNvSpPr txBox="1"/>
          <p:nvPr/>
        </p:nvSpPr>
        <p:spPr>
          <a:xfrm>
            <a:off x="128588" y="955755"/>
            <a:ext cx="7627730" cy="1477328"/>
          </a:xfrm>
          <a:prstGeom prst="rect">
            <a:avLst/>
          </a:prstGeom>
          <a:noFill/>
        </p:spPr>
        <p:txBody>
          <a:bodyPr wrap="square" rtlCol="0">
            <a:spAutoFit/>
          </a:bodyPr>
          <a:lstStyle/>
          <a:p>
            <a:pPr marL="285750" indent="-285750">
              <a:buFont typeface="Arial" panose="020B0604020202020204" pitchFamily="34" charset="0"/>
              <a:buChar char="•"/>
            </a:pPr>
            <a:r>
              <a:rPr lang="en-US" dirty="0"/>
              <a:t>Create a </a:t>
            </a:r>
            <a:r>
              <a:rPr lang="en-US" dirty="0" err="1"/>
              <a:t>boolean</a:t>
            </a:r>
            <a:r>
              <a:rPr lang="en-US" dirty="0"/>
              <a:t> vector with values TRUE when condition is met and FALSE when it does not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From the initial object chose only elements where the value of Boolean vector is true</a:t>
            </a:r>
          </a:p>
        </p:txBody>
      </p:sp>
      <p:pic>
        <p:nvPicPr>
          <p:cNvPr id="4" name="Picture 3">
            <a:extLst>
              <a:ext uri="{FF2B5EF4-FFF2-40B4-BE49-F238E27FC236}">
                <a16:creationId xmlns:a16="http://schemas.microsoft.com/office/drawing/2014/main" id="{5A485388-77DD-472B-99C5-67A366CEF57F}"/>
              </a:ext>
            </a:extLst>
          </p:cNvPr>
          <p:cNvPicPr>
            <a:picLocks noChangeAspect="1"/>
          </p:cNvPicPr>
          <p:nvPr/>
        </p:nvPicPr>
        <p:blipFill rotWithShape="1">
          <a:blip r:embed="rId2"/>
          <a:srcRect l="-3869" t="869" r="26482" b="-869"/>
          <a:stretch/>
        </p:blipFill>
        <p:spPr>
          <a:xfrm>
            <a:off x="0" y="2728860"/>
            <a:ext cx="7076261" cy="1400280"/>
          </a:xfrm>
          <a:prstGeom prst="rect">
            <a:avLst/>
          </a:prstGeom>
        </p:spPr>
      </p:pic>
    </p:spTree>
    <p:extLst>
      <p:ext uri="{BB962C8B-B14F-4D97-AF65-F5344CB8AC3E}">
        <p14:creationId xmlns:p14="http://schemas.microsoft.com/office/powerpoint/2010/main" val="28693857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CEF0D50-6B34-4369-A9AD-2E441D9C7D48}"/>
              </a:ext>
            </a:extLst>
          </p:cNvPr>
          <p:cNvSpPr>
            <a:spLocks noGrp="1"/>
          </p:cNvSpPr>
          <p:nvPr>
            <p:ph type="body" sz="quarter" idx="10"/>
          </p:nvPr>
        </p:nvSpPr>
        <p:spPr/>
        <p:txBody>
          <a:bodyPr/>
          <a:lstStyle/>
          <a:p>
            <a:r>
              <a:rPr lang="en-US" dirty="0"/>
              <a:t>Logical comparison operators</a:t>
            </a:r>
          </a:p>
        </p:txBody>
      </p:sp>
      <p:sp>
        <p:nvSpPr>
          <p:cNvPr id="3" name="Rectangle 1">
            <a:extLst>
              <a:ext uri="{FF2B5EF4-FFF2-40B4-BE49-F238E27FC236}">
                <a16:creationId xmlns:a16="http://schemas.microsoft.com/office/drawing/2014/main" id="{89F79B4E-84D7-4BC2-A3D1-4EDCE2674821}"/>
              </a:ext>
            </a:extLst>
          </p:cNvPr>
          <p:cNvSpPr>
            <a:spLocks noChangeArrowheads="1"/>
          </p:cNvSpPr>
          <p:nvPr/>
        </p:nvSpPr>
        <p:spPr bwMode="auto">
          <a:xfrm>
            <a:off x="728407" y="1126914"/>
            <a:ext cx="7363325" cy="5338384"/>
          </a:xfrm>
          <a:prstGeom prst="rect">
            <a:avLst/>
          </a:prstGeom>
          <a:solidFill>
            <a:srgbClr val="EB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9675" tIns="0" rIns="39675" bIns="0" numCol="1" anchor="ctr" anchorCtr="0" compatLnSpc="1">
            <a:prstTxWarp prst="textNoShape">
              <a:avLst/>
            </a:prstTxWarp>
            <a:spAutoFit/>
          </a:bodyPr>
          <a:lstStyle/>
          <a:p>
            <a:pPr marL="0" marR="0" lvl="0" indent="0" algn="l" defTabSz="914400" rtl="0" eaLnBrk="0" fontAlgn="base" latinLnBrk="0" hangingPunct="0">
              <a:lnSpc>
                <a:spcPct val="150000"/>
              </a:lnSpc>
              <a:spcBef>
                <a:spcPts val="600"/>
              </a:spcBef>
              <a:spcAft>
                <a:spcPts val="600"/>
              </a:spcAft>
              <a:buClrTx/>
              <a:buSzTx/>
              <a:buFontTx/>
              <a:buNone/>
              <a:tabLst/>
            </a:pPr>
            <a:r>
              <a:rPr kumimoji="0" lang="en-US" altLang="en-US" sz="2000" b="0" i="0" u="none" strike="noStrike" cap="none" normalizeH="0" baseline="0" dirty="0">
                <a:ln>
                  <a:noFill/>
                </a:ln>
                <a:solidFill>
                  <a:srgbClr val="3A3A3A"/>
                </a:solidFill>
                <a:effectLst/>
                <a:latin typeface="+mj-lt"/>
              </a:rPr>
              <a:t>The (logical) comparison operators known to R are:</a:t>
            </a:r>
          </a:p>
          <a:p>
            <a:pPr marL="0" marR="0" lvl="0" indent="0" algn="l" defTabSz="914400" rtl="0" eaLnBrk="0" fontAlgn="base" latinLnBrk="0" hangingPunct="0">
              <a:lnSpc>
                <a:spcPct val="150000"/>
              </a:lnSpc>
              <a:spcBef>
                <a:spcPts val="600"/>
              </a:spcBef>
              <a:spcAft>
                <a:spcPts val="600"/>
              </a:spcAft>
              <a:buClrTx/>
              <a:buSzTx/>
              <a:buFontTx/>
              <a:buNone/>
              <a:tabLst/>
            </a:pPr>
            <a:endParaRPr kumimoji="0" lang="en-US" altLang="en-US" sz="2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50000"/>
              </a:lnSpc>
              <a:spcBef>
                <a:spcPts val="600"/>
              </a:spcBef>
              <a:spcAft>
                <a:spcPts val="600"/>
              </a:spcAft>
              <a:buClrTx/>
              <a:buSzTx/>
              <a:tabLst/>
            </a:pPr>
            <a:r>
              <a:rPr kumimoji="0" lang="en-US" altLang="en-US" sz="2000" b="0" i="0" u="none" strike="noStrike" cap="none" normalizeH="0" baseline="0" dirty="0">
                <a:ln>
                  <a:noFill/>
                </a:ln>
                <a:solidFill>
                  <a:srgbClr val="3A3A3A"/>
                </a:solidFill>
                <a:effectLst/>
                <a:latin typeface="+mj-lt"/>
                <a:cs typeface="Courier New" panose="02070309020205020404" pitchFamily="49" charset="0"/>
              </a:rPr>
              <a:t>&lt;  </a:t>
            </a:r>
            <a:r>
              <a:rPr kumimoji="0" lang="en-US" altLang="en-US" sz="2000" b="0" i="0" u="none" strike="noStrike" cap="none" normalizeH="0" baseline="0" dirty="0">
                <a:ln>
                  <a:noFill/>
                </a:ln>
                <a:solidFill>
                  <a:srgbClr val="3A3A3A"/>
                </a:solidFill>
                <a:effectLst/>
                <a:latin typeface="+mj-lt"/>
              </a:rPr>
              <a:t> for less than</a:t>
            </a:r>
          </a:p>
          <a:p>
            <a:pPr marL="0" marR="0" lvl="0" indent="0" algn="l" defTabSz="914400" rtl="0" eaLnBrk="0" fontAlgn="base" latinLnBrk="0" hangingPunct="0">
              <a:lnSpc>
                <a:spcPct val="150000"/>
              </a:lnSpc>
              <a:spcBef>
                <a:spcPts val="600"/>
              </a:spcBef>
              <a:spcAft>
                <a:spcPts val="600"/>
              </a:spcAft>
              <a:buClrTx/>
              <a:buSzTx/>
              <a:tabLst/>
            </a:pPr>
            <a:r>
              <a:rPr kumimoji="0" lang="en-US" altLang="en-US" sz="2000" b="0" i="0" u="none" strike="noStrike" cap="none" normalizeH="0" baseline="0" dirty="0">
                <a:ln>
                  <a:noFill/>
                </a:ln>
                <a:solidFill>
                  <a:srgbClr val="3A3A3A"/>
                </a:solidFill>
                <a:effectLst/>
                <a:latin typeface="+mj-lt"/>
                <a:cs typeface="Courier New" panose="02070309020205020404" pitchFamily="49" charset="0"/>
              </a:rPr>
              <a:t>&gt;</a:t>
            </a:r>
            <a:r>
              <a:rPr kumimoji="0" lang="en-US" altLang="en-US" sz="2000" b="0" i="0" u="none" strike="noStrike" cap="none" normalizeH="0" baseline="0" dirty="0">
                <a:ln>
                  <a:noFill/>
                </a:ln>
                <a:solidFill>
                  <a:srgbClr val="3A3A3A"/>
                </a:solidFill>
                <a:effectLst/>
                <a:latin typeface="+mj-lt"/>
              </a:rPr>
              <a:t>    for greater than</a:t>
            </a:r>
          </a:p>
          <a:p>
            <a:pPr marL="0" marR="0" lvl="0" indent="0" algn="l" defTabSz="914400" rtl="0" eaLnBrk="0" fontAlgn="base" latinLnBrk="0" hangingPunct="0">
              <a:lnSpc>
                <a:spcPct val="150000"/>
              </a:lnSpc>
              <a:spcBef>
                <a:spcPts val="600"/>
              </a:spcBef>
              <a:spcAft>
                <a:spcPts val="600"/>
              </a:spcAft>
              <a:buClrTx/>
              <a:buSzTx/>
              <a:tabLst/>
            </a:pPr>
            <a:r>
              <a:rPr kumimoji="0" lang="en-US" altLang="en-US" sz="2000" b="0" i="0" u="none" strike="noStrike" cap="none" normalizeH="0" baseline="0" dirty="0">
                <a:ln>
                  <a:noFill/>
                </a:ln>
                <a:solidFill>
                  <a:srgbClr val="3A3A3A"/>
                </a:solidFill>
                <a:effectLst/>
                <a:latin typeface="+mj-lt"/>
                <a:cs typeface="Courier New" panose="02070309020205020404" pitchFamily="49" charset="0"/>
              </a:rPr>
              <a:t>&lt;= </a:t>
            </a:r>
            <a:r>
              <a:rPr kumimoji="0" lang="en-US" altLang="en-US" sz="2000" b="0" i="0" u="none" strike="noStrike" cap="none" normalizeH="0" baseline="0" dirty="0">
                <a:ln>
                  <a:noFill/>
                </a:ln>
                <a:solidFill>
                  <a:srgbClr val="3A3A3A"/>
                </a:solidFill>
                <a:effectLst/>
                <a:latin typeface="+mj-lt"/>
              </a:rPr>
              <a:t> for less than or equal to</a:t>
            </a:r>
          </a:p>
          <a:p>
            <a:pPr marL="0" marR="0" lvl="0" indent="0" algn="l" defTabSz="914400" rtl="0" eaLnBrk="0" fontAlgn="base" latinLnBrk="0" hangingPunct="0">
              <a:lnSpc>
                <a:spcPct val="150000"/>
              </a:lnSpc>
              <a:spcBef>
                <a:spcPts val="600"/>
              </a:spcBef>
              <a:spcAft>
                <a:spcPts val="600"/>
              </a:spcAft>
              <a:buClrTx/>
              <a:buSzTx/>
              <a:tabLst/>
            </a:pPr>
            <a:r>
              <a:rPr kumimoji="0" lang="en-US" altLang="en-US" sz="2000" b="0" i="0" u="none" strike="noStrike" cap="none" normalizeH="0" baseline="0" dirty="0">
                <a:ln>
                  <a:noFill/>
                </a:ln>
                <a:solidFill>
                  <a:srgbClr val="3A3A3A"/>
                </a:solidFill>
                <a:effectLst/>
                <a:latin typeface="+mj-lt"/>
                <a:cs typeface="Courier New" panose="02070309020205020404" pitchFamily="49" charset="0"/>
              </a:rPr>
              <a:t>&gt;= </a:t>
            </a:r>
            <a:r>
              <a:rPr kumimoji="0" lang="en-US" altLang="en-US" sz="2000" b="0" i="0" u="none" strike="noStrike" cap="none" normalizeH="0" baseline="0" dirty="0">
                <a:ln>
                  <a:noFill/>
                </a:ln>
                <a:solidFill>
                  <a:srgbClr val="3A3A3A"/>
                </a:solidFill>
                <a:effectLst/>
                <a:latin typeface="+mj-lt"/>
              </a:rPr>
              <a:t> for greater than or equal to</a:t>
            </a:r>
          </a:p>
          <a:p>
            <a:pPr marL="0" marR="0" lvl="0" indent="0" algn="l" defTabSz="914400" rtl="0" eaLnBrk="0" fontAlgn="base" latinLnBrk="0" hangingPunct="0">
              <a:lnSpc>
                <a:spcPct val="150000"/>
              </a:lnSpc>
              <a:spcBef>
                <a:spcPts val="600"/>
              </a:spcBef>
              <a:spcAft>
                <a:spcPts val="600"/>
              </a:spcAft>
              <a:buClrTx/>
              <a:buSzTx/>
              <a:tabLst/>
            </a:pPr>
            <a:r>
              <a:rPr kumimoji="0" lang="en-US" altLang="en-US" sz="2000" b="0" i="0" u="none" strike="noStrike" cap="none" normalizeH="0" baseline="0" dirty="0">
                <a:ln>
                  <a:noFill/>
                </a:ln>
                <a:solidFill>
                  <a:srgbClr val="3A3A3A"/>
                </a:solidFill>
                <a:effectLst/>
                <a:latin typeface="+mj-lt"/>
                <a:cs typeface="Courier New" panose="02070309020205020404" pitchFamily="49" charset="0"/>
              </a:rPr>
              <a:t>==</a:t>
            </a:r>
            <a:r>
              <a:rPr kumimoji="0" lang="en-US" altLang="en-US" sz="2000" b="0" i="0" u="none" strike="noStrike" cap="none" normalizeH="0" baseline="0" dirty="0">
                <a:ln>
                  <a:noFill/>
                </a:ln>
                <a:solidFill>
                  <a:srgbClr val="3A3A3A"/>
                </a:solidFill>
                <a:effectLst/>
                <a:latin typeface="+mj-lt"/>
              </a:rPr>
              <a:t>  for equal to each other</a:t>
            </a:r>
          </a:p>
          <a:p>
            <a:pPr marL="0" marR="0" lvl="0" indent="0" algn="l" defTabSz="914400" rtl="0" eaLnBrk="0" fontAlgn="base" latinLnBrk="0" hangingPunct="0">
              <a:lnSpc>
                <a:spcPct val="150000"/>
              </a:lnSpc>
              <a:spcBef>
                <a:spcPts val="600"/>
              </a:spcBef>
              <a:spcAft>
                <a:spcPts val="600"/>
              </a:spcAft>
              <a:buClrTx/>
              <a:buSzTx/>
              <a:tabLst/>
            </a:pPr>
            <a:r>
              <a:rPr kumimoji="0" lang="en-US" altLang="en-US" sz="2000" b="0" i="0" u="none" strike="noStrike" cap="none" normalizeH="0" baseline="0" dirty="0">
                <a:ln>
                  <a:noFill/>
                </a:ln>
                <a:solidFill>
                  <a:srgbClr val="3A3A3A"/>
                </a:solidFill>
                <a:effectLst/>
                <a:latin typeface="+mj-lt"/>
                <a:cs typeface="Courier New" panose="02070309020205020404" pitchFamily="49" charset="0"/>
              </a:rPr>
              <a:t>!=</a:t>
            </a:r>
            <a:r>
              <a:rPr kumimoji="0" lang="en-US" altLang="en-US" sz="2000" b="0" i="0" u="none" strike="noStrike" cap="none" normalizeH="0" baseline="0" dirty="0">
                <a:ln>
                  <a:noFill/>
                </a:ln>
                <a:solidFill>
                  <a:srgbClr val="3A3A3A"/>
                </a:solidFill>
                <a:effectLst/>
                <a:latin typeface="+mj-lt"/>
              </a:rPr>
              <a:t>  not equal to each other</a:t>
            </a:r>
          </a:p>
          <a:p>
            <a:pPr marL="0" marR="0" lvl="0" indent="0" algn="l" defTabSz="914400" rtl="0" eaLnBrk="0" fontAlgn="base" latinLnBrk="0" hangingPunct="0">
              <a:lnSpc>
                <a:spcPct val="150000"/>
              </a:lnSpc>
              <a:spcBef>
                <a:spcPts val="600"/>
              </a:spcBef>
              <a:spcAft>
                <a:spcPts val="600"/>
              </a:spcAft>
              <a:buClrTx/>
              <a:buSzTx/>
              <a:buFontTx/>
              <a:buNone/>
              <a:tabLst/>
            </a:pPr>
            <a:endParaRPr kumimoji="0" lang="en-US" altLang="en-US" sz="20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34265789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3408EC8-08C7-4607-8F26-016756FEA7D0}"/>
              </a:ext>
            </a:extLst>
          </p:cNvPr>
          <p:cNvSpPr>
            <a:spLocks noGrp="1"/>
          </p:cNvSpPr>
          <p:nvPr>
            <p:ph type="body" sz="quarter" idx="10"/>
          </p:nvPr>
        </p:nvSpPr>
        <p:spPr/>
        <p:txBody>
          <a:bodyPr/>
          <a:lstStyle/>
          <a:p>
            <a:r>
              <a:rPr lang="en-US" dirty="0"/>
              <a:t>Intro to R</a:t>
            </a:r>
          </a:p>
        </p:txBody>
      </p:sp>
      <p:pic>
        <p:nvPicPr>
          <p:cNvPr id="3" name="Picture 2">
            <a:extLst>
              <a:ext uri="{FF2B5EF4-FFF2-40B4-BE49-F238E27FC236}">
                <a16:creationId xmlns:a16="http://schemas.microsoft.com/office/drawing/2014/main" id="{CD6B1C8F-B3C9-4A8C-B679-C2244E3A8A17}"/>
              </a:ext>
            </a:extLst>
          </p:cNvPr>
          <p:cNvPicPr>
            <a:picLocks noChangeAspect="1"/>
          </p:cNvPicPr>
          <p:nvPr/>
        </p:nvPicPr>
        <p:blipFill>
          <a:blip r:embed="rId2"/>
          <a:stretch>
            <a:fillRect/>
          </a:stretch>
        </p:blipFill>
        <p:spPr>
          <a:xfrm>
            <a:off x="339725" y="2493891"/>
            <a:ext cx="8087156" cy="1168216"/>
          </a:xfrm>
          <a:prstGeom prst="rect">
            <a:avLst/>
          </a:prstGeom>
        </p:spPr>
      </p:pic>
      <p:sp>
        <p:nvSpPr>
          <p:cNvPr id="4" name="TextBox 3">
            <a:extLst>
              <a:ext uri="{FF2B5EF4-FFF2-40B4-BE49-F238E27FC236}">
                <a16:creationId xmlns:a16="http://schemas.microsoft.com/office/drawing/2014/main" id="{9A144E5D-6473-49B0-A7E0-BE48CBECA49D}"/>
              </a:ext>
            </a:extLst>
          </p:cNvPr>
          <p:cNvSpPr txBox="1"/>
          <p:nvPr/>
        </p:nvSpPr>
        <p:spPr>
          <a:xfrm>
            <a:off x="289483" y="923590"/>
            <a:ext cx="7177351" cy="1200329"/>
          </a:xfrm>
          <a:prstGeom prst="rect">
            <a:avLst/>
          </a:prstGeom>
          <a:noFill/>
        </p:spPr>
        <p:txBody>
          <a:bodyPr wrap="square" rtlCol="0">
            <a:spAutoFit/>
          </a:bodyPr>
          <a:lstStyle/>
          <a:p>
            <a:r>
              <a:rPr lang="en-US" dirty="0"/>
              <a:t>Difference between  = and  ==</a:t>
            </a:r>
          </a:p>
          <a:p>
            <a:endParaRPr lang="en-US" dirty="0"/>
          </a:p>
          <a:p>
            <a:pPr marL="285750" indent="-285750">
              <a:buFont typeface="Arial" panose="020B0604020202020204" pitchFamily="34" charset="0"/>
              <a:buChar char="•"/>
            </a:pPr>
            <a:r>
              <a:rPr lang="en-US" dirty="0"/>
              <a:t>= is an assignment operator</a:t>
            </a:r>
          </a:p>
          <a:p>
            <a:pPr marL="285750" indent="-285750">
              <a:buFont typeface="Arial" panose="020B0604020202020204" pitchFamily="34" charset="0"/>
              <a:buChar char="•"/>
            </a:pPr>
            <a:r>
              <a:rPr lang="en-US" dirty="0"/>
              <a:t>== is a comparison </a:t>
            </a:r>
            <a:r>
              <a:rPr lang="en-US" dirty="0" err="1"/>
              <a:t>operato</a:t>
            </a:r>
            <a:endParaRPr lang="en-US" dirty="0"/>
          </a:p>
        </p:txBody>
      </p:sp>
    </p:spTree>
    <p:extLst>
      <p:ext uri="{BB962C8B-B14F-4D97-AF65-F5344CB8AC3E}">
        <p14:creationId xmlns:p14="http://schemas.microsoft.com/office/powerpoint/2010/main" val="12791429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F72C265-C4BF-4632-9A2F-6935A03F5F1A}"/>
              </a:ext>
            </a:extLst>
          </p:cNvPr>
          <p:cNvSpPr>
            <a:spLocks noGrp="1"/>
          </p:cNvSpPr>
          <p:nvPr>
            <p:ph type="body" sz="quarter" idx="10"/>
          </p:nvPr>
        </p:nvSpPr>
        <p:spPr/>
        <p:txBody>
          <a:bodyPr/>
          <a:lstStyle/>
          <a:p>
            <a:r>
              <a:rPr lang="en-US" dirty="0"/>
              <a:t>Working with vectors</a:t>
            </a:r>
          </a:p>
        </p:txBody>
      </p:sp>
      <p:pic>
        <p:nvPicPr>
          <p:cNvPr id="4" name="Picture 3">
            <a:extLst>
              <a:ext uri="{FF2B5EF4-FFF2-40B4-BE49-F238E27FC236}">
                <a16:creationId xmlns:a16="http://schemas.microsoft.com/office/drawing/2014/main" id="{BC973A1C-91E3-4E37-A056-B54440863641}"/>
              </a:ext>
            </a:extLst>
          </p:cNvPr>
          <p:cNvPicPr>
            <a:picLocks noChangeAspect="1"/>
          </p:cNvPicPr>
          <p:nvPr/>
        </p:nvPicPr>
        <p:blipFill>
          <a:blip r:embed="rId2"/>
          <a:stretch>
            <a:fillRect/>
          </a:stretch>
        </p:blipFill>
        <p:spPr>
          <a:xfrm>
            <a:off x="425733" y="1920542"/>
            <a:ext cx="7842341" cy="1711144"/>
          </a:xfrm>
          <a:prstGeom prst="rect">
            <a:avLst/>
          </a:prstGeom>
        </p:spPr>
      </p:pic>
    </p:spTree>
    <p:extLst>
      <p:ext uri="{BB962C8B-B14F-4D97-AF65-F5344CB8AC3E}">
        <p14:creationId xmlns:p14="http://schemas.microsoft.com/office/powerpoint/2010/main" val="9128050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671F179-6561-41D8-BB85-EBB7BA878405}"/>
              </a:ext>
            </a:extLst>
          </p:cNvPr>
          <p:cNvSpPr>
            <a:spLocks noGrp="1"/>
          </p:cNvSpPr>
          <p:nvPr>
            <p:ph type="body" sz="quarter" idx="10"/>
          </p:nvPr>
        </p:nvSpPr>
        <p:spPr/>
        <p:txBody>
          <a:bodyPr/>
          <a:lstStyle/>
          <a:p>
            <a:r>
              <a:rPr lang="en-US" dirty="0"/>
              <a:t>Working with vectors</a:t>
            </a:r>
          </a:p>
        </p:txBody>
      </p:sp>
      <p:pic>
        <p:nvPicPr>
          <p:cNvPr id="3" name="Picture 2">
            <a:extLst>
              <a:ext uri="{FF2B5EF4-FFF2-40B4-BE49-F238E27FC236}">
                <a16:creationId xmlns:a16="http://schemas.microsoft.com/office/drawing/2014/main" id="{170FB9DC-72B2-45C5-A80D-66DA54CADAB1}"/>
              </a:ext>
            </a:extLst>
          </p:cNvPr>
          <p:cNvPicPr>
            <a:picLocks noChangeAspect="1"/>
          </p:cNvPicPr>
          <p:nvPr/>
        </p:nvPicPr>
        <p:blipFill>
          <a:blip r:embed="rId2"/>
          <a:stretch>
            <a:fillRect/>
          </a:stretch>
        </p:blipFill>
        <p:spPr>
          <a:xfrm>
            <a:off x="417395" y="1521532"/>
            <a:ext cx="8226659" cy="3293728"/>
          </a:xfrm>
          <a:prstGeom prst="rect">
            <a:avLst/>
          </a:prstGeom>
        </p:spPr>
      </p:pic>
    </p:spTree>
    <p:extLst>
      <p:ext uri="{BB962C8B-B14F-4D97-AF65-F5344CB8AC3E}">
        <p14:creationId xmlns:p14="http://schemas.microsoft.com/office/powerpoint/2010/main" val="12202695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6AB4FCA-E095-4148-ADA3-97B56F13D9AD}"/>
              </a:ext>
            </a:extLst>
          </p:cNvPr>
          <p:cNvSpPr>
            <a:spLocks noGrp="1"/>
          </p:cNvSpPr>
          <p:nvPr>
            <p:ph type="body" sz="quarter" idx="10"/>
          </p:nvPr>
        </p:nvSpPr>
        <p:spPr/>
        <p:txBody>
          <a:bodyPr/>
          <a:lstStyle/>
          <a:p>
            <a:r>
              <a:rPr lang="en-US" dirty="0"/>
              <a:t>Working with vectors: Recycling</a:t>
            </a:r>
          </a:p>
        </p:txBody>
      </p:sp>
      <p:sp>
        <p:nvSpPr>
          <p:cNvPr id="3" name="Rectangle 2">
            <a:extLst>
              <a:ext uri="{FF2B5EF4-FFF2-40B4-BE49-F238E27FC236}">
                <a16:creationId xmlns:a16="http://schemas.microsoft.com/office/drawing/2014/main" id="{77C4B91B-62F3-4545-B788-1C1F5AF6DC68}"/>
              </a:ext>
            </a:extLst>
          </p:cNvPr>
          <p:cNvSpPr/>
          <p:nvPr/>
        </p:nvSpPr>
        <p:spPr>
          <a:xfrm>
            <a:off x="385011" y="1582341"/>
            <a:ext cx="7711316" cy="1569660"/>
          </a:xfrm>
          <a:prstGeom prst="rect">
            <a:avLst/>
          </a:prstGeom>
        </p:spPr>
        <p:txBody>
          <a:bodyPr wrap="square">
            <a:spAutoFit/>
          </a:bodyPr>
          <a:lstStyle/>
          <a:p>
            <a:r>
              <a:rPr lang="en-US" sz="2400" dirty="0">
                <a:solidFill>
                  <a:srgbClr val="444444"/>
                </a:solidFill>
                <a:latin typeface="+mj-lt"/>
              </a:rPr>
              <a:t>If two vectors are of unequal length, the shorter one will be recycled in order to match the longer vector. For example, the following vectors u and v have different lengths, and their sum is computed by recycling values of the shorter vector u.</a:t>
            </a:r>
          </a:p>
        </p:txBody>
      </p:sp>
      <p:pic>
        <p:nvPicPr>
          <p:cNvPr id="4" name="Picture 3">
            <a:extLst>
              <a:ext uri="{FF2B5EF4-FFF2-40B4-BE49-F238E27FC236}">
                <a16:creationId xmlns:a16="http://schemas.microsoft.com/office/drawing/2014/main" id="{F4DF4D86-B791-408E-A2F7-F58639423534}"/>
              </a:ext>
            </a:extLst>
          </p:cNvPr>
          <p:cNvPicPr>
            <a:picLocks noChangeAspect="1"/>
          </p:cNvPicPr>
          <p:nvPr/>
        </p:nvPicPr>
        <p:blipFill>
          <a:blip r:embed="rId2"/>
          <a:stretch>
            <a:fillRect/>
          </a:stretch>
        </p:blipFill>
        <p:spPr>
          <a:xfrm>
            <a:off x="385012" y="3616935"/>
            <a:ext cx="7766846" cy="1270414"/>
          </a:xfrm>
          <a:prstGeom prst="rect">
            <a:avLst/>
          </a:prstGeom>
        </p:spPr>
      </p:pic>
    </p:spTree>
    <p:extLst>
      <p:ext uri="{BB962C8B-B14F-4D97-AF65-F5344CB8AC3E}">
        <p14:creationId xmlns:p14="http://schemas.microsoft.com/office/powerpoint/2010/main" val="4963249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B4740B-CBAE-4E6A-9346-1BE1EEA9899F}"/>
              </a:ext>
            </a:extLst>
          </p:cNvPr>
          <p:cNvSpPr>
            <a:spLocks noGrp="1"/>
          </p:cNvSpPr>
          <p:nvPr>
            <p:ph type="body" sz="quarter" idx="10"/>
          </p:nvPr>
        </p:nvSpPr>
        <p:spPr/>
        <p:txBody>
          <a:bodyPr/>
          <a:lstStyle/>
          <a:p>
            <a:r>
              <a:rPr lang="en-US" dirty="0"/>
              <a:t>Working with vectors</a:t>
            </a:r>
          </a:p>
        </p:txBody>
      </p:sp>
      <p:pic>
        <p:nvPicPr>
          <p:cNvPr id="3" name="Picture 2">
            <a:extLst>
              <a:ext uri="{FF2B5EF4-FFF2-40B4-BE49-F238E27FC236}">
                <a16:creationId xmlns:a16="http://schemas.microsoft.com/office/drawing/2014/main" id="{79445915-6F39-4D05-9956-840C9CE57344}"/>
              </a:ext>
            </a:extLst>
          </p:cNvPr>
          <p:cNvPicPr>
            <a:picLocks noChangeAspect="1"/>
          </p:cNvPicPr>
          <p:nvPr/>
        </p:nvPicPr>
        <p:blipFill>
          <a:blip r:embed="rId2"/>
          <a:stretch>
            <a:fillRect/>
          </a:stretch>
        </p:blipFill>
        <p:spPr>
          <a:xfrm>
            <a:off x="307159" y="1380855"/>
            <a:ext cx="8329664" cy="3268168"/>
          </a:xfrm>
          <a:prstGeom prst="rect">
            <a:avLst/>
          </a:prstGeom>
        </p:spPr>
      </p:pic>
    </p:spTree>
    <p:extLst>
      <p:ext uri="{BB962C8B-B14F-4D97-AF65-F5344CB8AC3E}">
        <p14:creationId xmlns:p14="http://schemas.microsoft.com/office/powerpoint/2010/main" val="29342886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5F67C3-BCDA-4893-913C-1182C783226B}"/>
              </a:ext>
            </a:extLst>
          </p:cNvPr>
          <p:cNvSpPr>
            <a:spLocks noGrp="1"/>
          </p:cNvSpPr>
          <p:nvPr>
            <p:ph type="body" sz="quarter" idx="10"/>
          </p:nvPr>
        </p:nvSpPr>
        <p:spPr/>
        <p:txBody>
          <a:bodyPr/>
          <a:lstStyle/>
          <a:p>
            <a:r>
              <a:rPr lang="en-US" dirty="0"/>
              <a:t>Missing values in R</a:t>
            </a:r>
          </a:p>
        </p:txBody>
      </p:sp>
      <p:sp>
        <p:nvSpPr>
          <p:cNvPr id="3" name="Rectangle 2">
            <a:extLst>
              <a:ext uri="{FF2B5EF4-FFF2-40B4-BE49-F238E27FC236}">
                <a16:creationId xmlns:a16="http://schemas.microsoft.com/office/drawing/2014/main" id="{454BD202-70FE-4497-B5DF-C57A51B1A058}"/>
              </a:ext>
            </a:extLst>
          </p:cNvPr>
          <p:cNvSpPr/>
          <p:nvPr/>
        </p:nvSpPr>
        <p:spPr>
          <a:xfrm>
            <a:off x="292459" y="1601069"/>
            <a:ext cx="8322151" cy="923330"/>
          </a:xfrm>
          <a:prstGeom prst="rect">
            <a:avLst/>
          </a:prstGeom>
        </p:spPr>
        <p:txBody>
          <a:bodyPr wrap="square">
            <a:spAutoFit/>
          </a:bodyPr>
          <a:lstStyle/>
          <a:p>
            <a:r>
              <a:rPr lang="en-US" dirty="0">
                <a:solidFill>
                  <a:srgbClr val="000000"/>
                </a:solidFill>
                <a:latin typeface="+mj-lt"/>
              </a:rPr>
              <a:t>In R, missing values are represented by the symbol </a:t>
            </a:r>
            <a:r>
              <a:rPr lang="en-US" b="1" dirty="0">
                <a:solidFill>
                  <a:srgbClr val="000000"/>
                </a:solidFill>
                <a:latin typeface="+mj-lt"/>
              </a:rPr>
              <a:t>NA</a:t>
            </a:r>
            <a:r>
              <a:rPr lang="en-US" dirty="0">
                <a:solidFill>
                  <a:srgbClr val="000000"/>
                </a:solidFill>
                <a:latin typeface="+mj-lt"/>
              </a:rPr>
              <a:t> (not available). Impossible values (e.g., dividing by zero) are represented by the symbol </a:t>
            </a:r>
            <a:r>
              <a:rPr lang="en-US" b="1" dirty="0" err="1">
                <a:solidFill>
                  <a:srgbClr val="000000"/>
                </a:solidFill>
                <a:latin typeface="+mj-lt"/>
              </a:rPr>
              <a:t>NaN</a:t>
            </a:r>
            <a:r>
              <a:rPr lang="en-US" dirty="0">
                <a:solidFill>
                  <a:srgbClr val="000000"/>
                </a:solidFill>
                <a:latin typeface="+mj-lt"/>
              </a:rPr>
              <a:t> (not a number).</a:t>
            </a:r>
            <a:br>
              <a:rPr lang="en-US" dirty="0">
                <a:latin typeface="+mj-lt"/>
              </a:rPr>
            </a:br>
            <a:endParaRPr lang="en-US" dirty="0">
              <a:latin typeface="+mj-lt"/>
            </a:endParaRPr>
          </a:p>
        </p:txBody>
      </p:sp>
      <p:pic>
        <p:nvPicPr>
          <p:cNvPr id="4" name="Picture 3">
            <a:extLst>
              <a:ext uri="{FF2B5EF4-FFF2-40B4-BE49-F238E27FC236}">
                <a16:creationId xmlns:a16="http://schemas.microsoft.com/office/drawing/2014/main" id="{5426B104-DD03-4048-A043-AC555F0B5A5C}"/>
              </a:ext>
            </a:extLst>
          </p:cNvPr>
          <p:cNvPicPr>
            <a:picLocks noChangeAspect="1"/>
          </p:cNvPicPr>
          <p:nvPr/>
        </p:nvPicPr>
        <p:blipFill>
          <a:blip r:embed="rId2"/>
          <a:stretch>
            <a:fillRect/>
          </a:stretch>
        </p:blipFill>
        <p:spPr>
          <a:xfrm>
            <a:off x="292459" y="2846417"/>
            <a:ext cx="7944544" cy="1808398"/>
          </a:xfrm>
          <a:prstGeom prst="rect">
            <a:avLst/>
          </a:prstGeom>
        </p:spPr>
      </p:pic>
    </p:spTree>
    <p:extLst>
      <p:ext uri="{BB962C8B-B14F-4D97-AF65-F5344CB8AC3E}">
        <p14:creationId xmlns:p14="http://schemas.microsoft.com/office/powerpoint/2010/main" val="4127011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7966AD7-8AF3-4755-ACDE-9807D381C172}"/>
              </a:ext>
            </a:extLst>
          </p:cNvPr>
          <p:cNvSpPr>
            <a:spLocks noGrp="1"/>
          </p:cNvSpPr>
          <p:nvPr>
            <p:ph type="body" sz="quarter" idx="10"/>
          </p:nvPr>
        </p:nvSpPr>
        <p:spPr/>
        <p:txBody>
          <a:bodyPr/>
          <a:lstStyle/>
          <a:p>
            <a:r>
              <a:rPr lang="en-US" dirty="0"/>
              <a:t>Operations with Matrices</a:t>
            </a:r>
          </a:p>
        </p:txBody>
      </p:sp>
    </p:spTree>
    <p:extLst>
      <p:ext uri="{BB962C8B-B14F-4D97-AF65-F5344CB8AC3E}">
        <p14:creationId xmlns:p14="http://schemas.microsoft.com/office/powerpoint/2010/main" val="17514769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ABCA065-8CFB-46E3-848D-3F837EFDC901}"/>
              </a:ext>
            </a:extLst>
          </p:cNvPr>
          <p:cNvSpPr>
            <a:spLocks noGrp="1"/>
          </p:cNvSpPr>
          <p:nvPr>
            <p:ph type="body" sz="quarter" idx="10"/>
          </p:nvPr>
        </p:nvSpPr>
        <p:spPr/>
        <p:txBody>
          <a:bodyPr/>
          <a:lstStyle/>
          <a:p>
            <a:r>
              <a:rPr lang="en-US" dirty="0"/>
              <a:t>Matrix</a:t>
            </a:r>
          </a:p>
        </p:txBody>
      </p:sp>
      <p:sp>
        <p:nvSpPr>
          <p:cNvPr id="5" name="Rectangle 1">
            <a:extLst>
              <a:ext uri="{FF2B5EF4-FFF2-40B4-BE49-F238E27FC236}">
                <a16:creationId xmlns:a16="http://schemas.microsoft.com/office/drawing/2014/main" id="{0EF3F9E1-7C65-4F9E-9EEF-A294E2AB3CD1}"/>
              </a:ext>
            </a:extLst>
          </p:cNvPr>
          <p:cNvSpPr>
            <a:spLocks noChangeArrowheads="1"/>
          </p:cNvSpPr>
          <p:nvPr/>
        </p:nvSpPr>
        <p:spPr bwMode="auto">
          <a:xfrm>
            <a:off x="659515" y="1607674"/>
            <a:ext cx="7896418" cy="2554545"/>
          </a:xfrm>
          <a:prstGeom prst="rect">
            <a:avLst/>
          </a:prstGeom>
          <a:solidFill>
            <a:srgbClr val="EB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9675" tIns="0" rIns="39675"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2600" b="0" i="0" u="none" strike="noStrike" cap="none" normalizeH="0" baseline="0" dirty="0">
                <a:ln>
                  <a:noFill/>
                </a:ln>
                <a:solidFill>
                  <a:srgbClr val="3A3A3A"/>
                </a:solidFill>
                <a:effectLst/>
                <a:latin typeface="+mj-lt"/>
              </a:rPr>
              <a:t>In R, a matrix is a collection of elements of the same data type (numeric, character, or logical) arranged into a fixed number of rows and columns. Since you are only working with rows and columns, a matrix is called two-dimensional.</a:t>
            </a:r>
            <a:endParaRPr kumimoji="0" lang="en-US" altLang="en-US" sz="26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2600" b="0" i="0" u="none" strike="noStrike" cap="none" normalizeH="0" baseline="0" dirty="0">
                <a:ln>
                  <a:noFill/>
                </a:ln>
                <a:solidFill>
                  <a:srgbClr val="3A3A3A"/>
                </a:solidFill>
                <a:effectLst/>
                <a:latin typeface="+mj-lt"/>
              </a:rPr>
              <a:t>You can construct a matrix in R with the </a:t>
            </a:r>
            <a:r>
              <a:rPr kumimoji="0" lang="en-US" altLang="en-US" sz="2600" b="0" i="0" u="none" strike="noStrike" cap="none" normalizeH="0" baseline="0" dirty="0">
                <a:ln>
                  <a:noFill/>
                </a:ln>
                <a:solidFill>
                  <a:srgbClr val="33AACC"/>
                </a:solidFill>
                <a:effectLst/>
                <a:latin typeface="+mj-lt"/>
                <a:cs typeface="Courier New" panose="02070309020205020404" pitchFamily="49" charset="0"/>
                <a:hlinkClick r:id="rId2"/>
              </a:rPr>
              <a:t>matrix()</a:t>
            </a:r>
            <a:r>
              <a:rPr kumimoji="0" lang="en-US" altLang="en-US" sz="2600" b="0" i="0" u="none" strike="noStrike" cap="none" normalizeH="0" baseline="0" dirty="0">
                <a:ln>
                  <a:noFill/>
                </a:ln>
                <a:solidFill>
                  <a:srgbClr val="3A3A3A"/>
                </a:solidFill>
                <a:effectLst/>
                <a:latin typeface="+mj-lt"/>
              </a:rPr>
              <a:t> function. Consider the following example:</a:t>
            </a:r>
            <a:endParaRPr kumimoji="0" lang="en-US" altLang="en-US" sz="26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14506807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955B06-EEDA-4E0E-A66C-A4E83D568601}"/>
              </a:ext>
            </a:extLst>
          </p:cNvPr>
          <p:cNvSpPr>
            <a:spLocks noGrp="1"/>
          </p:cNvSpPr>
          <p:nvPr>
            <p:ph type="body" sz="quarter" idx="10"/>
          </p:nvPr>
        </p:nvSpPr>
        <p:spPr/>
        <p:txBody>
          <a:bodyPr/>
          <a:lstStyle/>
          <a:p>
            <a:r>
              <a:rPr lang="en-US" dirty="0"/>
              <a:t>Matrix</a:t>
            </a:r>
          </a:p>
        </p:txBody>
      </p:sp>
      <p:sp>
        <p:nvSpPr>
          <p:cNvPr id="3" name="Rectangle 2">
            <a:extLst>
              <a:ext uri="{FF2B5EF4-FFF2-40B4-BE49-F238E27FC236}">
                <a16:creationId xmlns:a16="http://schemas.microsoft.com/office/drawing/2014/main" id="{3CDEC1EA-2215-4DE7-B1F2-8C5E20443364}"/>
              </a:ext>
            </a:extLst>
          </p:cNvPr>
          <p:cNvSpPr>
            <a:spLocks noChangeArrowheads="1"/>
          </p:cNvSpPr>
          <p:nvPr/>
        </p:nvSpPr>
        <p:spPr bwMode="auto">
          <a:xfrm>
            <a:off x="237176" y="3165778"/>
            <a:ext cx="8439464" cy="3162661"/>
          </a:xfrm>
          <a:prstGeom prst="rect">
            <a:avLst/>
          </a:prstGeom>
          <a:solidFill>
            <a:srgbClr val="EB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9675" tIns="0" rIns="39675" bIns="0" numCol="1" anchor="ctr" anchorCtr="0" compatLnSpc="1">
            <a:prstTxWarp prst="textNoShape">
              <a:avLst/>
            </a:prstTxWarp>
            <a:spAutoFit/>
          </a:bodyPr>
          <a:lstStyle/>
          <a:p>
            <a:pPr marL="0" marR="0" lvl="0" indent="0" algn="l" defTabSz="914400" rtl="0" eaLnBrk="0" fontAlgn="base" latinLnBrk="0" hangingPunct="0">
              <a:lnSpc>
                <a:spcPct val="150000"/>
              </a:lnSpc>
              <a:spcBef>
                <a:spcPts val="600"/>
              </a:spcBef>
              <a:spcAft>
                <a:spcPts val="600"/>
              </a:spcAft>
              <a:buClrTx/>
              <a:buSzTx/>
              <a:buFontTx/>
              <a:buNone/>
              <a:tabLst/>
            </a:pPr>
            <a:r>
              <a:rPr kumimoji="0" lang="en-US" altLang="en-US" sz="1600" b="0" i="0" u="none" strike="noStrike" cap="none" normalizeH="0" baseline="0" dirty="0">
                <a:ln>
                  <a:noFill/>
                </a:ln>
                <a:solidFill>
                  <a:srgbClr val="3A3A3A"/>
                </a:solidFill>
                <a:effectLst/>
                <a:latin typeface="+mj-lt"/>
              </a:rPr>
              <a:t>In the </a:t>
            </a:r>
            <a:r>
              <a:rPr kumimoji="0" lang="en-US" altLang="en-US" sz="1600" b="0" i="0" u="none" strike="noStrike" cap="none" normalizeH="0" baseline="0" dirty="0">
                <a:ln>
                  <a:noFill/>
                </a:ln>
                <a:solidFill>
                  <a:srgbClr val="33AACC"/>
                </a:solidFill>
                <a:effectLst/>
                <a:latin typeface="+mj-lt"/>
                <a:cs typeface="Courier New" panose="02070309020205020404" pitchFamily="49" charset="0"/>
                <a:hlinkClick r:id="rId2"/>
              </a:rPr>
              <a:t>matrix()</a:t>
            </a:r>
            <a:r>
              <a:rPr kumimoji="0" lang="en-US" altLang="en-US" sz="1600" b="0" i="0" u="none" strike="noStrike" cap="none" normalizeH="0" baseline="0" dirty="0">
                <a:ln>
                  <a:noFill/>
                </a:ln>
                <a:solidFill>
                  <a:srgbClr val="3A3A3A"/>
                </a:solidFill>
                <a:effectLst/>
                <a:latin typeface="+mj-lt"/>
              </a:rPr>
              <a:t> function:</a:t>
            </a:r>
            <a:endParaRPr kumimoji="0" lang="en-US" altLang="en-US" sz="1600" b="0" i="0" u="none" strike="noStrike" cap="none" normalizeH="0" baseline="0" dirty="0">
              <a:ln>
                <a:noFill/>
              </a:ln>
              <a:solidFill>
                <a:schemeClr val="tx1"/>
              </a:solidFill>
              <a:effectLst/>
              <a:latin typeface="+mj-lt"/>
            </a:endParaRPr>
          </a:p>
          <a:p>
            <a:pPr marL="171450" marR="0" lvl="0" indent="-171450" algn="l" defTabSz="914400" rtl="0" eaLnBrk="0" fontAlgn="base" latinLnBrk="0" hangingPunct="0">
              <a:lnSpc>
                <a:spcPct val="150000"/>
              </a:lnSpc>
              <a:spcBef>
                <a:spcPts val="60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rgbClr val="3A3A3A"/>
                </a:solidFill>
                <a:effectLst/>
                <a:latin typeface="+mj-lt"/>
              </a:rPr>
              <a:t>The first argument is the collection of elements that R will arrange into the rows and columns of the matrix. Here, we use </a:t>
            </a:r>
            <a:r>
              <a:rPr kumimoji="0" lang="en-US" altLang="en-US" sz="1600" b="0" i="0" u="none" strike="noStrike" cap="none" normalizeH="0" baseline="0" dirty="0">
                <a:ln>
                  <a:noFill/>
                </a:ln>
                <a:solidFill>
                  <a:srgbClr val="3A3A3A"/>
                </a:solidFill>
                <a:effectLst/>
                <a:latin typeface="+mj-lt"/>
                <a:cs typeface="Courier New" panose="02070309020205020404" pitchFamily="49" charset="0"/>
              </a:rPr>
              <a:t>1:9</a:t>
            </a:r>
            <a:r>
              <a:rPr kumimoji="0" lang="en-US" altLang="en-US" sz="1600" b="0" i="0" u="none" strike="noStrike" cap="none" normalizeH="0" baseline="0" dirty="0">
                <a:ln>
                  <a:noFill/>
                </a:ln>
                <a:solidFill>
                  <a:srgbClr val="3A3A3A"/>
                </a:solidFill>
                <a:effectLst/>
                <a:latin typeface="+mj-lt"/>
              </a:rPr>
              <a:t> which is a shortcut for </a:t>
            </a:r>
            <a:r>
              <a:rPr kumimoji="0" lang="en-US" altLang="en-US" sz="1600" b="0" i="0" u="none" strike="noStrike" cap="none" normalizeH="0" baseline="0" dirty="0">
                <a:ln>
                  <a:noFill/>
                </a:ln>
                <a:solidFill>
                  <a:srgbClr val="3A3A3A"/>
                </a:solidFill>
                <a:effectLst/>
                <a:latin typeface="+mj-lt"/>
                <a:cs typeface="Courier New" panose="02070309020205020404" pitchFamily="49" charset="0"/>
              </a:rPr>
              <a:t>c(1, 2, 3, 4, 5, 6, 7, 8, 9)</a:t>
            </a:r>
            <a:r>
              <a:rPr kumimoji="0" lang="en-US" altLang="en-US" sz="1600" b="0" i="0" u="none" strike="noStrike" cap="none" normalizeH="0" baseline="0" dirty="0">
                <a:ln>
                  <a:noFill/>
                </a:ln>
                <a:solidFill>
                  <a:srgbClr val="3A3A3A"/>
                </a:solidFill>
                <a:effectLst/>
                <a:latin typeface="+mj-lt"/>
              </a:rPr>
              <a:t>.</a:t>
            </a:r>
          </a:p>
          <a:p>
            <a:pPr marL="171450" marR="0" lvl="0" indent="-171450" algn="l" defTabSz="914400" rtl="0" eaLnBrk="0" fontAlgn="base" latinLnBrk="0" hangingPunct="0">
              <a:lnSpc>
                <a:spcPct val="150000"/>
              </a:lnSpc>
              <a:spcBef>
                <a:spcPts val="60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rgbClr val="3A3A3A"/>
                </a:solidFill>
                <a:effectLst/>
                <a:latin typeface="+mj-lt"/>
              </a:rPr>
              <a:t>The argument </a:t>
            </a:r>
            <a:r>
              <a:rPr kumimoji="0" lang="en-US" altLang="en-US" sz="1600" b="0" i="0" u="none" strike="noStrike" cap="none" normalizeH="0" baseline="0" dirty="0" err="1">
                <a:ln>
                  <a:noFill/>
                </a:ln>
                <a:solidFill>
                  <a:srgbClr val="3A3A3A"/>
                </a:solidFill>
                <a:effectLst/>
                <a:latin typeface="+mj-lt"/>
                <a:cs typeface="Courier New" panose="02070309020205020404" pitchFamily="49" charset="0"/>
              </a:rPr>
              <a:t>byrow</a:t>
            </a:r>
            <a:r>
              <a:rPr kumimoji="0" lang="en-US" altLang="en-US" sz="1600" b="0" i="0" u="none" strike="noStrike" cap="none" normalizeH="0" baseline="0" dirty="0">
                <a:ln>
                  <a:noFill/>
                </a:ln>
                <a:solidFill>
                  <a:srgbClr val="3A3A3A"/>
                </a:solidFill>
                <a:effectLst/>
                <a:latin typeface="+mj-lt"/>
              </a:rPr>
              <a:t> indicates that the matrix is filled by the rows. If we want the matrix to be filled by the columns, we just place </a:t>
            </a:r>
            <a:r>
              <a:rPr kumimoji="0" lang="en-US" altLang="en-US" sz="1600" b="0" i="0" u="none" strike="noStrike" cap="none" normalizeH="0" baseline="0" dirty="0" err="1">
                <a:ln>
                  <a:noFill/>
                </a:ln>
                <a:solidFill>
                  <a:srgbClr val="3A3A3A"/>
                </a:solidFill>
                <a:effectLst/>
                <a:latin typeface="+mj-lt"/>
                <a:cs typeface="Courier New" panose="02070309020205020404" pitchFamily="49" charset="0"/>
              </a:rPr>
              <a:t>byrow</a:t>
            </a:r>
            <a:r>
              <a:rPr kumimoji="0" lang="en-US" altLang="en-US" sz="1600" b="0" i="0" u="none" strike="noStrike" cap="none" normalizeH="0" baseline="0" dirty="0">
                <a:ln>
                  <a:noFill/>
                </a:ln>
                <a:solidFill>
                  <a:srgbClr val="3A3A3A"/>
                </a:solidFill>
                <a:effectLst/>
                <a:latin typeface="+mj-lt"/>
                <a:cs typeface="Courier New" panose="02070309020205020404" pitchFamily="49" charset="0"/>
              </a:rPr>
              <a:t> = FALSE</a:t>
            </a:r>
            <a:r>
              <a:rPr kumimoji="0" lang="en-US" altLang="en-US" sz="1600" b="0" i="0" u="none" strike="noStrike" cap="none" normalizeH="0" baseline="0" dirty="0">
                <a:ln>
                  <a:noFill/>
                </a:ln>
                <a:solidFill>
                  <a:srgbClr val="3A3A3A"/>
                </a:solidFill>
                <a:effectLst/>
                <a:latin typeface="+mj-lt"/>
              </a:rPr>
              <a:t>.</a:t>
            </a:r>
          </a:p>
          <a:p>
            <a:pPr marL="171450" marR="0" lvl="0" indent="-171450" algn="l" defTabSz="914400" rtl="0" eaLnBrk="0" fontAlgn="base" latinLnBrk="0" hangingPunct="0">
              <a:lnSpc>
                <a:spcPct val="150000"/>
              </a:lnSpc>
              <a:spcBef>
                <a:spcPts val="60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rgbClr val="3A3A3A"/>
                </a:solidFill>
                <a:effectLst/>
                <a:latin typeface="+mj-lt"/>
              </a:rPr>
              <a:t>The third argument </a:t>
            </a:r>
            <a:r>
              <a:rPr kumimoji="0" lang="en-US" altLang="en-US" sz="1600" b="0" i="0" u="none" strike="noStrike" cap="none" normalizeH="0" baseline="0" dirty="0" err="1">
                <a:ln>
                  <a:noFill/>
                </a:ln>
                <a:solidFill>
                  <a:srgbClr val="3A3A3A"/>
                </a:solidFill>
                <a:effectLst/>
                <a:latin typeface="+mj-lt"/>
                <a:cs typeface="Courier New" panose="02070309020205020404" pitchFamily="49" charset="0"/>
              </a:rPr>
              <a:t>nrow</a:t>
            </a:r>
            <a:r>
              <a:rPr kumimoji="0" lang="en-US" altLang="en-US" sz="1600" b="0" i="0" u="none" strike="noStrike" cap="none" normalizeH="0" baseline="0" dirty="0">
                <a:ln>
                  <a:noFill/>
                </a:ln>
                <a:solidFill>
                  <a:srgbClr val="3A3A3A"/>
                </a:solidFill>
                <a:effectLst/>
                <a:latin typeface="+mj-lt"/>
              </a:rPr>
              <a:t> indicates that the matrix should have three rows.</a:t>
            </a:r>
          </a:p>
          <a:p>
            <a:pPr marL="0" marR="0" lvl="0" indent="0" algn="l" defTabSz="914400" rtl="0" eaLnBrk="0" fontAlgn="base" latinLnBrk="0" hangingPunct="0">
              <a:lnSpc>
                <a:spcPct val="150000"/>
              </a:lnSpc>
              <a:spcBef>
                <a:spcPts val="600"/>
              </a:spcBef>
              <a:spcAft>
                <a:spcPts val="600"/>
              </a:spcAft>
              <a:buClrTx/>
              <a:buSzTx/>
              <a:buFontTx/>
              <a:buNone/>
              <a:tabLst/>
            </a:pPr>
            <a:endParaRPr kumimoji="0" lang="en-US" altLang="en-US" sz="1600" b="0" i="0" u="none" strike="noStrike" cap="none" normalizeH="0" baseline="0" dirty="0">
              <a:ln>
                <a:noFill/>
              </a:ln>
              <a:solidFill>
                <a:schemeClr val="tx1"/>
              </a:solidFill>
              <a:effectLst/>
              <a:latin typeface="+mj-lt"/>
            </a:endParaRPr>
          </a:p>
        </p:txBody>
      </p:sp>
      <p:pic>
        <p:nvPicPr>
          <p:cNvPr id="4" name="Picture 3">
            <a:extLst>
              <a:ext uri="{FF2B5EF4-FFF2-40B4-BE49-F238E27FC236}">
                <a16:creationId xmlns:a16="http://schemas.microsoft.com/office/drawing/2014/main" id="{68E68E09-57F2-48C6-8030-BA216C449AE2}"/>
              </a:ext>
            </a:extLst>
          </p:cNvPr>
          <p:cNvPicPr>
            <a:picLocks noChangeAspect="1"/>
          </p:cNvPicPr>
          <p:nvPr/>
        </p:nvPicPr>
        <p:blipFill>
          <a:blip r:embed="rId3"/>
          <a:stretch>
            <a:fillRect/>
          </a:stretch>
        </p:blipFill>
        <p:spPr>
          <a:xfrm>
            <a:off x="128588" y="1317182"/>
            <a:ext cx="7993653" cy="1204251"/>
          </a:xfrm>
          <a:prstGeom prst="rect">
            <a:avLst/>
          </a:prstGeom>
        </p:spPr>
      </p:pic>
    </p:spTree>
    <p:extLst>
      <p:ext uri="{BB962C8B-B14F-4D97-AF65-F5344CB8AC3E}">
        <p14:creationId xmlns:p14="http://schemas.microsoft.com/office/powerpoint/2010/main" val="36316608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6CCE0E8-B7D6-4D2D-B59E-5BDEFD048789}"/>
              </a:ext>
            </a:extLst>
          </p:cNvPr>
          <p:cNvSpPr>
            <a:spLocks noGrp="1"/>
          </p:cNvSpPr>
          <p:nvPr>
            <p:ph type="body" sz="quarter" idx="10"/>
          </p:nvPr>
        </p:nvSpPr>
        <p:spPr/>
        <p:txBody>
          <a:bodyPr/>
          <a:lstStyle/>
          <a:p>
            <a:r>
              <a:rPr lang="en-US" dirty="0"/>
              <a:t>Star wars</a:t>
            </a:r>
          </a:p>
        </p:txBody>
      </p:sp>
      <p:pic>
        <p:nvPicPr>
          <p:cNvPr id="5" name="Picture 4">
            <a:extLst>
              <a:ext uri="{FF2B5EF4-FFF2-40B4-BE49-F238E27FC236}">
                <a16:creationId xmlns:a16="http://schemas.microsoft.com/office/drawing/2014/main" id="{02308024-5153-4182-9A77-5407AB9B8FF9}"/>
              </a:ext>
            </a:extLst>
          </p:cNvPr>
          <p:cNvPicPr>
            <a:picLocks noChangeAspect="1"/>
          </p:cNvPicPr>
          <p:nvPr/>
        </p:nvPicPr>
        <p:blipFill>
          <a:blip r:embed="rId2"/>
          <a:stretch>
            <a:fillRect/>
          </a:stretch>
        </p:blipFill>
        <p:spPr>
          <a:xfrm>
            <a:off x="182880" y="1543163"/>
            <a:ext cx="8309882" cy="4110877"/>
          </a:xfrm>
          <a:prstGeom prst="rect">
            <a:avLst/>
          </a:prstGeom>
        </p:spPr>
      </p:pic>
    </p:spTree>
    <p:extLst>
      <p:ext uri="{BB962C8B-B14F-4D97-AF65-F5344CB8AC3E}">
        <p14:creationId xmlns:p14="http://schemas.microsoft.com/office/powerpoint/2010/main" val="35296395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6B4AEBA-96D9-4429-BC95-98447071ED98}"/>
              </a:ext>
            </a:extLst>
          </p:cNvPr>
          <p:cNvSpPr>
            <a:spLocks noGrp="1"/>
          </p:cNvSpPr>
          <p:nvPr>
            <p:ph type="body" sz="quarter" idx="10"/>
          </p:nvPr>
        </p:nvSpPr>
        <p:spPr/>
        <p:txBody>
          <a:bodyPr/>
          <a:lstStyle/>
          <a:p>
            <a:r>
              <a:rPr lang="en-US" dirty="0"/>
              <a:t>Operations with matrices</a:t>
            </a:r>
          </a:p>
        </p:txBody>
      </p:sp>
      <p:pic>
        <p:nvPicPr>
          <p:cNvPr id="3" name="Picture 2">
            <a:extLst>
              <a:ext uri="{FF2B5EF4-FFF2-40B4-BE49-F238E27FC236}">
                <a16:creationId xmlns:a16="http://schemas.microsoft.com/office/drawing/2014/main" id="{2364A6D7-5FC5-42EF-ADCB-2378157396CD}"/>
              </a:ext>
            </a:extLst>
          </p:cNvPr>
          <p:cNvPicPr>
            <a:picLocks noChangeAspect="1"/>
          </p:cNvPicPr>
          <p:nvPr/>
        </p:nvPicPr>
        <p:blipFill>
          <a:blip r:embed="rId2"/>
          <a:stretch>
            <a:fillRect/>
          </a:stretch>
        </p:blipFill>
        <p:spPr>
          <a:xfrm>
            <a:off x="493357" y="1651102"/>
            <a:ext cx="8532177" cy="2657999"/>
          </a:xfrm>
          <a:prstGeom prst="rect">
            <a:avLst/>
          </a:prstGeom>
        </p:spPr>
      </p:pic>
    </p:spTree>
    <p:extLst>
      <p:ext uri="{BB962C8B-B14F-4D97-AF65-F5344CB8AC3E}">
        <p14:creationId xmlns:p14="http://schemas.microsoft.com/office/powerpoint/2010/main" val="39612176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96611F2-B740-477E-96BE-DA2611981ACF}"/>
              </a:ext>
            </a:extLst>
          </p:cNvPr>
          <p:cNvSpPr>
            <a:spLocks noGrp="1"/>
          </p:cNvSpPr>
          <p:nvPr>
            <p:ph type="body" sz="quarter" idx="10"/>
          </p:nvPr>
        </p:nvSpPr>
        <p:spPr/>
        <p:txBody>
          <a:bodyPr/>
          <a:lstStyle/>
          <a:p>
            <a:r>
              <a:rPr lang="en-US" dirty="0"/>
              <a:t>Naming rows and columns</a:t>
            </a:r>
          </a:p>
        </p:txBody>
      </p:sp>
      <p:pic>
        <p:nvPicPr>
          <p:cNvPr id="3" name="Picture 2">
            <a:extLst>
              <a:ext uri="{FF2B5EF4-FFF2-40B4-BE49-F238E27FC236}">
                <a16:creationId xmlns:a16="http://schemas.microsoft.com/office/drawing/2014/main" id="{BE75CF07-70AC-4B50-AB6A-DF4DCDE27A97}"/>
              </a:ext>
            </a:extLst>
          </p:cNvPr>
          <p:cNvPicPr>
            <a:picLocks noChangeAspect="1"/>
          </p:cNvPicPr>
          <p:nvPr/>
        </p:nvPicPr>
        <p:blipFill>
          <a:blip r:embed="rId2"/>
          <a:stretch>
            <a:fillRect/>
          </a:stretch>
        </p:blipFill>
        <p:spPr>
          <a:xfrm>
            <a:off x="314119" y="1403642"/>
            <a:ext cx="8433211" cy="1448075"/>
          </a:xfrm>
          <a:prstGeom prst="rect">
            <a:avLst/>
          </a:prstGeom>
        </p:spPr>
      </p:pic>
      <p:pic>
        <p:nvPicPr>
          <p:cNvPr id="4" name="Picture 3">
            <a:extLst>
              <a:ext uri="{FF2B5EF4-FFF2-40B4-BE49-F238E27FC236}">
                <a16:creationId xmlns:a16="http://schemas.microsoft.com/office/drawing/2014/main" id="{CD0CE124-56D7-462E-A95B-B43810101889}"/>
              </a:ext>
            </a:extLst>
          </p:cNvPr>
          <p:cNvPicPr>
            <a:picLocks noChangeAspect="1"/>
          </p:cNvPicPr>
          <p:nvPr/>
        </p:nvPicPr>
        <p:blipFill>
          <a:blip r:embed="rId3"/>
          <a:stretch>
            <a:fillRect/>
          </a:stretch>
        </p:blipFill>
        <p:spPr>
          <a:xfrm>
            <a:off x="314119" y="2999474"/>
            <a:ext cx="8337512" cy="3133855"/>
          </a:xfrm>
          <a:prstGeom prst="rect">
            <a:avLst/>
          </a:prstGeom>
        </p:spPr>
      </p:pic>
    </p:spTree>
    <p:extLst>
      <p:ext uri="{BB962C8B-B14F-4D97-AF65-F5344CB8AC3E}">
        <p14:creationId xmlns:p14="http://schemas.microsoft.com/office/powerpoint/2010/main" val="37607696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905CADA-42F1-4EB5-A903-D3FDFCB8D145}"/>
              </a:ext>
            </a:extLst>
          </p:cNvPr>
          <p:cNvSpPr>
            <a:spLocks noGrp="1"/>
          </p:cNvSpPr>
          <p:nvPr>
            <p:ph type="body" sz="quarter" idx="10"/>
          </p:nvPr>
        </p:nvSpPr>
        <p:spPr/>
        <p:txBody>
          <a:bodyPr/>
          <a:lstStyle/>
          <a:p>
            <a:r>
              <a:rPr lang="en-US" dirty="0"/>
              <a:t>Operations with matrices</a:t>
            </a:r>
          </a:p>
        </p:txBody>
      </p:sp>
      <p:pic>
        <p:nvPicPr>
          <p:cNvPr id="4" name="Picture 3">
            <a:extLst>
              <a:ext uri="{FF2B5EF4-FFF2-40B4-BE49-F238E27FC236}">
                <a16:creationId xmlns:a16="http://schemas.microsoft.com/office/drawing/2014/main" id="{9CECAD0C-BABD-4C9E-9E8D-BA286E16DCC6}"/>
              </a:ext>
            </a:extLst>
          </p:cNvPr>
          <p:cNvPicPr>
            <a:picLocks noChangeAspect="1"/>
          </p:cNvPicPr>
          <p:nvPr/>
        </p:nvPicPr>
        <p:blipFill>
          <a:blip r:embed="rId2"/>
          <a:stretch>
            <a:fillRect/>
          </a:stretch>
        </p:blipFill>
        <p:spPr>
          <a:xfrm>
            <a:off x="396116" y="1460646"/>
            <a:ext cx="8414701" cy="2275510"/>
          </a:xfrm>
          <a:prstGeom prst="rect">
            <a:avLst/>
          </a:prstGeom>
        </p:spPr>
      </p:pic>
    </p:spTree>
    <p:extLst>
      <p:ext uri="{BB962C8B-B14F-4D97-AF65-F5344CB8AC3E}">
        <p14:creationId xmlns:p14="http://schemas.microsoft.com/office/powerpoint/2010/main" val="41690055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A3DD709-FA59-4315-87C4-F44CE053A589}"/>
              </a:ext>
            </a:extLst>
          </p:cNvPr>
          <p:cNvSpPr>
            <a:spLocks noGrp="1"/>
          </p:cNvSpPr>
          <p:nvPr>
            <p:ph type="body" sz="quarter" idx="10"/>
          </p:nvPr>
        </p:nvSpPr>
        <p:spPr/>
        <p:txBody>
          <a:bodyPr/>
          <a:lstStyle/>
          <a:p>
            <a:r>
              <a:rPr lang="en-US" dirty="0" err="1"/>
              <a:t>Subseting</a:t>
            </a:r>
            <a:endParaRPr lang="en-US" dirty="0"/>
          </a:p>
        </p:txBody>
      </p:sp>
      <p:sp>
        <p:nvSpPr>
          <p:cNvPr id="4" name="Rectangle 1">
            <a:extLst>
              <a:ext uri="{FF2B5EF4-FFF2-40B4-BE49-F238E27FC236}">
                <a16:creationId xmlns:a16="http://schemas.microsoft.com/office/drawing/2014/main" id="{E2F8B76C-E5DC-4D7B-A5F1-E9DFF45E295C}"/>
              </a:ext>
            </a:extLst>
          </p:cNvPr>
          <p:cNvSpPr>
            <a:spLocks noChangeArrowheads="1"/>
          </p:cNvSpPr>
          <p:nvPr/>
        </p:nvSpPr>
        <p:spPr bwMode="auto">
          <a:xfrm>
            <a:off x="463950" y="1005673"/>
            <a:ext cx="8133549" cy="5296963"/>
          </a:xfrm>
          <a:prstGeom prst="rect">
            <a:avLst/>
          </a:prstGeom>
          <a:noFill/>
          <a:ln>
            <a:noFill/>
          </a:ln>
          <a:effectLst/>
        </p:spPr>
        <p:txBody>
          <a:bodyPr vert="horz" wrap="square" lIns="39675" tIns="0" rIns="39675"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ts val="600"/>
              </a:spcBef>
              <a:spcAft>
                <a:spcPts val="600"/>
              </a:spcAft>
              <a:buClrTx/>
              <a:buSzTx/>
              <a:buFontTx/>
              <a:buNone/>
              <a:tabLst/>
            </a:pPr>
            <a:r>
              <a:rPr kumimoji="0" lang="en-US" altLang="en-US" b="0" i="0" u="none" strike="noStrike" cap="none" normalizeH="0" baseline="0" dirty="0">
                <a:ln>
                  <a:noFill/>
                </a:ln>
                <a:solidFill>
                  <a:srgbClr val="3A3A3A"/>
                </a:solidFill>
                <a:effectLst/>
                <a:latin typeface="+mn-lt"/>
              </a:rPr>
              <a:t>Similar to vectors, you can use the square brackets </a:t>
            </a:r>
            <a:r>
              <a:rPr kumimoji="0" lang="en-US" altLang="en-US" b="0" i="0" u="none" strike="noStrike" cap="none" normalizeH="0" baseline="0" dirty="0">
                <a:ln>
                  <a:noFill/>
                </a:ln>
                <a:solidFill>
                  <a:srgbClr val="3A3A3A"/>
                </a:solidFill>
                <a:effectLst/>
                <a:latin typeface="+mn-lt"/>
                <a:cs typeface="Courier New" panose="02070309020205020404" pitchFamily="49" charset="0"/>
              </a:rPr>
              <a:t>[ ]</a:t>
            </a:r>
            <a:r>
              <a:rPr kumimoji="0" lang="en-US" altLang="en-US" b="0" i="0" u="none" strike="noStrike" cap="none" normalizeH="0" baseline="0" dirty="0">
                <a:ln>
                  <a:noFill/>
                </a:ln>
                <a:solidFill>
                  <a:srgbClr val="3A3A3A"/>
                </a:solidFill>
                <a:effectLst/>
                <a:latin typeface="+mn-lt"/>
              </a:rPr>
              <a:t> to select one or multiple elements from a matrix. Whereas vectors have one dimension, matrices have two dimensions. You should therefore use a comma to separate that what to select from the rows from that what you want to select from the columns. For example:</a:t>
            </a:r>
            <a:endParaRPr kumimoji="0" lang="en-US" altLang="en-US" b="0" i="0" u="none" strike="noStrike" cap="none" normalizeH="0" baseline="0" dirty="0">
              <a:ln>
                <a:noFill/>
              </a:ln>
              <a:solidFill>
                <a:schemeClr val="tx1"/>
              </a:solidFill>
              <a:effectLst/>
              <a:latin typeface="+mn-lt"/>
            </a:endParaRPr>
          </a:p>
          <a:p>
            <a:pPr marL="285750" marR="0" lvl="0" indent="-285750" algn="l" defTabSz="914400" rtl="0" eaLnBrk="0" fontAlgn="base" latinLnBrk="0" hangingPunct="0">
              <a:lnSpc>
                <a:spcPct val="150000"/>
              </a:lnSpc>
              <a:spcBef>
                <a:spcPts val="600"/>
              </a:spcBef>
              <a:spcAft>
                <a:spcPts val="600"/>
              </a:spcAft>
              <a:buClrTx/>
              <a:buSzTx/>
              <a:buFont typeface="Arial" panose="020B0604020202020204" pitchFamily="34" charset="0"/>
              <a:buChar char="•"/>
              <a:tabLst/>
            </a:pPr>
            <a:r>
              <a:rPr kumimoji="0" lang="en-US" altLang="en-US" b="1" i="0" u="none" strike="noStrike" cap="none" normalizeH="0" baseline="0" dirty="0" err="1">
                <a:ln>
                  <a:noFill/>
                </a:ln>
                <a:solidFill>
                  <a:srgbClr val="3A3A3A"/>
                </a:solidFill>
                <a:effectLst/>
                <a:latin typeface="+mn-lt"/>
                <a:cs typeface="Courier New" panose="02070309020205020404" pitchFamily="49" charset="0"/>
              </a:rPr>
              <a:t>my_matrix</a:t>
            </a:r>
            <a:r>
              <a:rPr kumimoji="0" lang="en-US" altLang="en-US" b="1" i="0" u="none" strike="noStrike" cap="none" normalizeH="0" baseline="0" dirty="0">
                <a:ln>
                  <a:noFill/>
                </a:ln>
                <a:solidFill>
                  <a:srgbClr val="3A3A3A"/>
                </a:solidFill>
                <a:effectLst/>
                <a:latin typeface="+mn-lt"/>
                <a:cs typeface="Courier New" panose="02070309020205020404" pitchFamily="49" charset="0"/>
              </a:rPr>
              <a:t>[1,2]</a:t>
            </a:r>
            <a:r>
              <a:rPr kumimoji="0" lang="en-US" altLang="en-US" b="0" i="0" u="none" strike="noStrike" cap="none" normalizeH="0" baseline="0" dirty="0">
                <a:ln>
                  <a:noFill/>
                </a:ln>
                <a:solidFill>
                  <a:srgbClr val="3A3A3A"/>
                </a:solidFill>
                <a:effectLst/>
                <a:latin typeface="+mn-lt"/>
              </a:rPr>
              <a:t> selects the element at the first row and second column.</a:t>
            </a:r>
          </a:p>
          <a:p>
            <a:pPr marL="285750" marR="0" lvl="0" indent="-285750" algn="l" defTabSz="914400" rtl="0" eaLnBrk="0" fontAlgn="base" latinLnBrk="0" hangingPunct="0">
              <a:lnSpc>
                <a:spcPct val="150000"/>
              </a:lnSpc>
              <a:spcBef>
                <a:spcPts val="600"/>
              </a:spcBef>
              <a:spcAft>
                <a:spcPts val="600"/>
              </a:spcAft>
              <a:buClrTx/>
              <a:buSzTx/>
              <a:buFont typeface="Arial" panose="020B0604020202020204" pitchFamily="34" charset="0"/>
              <a:buChar char="•"/>
              <a:tabLst/>
            </a:pPr>
            <a:r>
              <a:rPr kumimoji="0" lang="en-US" altLang="en-US" b="1" i="0" u="none" strike="noStrike" cap="none" normalizeH="0" baseline="0" dirty="0" err="1">
                <a:ln>
                  <a:noFill/>
                </a:ln>
                <a:solidFill>
                  <a:srgbClr val="3A3A3A"/>
                </a:solidFill>
                <a:effectLst/>
                <a:latin typeface="+mn-lt"/>
                <a:cs typeface="Courier New" panose="02070309020205020404" pitchFamily="49" charset="0"/>
              </a:rPr>
              <a:t>my_matrix</a:t>
            </a:r>
            <a:r>
              <a:rPr kumimoji="0" lang="en-US" altLang="en-US" b="1" i="0" u="none" strike="noStrike" cap="none" normalizeH="0" baseline="0" dirty="0">
                <a:ln>
                  <a:noFill/>
                </a:ln>
                <a:solidFill>
                  <a:srgbClr val="3A3A3A"/>
                </a:solidFill>
                <a:effectLst/>
                <a:latin typeface="+mn-lt"/>
                <a:cs typeface="Courier New" panose="02070309020205020404" pitchFamily="49" charset="0"/>
              </a:rPr>
              <a:t>[1:3,2:4]</a:t>
            </a:r>
            <a:r>
              <a:rPr kumimoji="0" lang="en-US" altLang="en-US" b="0" i="0" u="none" strike="noStrike" cap="none" normalizeH="0" baseline="0" dirty="0">
                <a:ln>
                  <a:noFill/>
                </a:ln>
                <a:solidFill>
                  <a:srgbClr val="3A3A3A"/>
                </a:solidFill>
                <a:effectLst/>
                <a:latin typeface="+mn-lt"/>
              </a:rPr>
              <a:t> results in a matrix with the data on the rows 1, 2, 3 and columns 2, 3, 4.</a:t>
            </a:r>
          </a:p>
          <a:p>
            <a:pPr marL="0" marR="0" lvl="0" indent="0" algn="l" defTabSz="914400" rtl="0" eaLnBrk="0" fontAlgn="base" latinLnBrk="0" hangingPunct="0">
              <a:lnSpc>
                <a:spcPct val="150000"/>
              </a:lnSpc>
              <a:spcBef>
                <a:spcPts val="600"/>
              </a:spcBef>
              <a:spcAft>
                <a:spcPts val="600"/>
              </a:spcAft>
              <a:buClrTx/>
              <a:buSzTx/>
              <a:buFontTx/>
              <a:buNone/>
              <a:tabLst/>
            </a:pPr>
            <a:r>
              <a:rPr kumimoji="0" lang="en-US" altLang="en-US" b="0" i="0" u="none" strike="noStrike" cap="none" normalizeH="0" baseline="0" dirty="0">
                <a:ln>
                  <a:noFill/>
                </a:ln>
                <a:solidFill>
                  <a:srgbClr val="3A3A3A"/>
                </a:solidFill>
                <a:effectLst/>
                <a:latin typeface="+mn-lt"/>
              </a:rPr>
              <a:t>If you want to select all elements of a row or a column, no number is needed before or after the comma, respectively:</a:t>
            </a:r>
            <a:endParaRPr kumimoji="0" lang="en-US" altLang="en-US" b="0" i="0" u="none" strike="noStrike" cap="none" normalizeH="0" baseline="0" dirty="0">
              <a:ln>
                <a:noFill/>
              </a:ln>
              <a:solidFill>
                <a:schemeClr val="tx1"/>
              </a:solidFill>
              <a:effectLst/>
              <a:latin typeface="+mn-lt"/>
            </a:endParaRPr>
          </a:p>
          <a:p>
            <a:pPr marL="285750" marR="0" lvl="0" indent="-285750" algn="l" defTabSz="914400" rtl="0" eaLnBrk="0" fontAlgn="base" latinLnBrk="0" hangingPunct="0">
              <a:lnSpc>
                <a:spcPct val="150000"/>
              </a:lnSpc>
              <a:spcBef>
                <a:spcPts val="600"/>
              </a:spcBef>
              <a:spcAft>
                <a:spcPts val="600"/>
              </a:spcAft>
              <a:buClrTx/>
              <a:buSzTx/>
              <a:buFont typeface="Arial" panose="020B0604020202020204" pitchFamily="34" charset="0"/>
              <a:buChar char="•"/>
              <a:tabLst/>
            </a:pPr>
            <a:r>
              <a:rPr kumimoji="0" lang="en-US" altLang="en-US" b="1" i="0" u="none" strike="noStrike" cap="none" normalizeH="0" baseline="0" dirty="0" err="1">
                <a:ln>
                  <a:noFill/>
                </a:ln>
                <a:solidFill>
                  <a:srgbClr val="3A3A3A"/>
                </a:solidFill>
                <a:effectLst/>
                <a:latin typeface="+mn-lt"/>
                <a:cs typeface="Courier New" panose="02070309020205020404" pitchFamily="49" charset="0"/>
              </a:rPr>
              <a:t>my_matrix</a:t>
            </a:r>
            <a:r>
              <a:rPr kumimoji="0" lang="en-US" altLang="en-US" b="1" i="0" u="none" strike="noStrike" cap="none" normalizeH="0" baseline="0" dirty="0">
                <a:ln>
                  <a:noFill/>
                </a:ln>
                <a:solidFill>
                  <a:srgbClr val="3A3A3A"/>
                </a:solidFill>
                <a:effectLst/>
                <a:latin typeface="+mn-lt"/>
                <a:cs typeface="Courier New" panose="02070309020205020404" pitchFamily="49" charset="0"/>
              </a:rPr>
              <a:t>[,1]</a:t>
            </a:r>
            <a:r>
              <a:rPr kumimoji="0" lang="en-US" altLang="en-US" b="1" i="0" u="none" strike="noStrike" cap="none" normalizeH="0" baseline="0" dirty="0">
                <a:ln>
                  <a:noFill/>
                </a:ln>
                <a:solidFill>
                  <a:srgbClr val="3A3A3A"/>
                </a:solidFill>
                <a:effectLst/>
                <a:latin typeface="+mn-lt"/>
              </a:rPr>
              <a:t> </a:t>
            </a:r>
            <a:r>
              <a:rPr kumimoji="0" lang="en-US" altLang="en-US" b="0" i="0" u="none" strike="noStrike" cap="none" normalizeH="0" baseline="0" dirty="0">
                <a:ln>
                  <a:noFill/>
                </a:ln>
                <a:solidFill>
                  <a:srgbClr val="3A3A3A"/>
                </a:solidFill>
                <a:effectLst/>
                <a:latin typeface="+mn-lt"/>
              </a:rPr>
              <a:t>selects all elements of the first column.</a:t>
            </a:r>
          </a:p>
          <a:p>
            <a:pPr marL="285750" marR="0" lvl="0" indent="-285750" algn="l" defTabSz="914400" rtl="0" eaLnBrk="0" fontAlgn="base" latinLnBrk="0" hangingPunct="0">
              <a:lnSpc>
                <a:spcPct val="150000"/>
              </a:lnSpc>
              <a:spcBef>
                <a:spcPts val="600"/>
              </a:spcBef>
              <a:spcAft>
                <a:spcPts val="600"/>
              </a:spcAft>
              <a:buClrTx/>
              <a:buSzTx/>
              <a:buFont typeface="Arial" panose="020B0604020202020204" pitchFamily="34" charset="0"/>
              <a:buChar char="•"/>
              <a:tabLst/>
            </a:pPr>
            <a:r>
              <a:rPr kumimoji="0" lang="en-US" altLang="en-US" b="1" i="0" u="none" strike="noStrike" cap="none" normalizeH="0" baseline="0" dirty="0" err="1">
                <a:ln>
                  <a:noFill/>
                </a:ln>
                <a:solidFill>
                  <a:srgbClr val="3A3A3A"/>
                </a:solidFill>
                <a:effectLst/>
                <a:latin typeface="+mn-lt"/>
                <a:cs typeface="Courier New" panose="02070309020205020404" pitchFamily="49" charset="0"/>
              </a:rPr>
              <a:t>my_matrix</a:t>
            </a:r>
            <a:r>
              <a:rPr kumimoji="0" lang="en-US" altLang="en-US" b="1" i="0" u="none" strike="noStrike" cap="none" normalizeH="0" baseline="0" dirty="0">
                <a:ln>
                  <a:noFill/>
                </a:ln>
                <a:solidFill>
                  <a:srgbClr val="3A3A3A"/>
                </a:solidFill>
                <a:effectLst/>
                <a:latin typeface="+mn-lt"/>
                <a:cs typeface="Courier New" panose="02070309020205020404" pitchFamily="49" charset="0"/>
              </a:rPr>
              <a:t>[1,]</a:t>
            </a:r>
            <a:r>
              <a:rPr kumimoji="0" lang="en-US" altLang="en-US" b="0" i="0" u="none" strike="noStrike" cap="none" normalizeH="0" baseline="0" dirty="0">
                <a:ln>
                  <a:noFill/>
                </a:ln>
                <a:solidFill>
                  <a:srgbClr val="3A3A3A"/>
                </a:solidFill>
                <a:effectLst/>
                <a:latin typeface="+mn-lt"/>
              </a:rPr>
              <a:t> selects all elements of the first row.</a:t>
            </a:r>
          </a:p>
        </p:txBody>
      </p:sp>
    </p:spTree>
    <p:extLst>
      <p:ext uri="{BB962C8B-B14F-4D97-AF65-F5344CB8AC3E}">
        <p14:creationId xmlns:p14="http://schemas.microsoft.com/office/powerpoint/2010/main" val="4519606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A3AA60D-4037-4D5B-97F6-F5A0D2DDCC6B}"/>
              </a:ext>
            </a:extLst>
          </p:cNvPr>
          <p:cNvSpPr>
            <a:spLocks noGrp="1"/>
          </p:cNvSpPr>
          <p:nvPr>
            <p:ph type="body" sz="quarter" idx="10"/>
          </p:nvPr>
        </p:nvSpPr>
        <p:spPr/>
        <p:txBody>
          <a:bodyPr/>
          <a:lstStyle/>
          <a:p>
            <a:r>
              <a:rPr lang="en-US" dirty="0" err="1"/>
              <a:t>Subseting</a:t>
            </a:r>
            <a:r>
              <a:rPr lang="en-US" dirty="0"/>
              <a:t> matrices</a:t>
            </a:r>
          </a:p>
        </p:txBody>
      </p:sp>
      <p:pic>
        <p:nvPicPr>
          <p:cNvPr id="3" name="Picture 2">
            <a:extLst>
              <a:ext uri="{FF2B5EF4-FFF2-40B4-BE49-F238E27FC236}">
                <a16:creationId xmlns:a16="http://schemas.microsoft.com/office/drawing/2014/main" id="{E21D6155-7CDC-4A7E-9580-02F71885844E}"/>
              </a:ext>
            </a:extLst>
          </p:cNvPr>
          <p:cNvPicPr>
            <a:picLocks noChangeAspect="1"/>
          </p:cNvPicPr>
          <p:nvPr/>
        </p:nvPicPr>
        <p:blipFill>
          <a:blip r:embed="rId2"/>
          <a:stretch>
            <a:fillRect/>
          </a:stretch>
        </p:blipFill>
        <p:spPr>
          <a:xfrm>
            <a:off x="431101" y="1621487"/>
            <a:ext cx="8583327" cy="2457642"/>
          </a:xfrm>
          <a:prstGeom prst="rect">
            <a:avLst/>
          </a:prstGeom>
        </p:spPr>
      </p:pic>
    </p:spTree>
    <p:extLst>
      <p:ext uri="{BB962C8B-B14F-4D97-AF65-F5344CB8AC3E}">
        <p14:creationId xmlns:p14="http://schemas.microsoft.com/office/powerpoint/2010/main" val="7964435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A176327-DC0D-4CF7-9ED9-180FB7CE0FB3}"/>
              </a:ext>
            </a:extLst>
          </p:cNvPr>
          <p:cNvSpPr>
            <a:spLocks noGrp="1"/>
          </p:cNvSpPr>
          <p:nvPr>
            <p:ph type="body" sz="quarter" idx="10"/>
          </p:nvPr>
        </p:nvSpPr>
        <p:spPr/>
        <p:txBody>
          <a:bodyPr/>
          <a:lstStyle/>
          <a:p>
            <a:r>
              <a:rPr lang="en-US" dirty="0" err="1"/>
              <a:t>Subsetting</a:t>
            </a:r>
            <a:r>
              <a:rPr lang="en-US" dirty="0"/>
              <a:t> matrices</a:t>
            </a:r>
          </a:p>
        </p:txBody>
      </p:sp>
      <p:pic>
        <p:nvPicPr>
          <p:cNvPr id="3" name="Picture 2">
            <a:extLst>
              <a:ext uri="{FF2B5EF4-FFF2-40B4-BE49-F238E27FC236}">
                <a16:creationId xmlns:a16="http://schemas.microsoft.com/office/drawing/2014/main" id="{145709DC-FC19-4877-85D2-9A99DF6DE5C6}"/>
              </a:ext>
            </a:extLst>
          </p:cNvPr>
          <p:cNvPicPr>
            <a:picLocks noChangeAspect="1"/>
          </p:cNvPicPr>
          <p:nvPr/>
        </p:nvPicPr>
        <p:blipFill>
          <a:blip r:embed="rId2"/>
          <a:stretch>
            <a:fillRect/>
          </a:stretch>
        </p:blipFill>
        <p:spPr>
          <a:xfrm>
            <a:off x="555590" y="1421577"/>
            <a:ext cx="8329267" cy="2094786"/>
          </a:xfrm>
          <a:prstGeom prst="rect">
            <a:avLst/>
          </a:prstGeom>
        </p:spPr>
      </p:pic>
    </p:spTree>
    <p:extLst>
      <p:ext uri="{BB962C8B-B14F-4D97-AF65-F5344CB8AC3E}">
        <p14:creationId xmlns:p14="http://schemas.microsoft.com/office/powerpoint/2010/main" val="23008184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4D72D0-52C1-430D-A3C5-1F48355ADA5A}"/>
              </a:ext>
            </a:extLst>
          </p:cNvPr>
          <p:cNvSpPr>
            <a:spLocks noGrp="1"/>
          </p:cNvSpPr>
          <p:nvPr>
            <p:ph type="body" sz="quarter" idx="10"/>
          </p:nvPr>
        </p:nvSpPr>
        <p:spPr/>
        <p:txBody>
          <a:bodyPr/>
          <a:lstStyle/>
          <a:p>
            <a:r>
              <a:rPr lang="en-US" dirty="0" err="1"/>
              <a:t>Dataframes</a:t>
            </a:r>
            <a:endParaRPr lang="en-US" dirty="0"/>
          </a:p>
        </p:txBody>
      </p:sp>
    </p:spTree>
    <p:extLst>
      <p:ext uri="{BB962C8B-B14F-4D97-AF65-F5344CB8AC3E}">
        <p14:creationId xmlns:p14="http://schemas.microsoft.com/office/powerpoint/2010/main" val="13491478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09BEEB1-7EC3-49D8-A49E-B5FE4FDF63DD}"/>
              </a:ext>
            </a:extLst>
          </p:cNvPr>
          <p:cNvSpPr>
            <a:spLocks noGrp="1"/>
          </p:cNvSpPr>
          <p:nvPr>
            <p:ph type="body" sz="quarter" idx="10"/>
          </p:nvPr>
        </p:nvSpPr>
        <p:spPr/>
        <p:txBody>
          <a:bodyPr/>
          <a:lstStyle/>
          <a:p>
            <a:r>
              <a:rPr lang="en-US" dirty="0"/>
              <a:t>Data frame</a:t>
            </a:r>
          </a:p>
        </p:txBody>
      </p:sp>
      <p:sp>
        <p:nvSpPr>
          <p:cNvPr id="4" name="Rectangle 3">
            <a:extLst>
              <a:ext uri="{FF2B5EF4-FFF2-40B4-BE49-F238E27FC236}">
                <a16:creationId xmlns:a16="http://schemas.microsoft.com/office/drawing/2014/main" id="{182AC5C8-2A62-4BF0-A807-29D32FEF5948}"/>
              </a:ext>
            </a:extLst>
          </p:cNvPr>
          <p:cNvSpPr/>
          <p:nvPr/>
        </p:nvSpPr>
        <p:spPr>
          <a:xfrm>
            <a:off x="310969" y="1738044"/>
            <a:ext cx="8007479" cy="3139321"/>
          </a:xfrm>
          <a:prstGeom prst="rect">
            <a:avLst/>
          </a:prstGeom>
        </p:spPr>
        <p:txBody>
          <a:bodyPr wrap="square">
            <a:spAutoFit/>
          </a:bodyPr>
          <a:lstStyle/>
          <a:p>
            <a:pPr marL="285750" indent="-285750">
              <a:buFont typeface="Arial" panose="020B0604020202020204" pitchFamily="34" charset="0"/>
              <a:buChar char="•"/>
            </a:pPr>
            <a:r>
              <a:rPr lang="en-US" dirty="0">
                <a:solidFill>
                  <a:srgbClr val="3A3A3A"/>
                </a:solidFill>
                <a:latin typeface="karmina-sans"/>
              </a:rPr>
              <a:t>Data frame is a data set that contain different data types instead of only one. You can combine numeric and character variables into the same dataset</a:t>
            </a:r>
          </a:p>
          <a:p>
            <a:endParaRPr lang="en-US" dirty="0">
              <a:solidFill>
                <a:srgbClr val="3A3A3A"/>
              </a:solidFill>
              <a:latin typeface="karmina-sans"/>
            </a:endParaRPr>
          </a:p>
          <a:p>
            <a:endParaRPr lang="en-US" dirty="0">
              <a:solidFill>
                <a:srgbClr val="3A3A3A"/>
              </a:solidFill>
              <a:latin typeface="karmina-sans"/>
            </a:endParaRPr>
          </a:p>
          <a:p>
            <a:pPr marL="285750" indent="-285750">
              <a:buFont typeface="Arial" panose="020B0604020202020204" pitchFamily="34" charset="0"/>
              <a:buChar char="•"/>
            </a:pPr>
            <a:r>
              <a:rPr lang="en-US" dirty="0">
                <a:solidFill>
                  <a:srgbClr val="3A3A3A"/>
                </a:solidFill>
                <a:latin typeface="karmina-sans"/>
              </a:rPr>
              <a:t>A data frame has the variables of a data set as columns and the observations as rows. </a:t>
            </a:r>
          </a:p>
          <a:p>
            <a:endParaRPr lang="en-US" dirty="0">
              <a:solidFill>
                <a:srgbClr val="3A3A3A"/>
              </a:solidFill>
              <a:latin typeface="karmina-sans"/>
            </a:endParaRPr>
          </a:p>
          <a:p>
            <a:pPr marL="285750" indent="-285750">
              <a:buFont typeface="Arial" panose="020B0604020202020204" pitchFamily="34" charset="0"/>
              <a:buChar char="•"/>
            </a:pPr>
            <a:r>
              <a:rPr lang="en-US" dirty="0">
                <a:solidFill>
                  <a:srgbClr val="3A3A3A"/>
                </a:solidFill>
                <a:latin typeface="karmina-sans"/>
              </a:rPr>
              <a:t>This will be a familiar concept for those coming from different statistical software packages such as SAS or SPSS.</a:t>
            </a:r>
          </a:p>
          <a:p>
            <a:pPr marL="285750" indent="-285750">
              <a:buFont typeface="Arial" panose="020B0604020202020204" pitchFamily="34" charset="0"/>
              <a:buChar char="•"/>
            </a:pPr>
            <a:endParaRPr lang="en-US" b="0" i="0" dirty="0">
              <a:solidFill>
                <a:srgbClr val="3A3A3A"/>
              </a:solidFill>
              <a:effectLst/>
              <a:latin typeface="karmina-sans"/>
            </a:endParaRPr>
          </a:p>
          <a:p>
            <a:pPr marL="285750" indent="-285750">
              <a:buFont typeface="Arial" panose="020B0604020202020204" pitchFamily="34" charset="0"/>
              <a:buChar char="•"/>
            </a:pPr>
            <a:r>
              <a:rPr lang="en-US" dirty="0">
                <a:solidFill>
                  <a:srgbClr val="3A3A3A"/>
                </a:solidFill>
                <a:latin typeface="karmina-sans"/>
              </a:rPr>
              <a:t>Has the most use in Data analytics</a:t>
            </a:r>
            <a:endParaRPr lang="en-US" b="0" i="0" dirty="0">
              <a:solidFill>
                <a:srgbClr val="3A3A3A"/>
              </a:solidFill>
              <a:effectLst/>
              <a:latin typeface="karmina-sans"/>
            </a:endParaRPr>
          </a:p>
        </p:txBody>
      </p:sp>
    </p:spTree>
    <p:extLst>
      <p:ext uri="{BB962C8B-B14F-4D97-AF65-F5344CB8AC3E}">
        <p14:creationId xmlns:p14="http://schemas.microsoft.com/office/powerpoint/2010/main" val="20939598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AD76E4A-7C99-47AB-8EE9-4D3E56CBBC8A}"/>
              </a:ext>
            </a:extLst>
          </p:cNvPr>
          <p:cNvSpPr>
            <a:spLocks noGrp="1"/>
          </p:cNvSpPr>
          <p:nvPr>
            <p:ph type="body" sz="quarter" idx="10"/>
          </p:nvPr>
        </p:nvSpPr>
        <p:spPr/>
        <p:txBody>
          <a:bodyPr/>
          <a:lstStyle/>
          <a:p>
            <a:r>
              <a:rPr lang="en-US" dirty="0"/>
              <a:t>Data frames – head and tail </a:t>
            </a:r>
          </a:p>
        </p:txBody>
      </p:sp>
      <p:pic>
        <p:nvPicPr>
          <p:cNvPr id="3" name="Picture 2">
            <a:extLst>
              <a:ext uri="{FF2B5EF4-FFF2-40B4-BE49-F238E27FC236}">
                <a16:creationId xmlns:a16="http://schemas.microsoft.com/office/drawing/2014/main" id="{9DFBD50B-C046-4DE9-BB2D-C50B9C6BF54F}"/>
              </a:ext>
            </a:extLst>
          </p:cNvPr>
          <p:cNvPicPr>
            <a:picLocks noChangeAspect="1"/>
          </p:cNvPicPr>
          <p:nvPr/>
        </p:nvPicPr>
        <p:blipFill>
          <a:blip r:embed="rId2"/>
          <a:stretch>
            <a:fillRect/>
          </a:stretch>
        </p:blipFill>
        <p:spPr>
          <a:xfrm>
            <a:off x="469283" y="2226474"/>
            <a:ext cx="8536868" cy="4003971"/>
          </a:xfrm>
          <a:prstGeom prst="rect">
            <a:avLst/>
          </a:prstGeom>
        </p:spPr>
      </p:pic>
      <p:sp>
        <p:nvSpPr>
          <p:cNvPr id="4" name="TextBox 3">
            <a:extLst>
              <a:ext uri="{FF2B5EF4-FFF2-40B4-BE49-F238E27FC236}">
                <a16:creationId xmlns:a16="http://schemas.microsoft.com/office/drawing/2014/main" id="{8CD14971-E2C8-4271-B0B0-EC099378DA8E}"/>
              </a:ext>
            </a:extLst>
          </p:cNvPr>
          <p:cNvSpPr txBox="1"/>
          <p:nvPr/>
        </p:nvSpPr>
        <p:spPr>
          <a:xfrm>
            <a:off x="436523" y="937375"/>
            <a:ext cx="8537463" cy="923330"/>
          </a:xfrm>
          <a:prstGeom prst="rect">
            <a:avLst/>
          </a:prstGeom>
          <a:noFill/>
        </p:spPr>
        <p:txBody>
          <a:bodyPr wrap="square" rtlCol="0">
            <a:spAutoFit/>
          </a:bodyPr>
          <a:lstStyle/>
          <a:p>
            <a:pPr marL="285750" indent="-285750">
              <a:buFont typeface="Arial" panose="020B0604020202020204" pitchFamily="34" charset="0"/>
              <a:buChar char="•"/>
            </a:pPr>
            <a:r>
              <a:rPr lang="en-US" dirty="0" err="1"/>
              <a:t>mtcars</a:t>
            </a:r>
            <a:r>
              <a:rPr lang="en-US" dirty="0"/>
              <a:t> is an R built in dataset.</a:t>
            </a:r>
          </a:p>
          <a:p>
            <a:pPr marL="285750" indent="-285750">
              <a:buFont typeface="Arial" panose="020B0604020202020204" pitchFamily="34" charset="0"/>
              <a:buChar char="•"/>
            </a:pPr>
            <a:r>
              <a:rPr lang="en-US" dirty="0"/>
              <a:t>to work with it start with </a:t>
            </a:r>
            <a:r>
              <a:rPr lang="en-US" b="1" dirty="0">
                <a:solidFill>
                  <a:srgbClr val="FF0000"/>
                </a:solidFill>
              </a:rPr>
              <a:t>data(</a:t>
            </a:r>
            <a:r>
              <a:rPr lang="en-US" b="1" dirty="0" err="1">
                <a:solidFill>
                  <a:srgbClr val="FF0000"/>
                </a:solidFill>
              </a:rPr>
              <a:t>mtcars</a:t>
            </a:r>
            <a:r>
              <a:rPr lang="en-US" b="1" dirty="0">
                <a:solidFill>
                  <a:srgbClr val="FF0000"/>
                </a:solidFill>
              </a:rPr>
              <a:t>)</a:t>
            </a:r>
          </a:p>
          <a:p>
            <a:pPr marL="285750" indent="-285750">
              <a:buFont typeface="Arial" panose="020B0604020202020204" pitchFamily="34" charset="0"/>
              <a:buChar char="•"/>
            </a:pPr>
            <a:r>
              <a:rPr lang="en-US" dirty="0"/>
              <a:t>the </a:t>
            </a:r>
            <a:r>
              <a:rPr lang="en-US" dirty="0" err="1"/>
              <a:t>dataframe</a:t>
            </a:r>
            <a:r>
              <a:rPr lang="en-US" dirty="0"/>
              <a:t> will be visible as soon as you start working with it.</a:t>
            </a:r>
          </a:p>
        </p:txBody>
      </p:sp>
    </p:spTree>
    <p:extLst>
      <p:ext uri="{BB962C8B-B14F-4D97-AF65-F5344CB8AC3E}">
        <p14:creationId xmlns:p14="http://schemas.microsoft.com/office/powerpoint/2010/main" val="5713977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C5965E-249B-4F28-AE1E-ABA6EC5DA5E1}"/>
              </a:ext>
            </a:extLst>
          </p:cNvPr>
          <p:cNvSpPr>
            <a:spLocks noGrp="1"/>
          </p:cNvSpPr>
          <p:nvPr>
            <p:ph type="body" sz="quarter" idx="10"/>
          </p:nvPr>
        </p:nvSpPr>
        <p:spPr/>
        <p:txBody>
          <a:bodyPr/>
          <a:lstStyle/>
          <a:p>
            <a:r>
              <a:rPr lang="en-US" dirty="0"/>
              <a:t>Structure of data frame</a:t>
            </a:r>
          </a:p>
        </p:txBody>
      </p:sp>
      <p:sp>
        <p:nvSpPr>
          <p:cNvPr id="3" name="Rectangle 1">
            <a:extLst>
              <a:ext uri="{FF2B5EF4-FFF2-40B4-BE49-F238E27FC236}">
                <a16:creationId xmlns:a16="http://schemas.microsoft.com/office/drawing/2014/main" id="{4DA9FE77-F984-48D5-A368-E59C824C7095}"/>
              </a:ext>
            </a:extLst>
          </p:cNvPr>
          <p:cNvSpPr>
            <a:spLocks noChangeArrowheads="1"/>
          </p:cNvSpPr>
          <p:nvPr/>
        </p:nvSpPr>
        <p:spPr bwMode="auto">
          <a:xfrm>
            <a:off x="404819" y="1527833"/>
            <a:ext cx="8251812" cy="3650551"/>
          </a:xfrm>
          <a:prstGeom prst="rect">
            <a:avLst/>
          </a:prstGeom>
          <a:solidFill>
            <a:srgbClr val="EB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9675" tIns="0" rIns="39675" bIns="0" numCol="1" anchor="ctr" anchorCtr="0" compatLnSpc="1">
            <a:prstTxWarp prst="textNoShape">
              <a:avLst/>
            </a:prstTxWarp>
            <a:spAutoFit/>
          </a:bodyPr>
          <a:lstStyle/>
          <a:p>
            <a:pPr marL="0" marR="0" lvl="0" indent="0" algn="l" defTabSz="914400" rtl="0" eaLnBrk="0" fontAlgn="base" latinLnBrk="0" hangingPunct="0">
              <a:lnSpc>
                <a:spcPct val="150000"/>
              </a:lnSpc>
              <a:spcBef>
                <a:spcPts val="600"/>
              </a:spcBef>
              <a:spcAft>
                <a:spcPts val="600"/>
              </a:spcAft>
              <a:buClrTx/>
              <a:buSzTx/>
              <a:buFontTx/>
              <a:buNone/>
              <a:tabLst/>
            </a:pPr>
            <a:r>
              <a:rPr kumimoji="0" lang="en-US" altLang="en-US" sz="1500" b="0" i="0" u="none" strike="noStrike" cap="none" normalizeH="0" baseline="0" dirty="0">
                <a:ln>
                  <a:noFill/>
                </a:ln>
                <a:solidFill>
                  <a:srgbClr val="3A3A3A"/>
                </a:solidFill>
                <a:effectLst/>
                <a:latin typeface="karmina-sans"/>
              </a:rPr>
              <a:t>Another method that is often used to get a rapid overview of your data is the function </a:t>
            </a:r>
            <a:r>
              <a:rPr kumimoji="0" lang="en-US" altLang="en-US" sz="1500" b="0" i="0" u="none" strike="noStrike" cap="none" normalizeH="0" baseline="0" dirty="0" err="1">
                <a:ln>
                  <a:noFill/>
                </a:ln>
                <a:solidFill>
                  <a:srgbClr val="33AACC"/>
                </a:solidFill>
                <a:effectLst/>
                <a:latin typeface="Courier New" panose="02070309020205020404" pitchFamily="49" charset="0"/>
                <a:cs typeface="Courier New" panose="02070309020205020404" pitchFamily="49" charset="0"/>
                <a:hlinkClick r:id="rId2"/>
              </a:rPr>
              <a:t>str</a:t>
            </a:r>
            <a:r>
              <a:rPr kumimoji="0" lang="en-US" altLang="en-US" sz="1500" b="0" i="0" u="none" strike="noStrike" cap="none" normalizeH="0" baseline="0" dirty="0">
                <a:ln>
                  <a:noFill/>
                </a:ln>
                <a:solidFill>
                  <a:srgbClr val="33AACC"/>
                </a:solidFill>
                <a:effectLst/>
                <a:latin typeface="Courier New" panose="02070309020205020404" pitchFamily="49" charset="0"/>
                <a:cs typeface="Courier New" panose="02070309020205020404" pitchFamily="49" charset="0"/>
                <a:hlinkClick r:id="rId2"/>
              </a:rPr>
              <a:t>()</a:t>
            </a:r>
            <a:r>
              <a:rPr kumimoji="0" lang="en-US" altLang="en-US" sz="1500" b="0" i="0" u="none" strike="noStrike" cap="none" normalizeH="0" baseline="0" dirty="0">
                <a:ln>
                  <a:noFill/>
                </a:ln>
                <a:solidFill>
                  <a:srgbClr val="3A3A3A"/>
                </a:solidFill>
                <a:effectLst/>
                <a:latin typeface="karmina-sans"/>
              </a:rPr>
              <a:t>. The function </a:t>
            </a:r>
            <a:r>
              <a:rPr kumimoji="0" lang="en-US" altLang="en-US" sz="1500" b="0" i="0" u="none" strike="noStrike" cap="none" normalizeH="0" baseline="0" dirty="0" err="1">
                <a:ln>
                  <a:noFill/>
                </a:ln>
                <a:solidFill>
                  <a:srgbClr val="33AACC"/>
                </a:solidFill>
                <a:effectLst/>
                <a:latin typeface="Courier New" panose="02070309020205020404" pitchFamily="49" charset="0"/>
                <a:cs typeface="Courier New" panose="02070309020205020404" pitchFamily="49" charset="0"/>
                <a:hlinkClick r:id="rId2"/>
              </a:rPr>
              <a:t>str</a:t>
            </a:r>
            <a:r>
              <a:rPr kumimoji="0" lang="en-US" altLang="en-US" sz="1500" b="0" i="0" u="none" strike="noStrike" cap="none" normalizeH="0" baseline="0" dirty="0">
                <a:ln>
                  <a:noFill/>
                </a:ln>
                <a:solidFill>
                  <a:srgbClr val="33AACC"/>
                </a:solidFill>
                <a:effectLst/>
                <a:latin typeface="Courier New" panose="02070309020205020404" pitchFamily="49" charset="0"/>
                <a:cs typeface="Courier New" panose="02070309020205020404" pitchFamily="49" charset="0"/>
                <a:hlinkClick r:id="rId2"/>
              </a:rPr>
              <a:t>()</a:t>
            </a:r>
            <a:r>
              <a:rPr kumimoji="0" lang="en-US" altLang="en-US" sz="1500" b="0" i="0" u="none" strike="noStrike" cap="none" normalizeH="0" baseline="0" dirty="0">
                <a:ln>
                  <a:noFill/>
                </a:ln>
                <a:solidFill>
                  <a:srgbClr val="3A3A3A"/>
                </a:solidFill>
                <a:effectLst/>
                <a:latin typeface="karmina-sans"/>
              </a:rPr>
              <a:t> shows you the structure of your data set. For a data frame it tells you:</a:t>
            </a:r>
            <a:endParaRPr kumimoji="0" lang="en-US" altLang="en-US" sz="1500"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50000"/>
              </a:lnSpc>
              <a:spcBef>
                <a:spcPts val="600"/>
              </a:spcBef>
              <a:spcAft>
                <a:spcPts val="600"/>
              </a:spcAft>
              <a:buClrTx/>
              <a:buSzTx/>
              <a:buFont typeface="Arial" panose="020B0604020202020204" pitchFamily="34" charset="0"/>
              <a:buChar char="•"/>
              <a:tabLst/>
            </a:pPr>
            <a:r>
              <a:rPr kumimoji="0" lang="en-US" altLang="en-US" sz="1500" b="0" i="0" u="none" strike="noStrike" cap="none" normalizeH="0" baseline="0" dirty="0">
                <a:ln>
                  <a:noFill/>
                </a:ln>
                <a:solidFill>
                  <a:srgbClr val="3A3A3A"/>
                </a:solidFill>
                <a:effectLst/>
                <a:latin typeface="karmina-sans"/>
              </a:rPr>
              <a:t>The total number of observations (e.g. 32 car types)</a:t>
            </a:r>
          </a:p>
          <a:p>
            <a:pPr marL="171450" marR="0" lvl="0" indent="-171450" algn="l" defTabSz="914400" rtl="0" eaLnBrk="0" fontAlgn="base" latinLnBrk="0" hangingPunct="0">
              <a:lnSpc>
                <a:spcPct val="150000"/>
              </a:lnSpc>
              <a:spcBef>
                <a:spcPts val="600"/>
              </a:spcBef>
              <a:spcAft>
                <a:spcPts val="600"/>
              </a:spcAft>
              <a:buClrTx/>
              <a:buSzTx/>
              <a:buFont typeface="Arial" panose="020B0604020202020204" pitchFamily="34" charset="0"/>
              <a:buChar char="•"/>
              <a:tabLst/>
            </a:pPr>
            <a:r>
              <a:rPr kumimoji="0" lang="en-US" altLang="en-US" sz="1500" b="0" i="0" u="none" strike="noStrike" cap="none" normalizeH="0" baseline="0" dirty="0">
                <a:ln>
                  <a:noFill/>
                </a:ln>
                <a:solidFill>
                  <a:srgbClr val="3A3A3A"/>
                </a:solidFill>
                <a:effectLst/>
                <a:latin typeface="karmina-sans"/>
              </a:rPr>
              <a:t>The total number of variables (e.g. 11 car features)</a:t>
            </a:r>
          </a:p>
          <a:p>
            <a:pPr marL="171450" marR="0" lvl="0" indent="-171450" algn="l" defTabSz="914400" rtl="0" eaLnBrk="0" fontAlgn="base" latinLnBrk="0" hangingPunct="0">
              <a:lnSpc>
                <a:spcPct val="150000"/>
              </a:lnSpc>
              <a:spcBef>
                <a:spcPts val="600"/>
              </a:spcBef>
              <a:spcAft>
                <a:spcPts val="600"/>
              </a:spcAft>
              <a:buClrTx/>
              <a:buSzTx/>
              <a:buFont typeface="Arial" panose="020B0604020202020204" pitchFamily="34" charset="0"/>
              <a:buChar char="•"/>
              <a:tabLst/>
            </a:pPr>
            <a:r>
              <a:rPr kumimoji="0" lang="en-US" altLang="en-US" sz="1500" b="0" i="0" u="none" strike="noStrike" cap="none" normalizeH="0" baseline="0" dirty="0">
                <a:ln>
                  <a:noFill/>
                </a:ln>
                <a:solidFill>
                  <a:srgbClr val="3A3A3A"/>
                </a:solidFill>
                <a:effectLst/>
                <a:latin typeface="karmina-sans"/>
              </a:rPr>
              <a:t>A full list of the variables names (e.g. </a:t>
            </a:r>
            <a:r>
              <a:rPr kumimoji="0" lang="en-US" altLang="en-US" sz="1500" b="0" i="0" u="none" strike="noStrike" cap="none" normalizeH="0" baseline="0" dirty="0">
                <a:ln>
                  <a:noFill/>
                </a:ln>
                <a:solidFill>
                  <a:srgbClr val="3A3A3A"/>
                </a:solidFill>
                <a:effectLst/>
                <a:latin typeface="Courier New" panose="02070309020205020404" pitchFamily="49" charset="0"/>
                <a:cs typeface="Courier New" panose="02070309020205020404" pitchFamily="49" charset="0"/>
              </a:rPr>
              <a:t>mpg</a:t>
            </a:r>
            <a:r>
              <a:rPr kumimoji="0" lang="en-US" altLang="en-US" sz="1500" b="0" i="0" u="none" strike="noStrike" cap="none" normalizeH="0" baseline="0" dirty="0">
                <a:ln>
                  <a:noFill/>
                </a:ln>
                <a:solidFill>
                  <a:srgbClr val="3A3A3A"/>
                </a:solidFill>
                <a:effectLst/>
                <a:latin typeface="karmina-sans"/>
              </a:rPr>
              <a:t>, </a:t>
            </a:r>
            <a:r>
              <a:rPr kumimoji="0" lang="en-US" altLang="en-US" sz="1500" b="0" i="0" u="none" strike="noStrike" cap="none" normalizeH="0" baseline="0" dirty="0" err="1">
                <a:ln>
                  <a:noFill/>
                </a:ln>
                <a:solidFill>
                  <a:srgbClr val="3A3A3A"/>
                </a:solidFill>
                <a:effectLst/>
                <a:latin typeface="Courier New" panose="02070309020205020404" pitchFamily="49" charset="0"/>
                <a:cs typeface="Courier New" panose="02070309020205020404" pitchFamily="49" charset="0"/>
              </a:rPr>
              <a:t>cyl</a:t>
            </a:r>
            <a:r>
              <a:rPr kumimoji="0" lang="en-US" altLang="en-US" sz="1500" b="0" i="0" u="none" strike="noStrike" cap="none" normalizeH="0" baseline="0" dirty="0">
                <a:ln>
                  <a:noFill/>
                </a:ln>
                <a:solidFill>
                  <a:srgbClr val="3A3A3A"/>
                </a:solidFill>
                <a:effectLst/>
                <a:latin typeface="karmina-sans"/>
              </a:rPr>
              <a:t> ... )</a:t>
            </a:r>
          </a:p>
          <a:p>
            <a:pPr marL="171450" marR="0" lvl="0" indent="-171450" algn="l" defTabSz="914400" rtl="0" eaLnBrk="0" fontAlgn="base" latinLnBrk="0" hangingPunct="0">
              <a:lnSpc>
                <a:spcPct val="150000"/>
              </a:lnSpc>
              <a:spcBef>
                <a:spcPts val="600"/>
              </a:spcBef>
              <a:spcAft>
                <a:spcPts val="600"/>
              </a:spcAft>
              <a:buClrTx/>
              <a:buSzTx/>
              <a:buFont typeface="Arial" panose="020B0604020202020204" pitchFamily="34" charset="0"/>
              <a:buChar char="•"/>
              <a:tabLst/>
            </a:pPr>
            <a:r>
              <a:rPr kumimoji="0" lang="en-US" altLang="en-US" sz="1500" b="0" i="0" u="none" strike="noStrike" cap="none" normalizeH="0" baseline="0" dirty="0">
                <a:ln>
                  <a:noFill/>
                </a:ln>
                <a:solidFill>
                  <a:srgbClr val="3A3A3A"/>
                </a:solidFill>
                <a:effectLst/>
                <a:latin typeface="karmina-sans"/>
              </a:rPr>
              <a:t>The data type of each variable (e.g. </a:t>
            </a:r>
            <a:r>
              <a:rPr kumimoji="0" lang="en-US" altLang="en-US" sz="1500" b="0" i="0" u="none" strike="noStrike" cap="none" normalizeH="0" baseline="0" dirty="0" err="1">
                <a:ln>
                  <a:noFill/>
                </a:ln>
                <a:solidFill>
                  <a:srgbClr val="3A3A3A"/>
                </a:solidFill>
                <a:effectLst/>
                <a:latin typeface="Courier New" panose="02070309020205020404" pitchFamily="49" charset="0"/>
                <a:cs typeface="Courier New" panose="02070309020205020404" pitchFamily="49" charset="0"/>
              </a:rPr>
              <a:t>num</a:t>
            </a:r>
            <a:r>
              <a:rPr kumimoji="0" lang="en-US" altLang="en-US" sz="1500" b="0" i="0" u="none" strike="noStrike" cap="none" normalizeH="0" baseline="0" dirty="0">
                <a:ln>
                  <a:noFill/>
                </a:ln>
                <a:solidFill>
                  <a:srgbClr val="3A3A3A"/>
                </a:solidFill>
                <a:effectLst/>
                <a:latin typeface="karmina-sans"/>
              </a:rPr>
              <a:t>)</a:t>
            </a:r>
          </a:p>
          <a:p>
            <a:pPr marL="171450" marR="0" lvl="0" indent="-171450" algn="l" defTabSz="914400" rtl="0" eaLnBrk="0" fontAlgn="base" latinLnBrk="0" hangingPunct="0">
              <a:lnSpc>
                <a:spcPct val="150000"/>
              </a:lnSpc>
              <a:spcBef>
                <a:spcPts val="600"/>
              </a:spcBef>
              <a:spcAft>
                <a:spcPts val="600"/>
              </a:spcAft>
              <a:buClrTx/>
              <a:buSzTx/>
              <a:buFont typeface="Arial" panose="020B0604020202020204" pitchFamily="34" charset="0"/>
              <a:buChar char="•"/>
              <a:tabLst/>
            </a:pPr>
            <a:r>
              <a:rPr kumimoji="0" lang="en-US" altLang="en-US" sz="1500" b="0" i="0" u="none" strike="noStrike" cap="none" normalizeH="0" baseline="0" dirty="0">
                <a:ln>
                  <a:noFill/>
                </a:ln>
                <a:solidFill>
                  <a:srgbClr val="3A3A3A"/>
                </a:solidFill>
                <a:effectLst/>
                <a:latin typeface="karmina-sans"/>
              </a:rPr>
              <a:t>The first observations</a:t>
            </a:r>
          </a:p>
          <a:p>
            <a:pPr marL="0" marR="0" lvl="0" indent="0" algn="l" defTabSz="914400" rtl="0" eaLnBrk="0" fontAlgn="base" latinLnBrk="0" hangingPunct="0">
              <a:lnSpc>
                <a:spcPct val="150000"/>
              </a:lnSpc>
              <a:spcBef>
                <a:spcPts val="600"/>
              </a:spcBef>
              <a:spcAft>
                <a:spcPts val="600"/>
              </a:spcAft>
              <a:buClrTx/>
              <a:buSzTx/>
              <a:buFontTx/>
              <a:buNone/>
              <a:tabLst/>
            </a:pPr>
            <a:endParaRPr kumimoji="0" lang="en-US" altLang="en-US" sz="15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618917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FA42A96-8E48-4B0A-B11B-DC8F2C3812BC}"/>
              </a:ext>
            </a:extLst>
          </p:cNvPr>
          <p:cNvSpPr>
            <a:spLocks noGrp="1"/>
          </p:cNvSpPr>
          <p:nvPr>
            <p:ph type="body" sz="quarter" idx="10"/>
          </p:nvPr>
        </p:nvSpPr>
        <p:spPr/>
        <p:txBody>
          <a:bodyPr/>
          <a:lstStyle/>
          <a:p>
            <a:r>
              <a:rPr lang="en-US" dirty="0"/>
              <a:t>Data frames: structure</a:t>
            </a:r>
          </a:p>
        </p:txBody>
      </p:sp>
      <p:pic>
        <p:nvPicPr>
          <p:cNvPr id="3" name="Picture 2">
            <a:extLst>
              <a:ext uri="{FF2B5EF4-FFF2-40B4-BE49-F238E27FC236}">
                <a16:creationId xmlns:a16="http://schemas.microsoft.com/office/drawing/2014/main" id="{CEBBEB79-8717-49A6-B786-0962954A3EC4}"/>
              </a:ext>
            </a:extLst>
          </p:cNvPr>
          <p:cNvPicPr>
            <a:picLocks noChangeAspect="1"/>
          </p:cNvPicPr>
          <p:nvPr/>
        </p:nvPicPr>
        <p:blipFill>
          <a:blip r:embed="rId2"/>
          <a:stretch>
            <a:fillRect/>
          </a:stretch>
        </p:blipFill>
        <p:spPr>
          <a:xfrm>
            <a:off x="344289" y="1739669"/>
            <a:ext cx="8257775" cy="2917478"/>
          </a:xfrm>
          <a:prstGeom prst="rect">
            <a:avLst/>
          </a:prstGeom>
        </p:spPr>
      </p:pic>
    </p:spTree>
    <p:extLst>
      <p:ext uri="{BB962C8B-B14F-4D97-AF65-F5344CB8AC3E}">
        <p14:creationId xmlns:p14="http://schemas.microsoft.com/office/powerpoint/2010/main" val="29907056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FCFE20C-301A-4245-800D-F022259AC5AA}"/>
              </a:ext>
            </a:extLst>
          </p:cNvPr>
          <p:cNvSpPr>
            <a:spLocks noGrp="1"/>
          </p:cNvSpPr>
          <p:nvPr>
            <p:ph type="body" sz="quarter" idx="10"/>
          </p:nvPr>
        </p:nvSpPr>
        <p:spPr/>
        <p:txBody>
          <a:bodyPr/>
          <a:lstStyle/>
          <a:p>
            <a:r>
              <a:rPr lang="en-US" dirty="0"/>
              <a:t>Data frames, summary</a:t>
            </a:r>
          </a:p>
        </p:txBody>
      </p:sp>
      <p:pic>
        <p:nvPicPr>
          <p:cNvPr id="3" name="Picture 2">
            <a:extLst>
              <a:ext uri="{FF2B5EF4-FFF2-40B4-BE49-F238E27FC236}">
                <a16:creationId xmlns:a16="http://schemas.microsoft.com/office/drawing/2014/main" id="{DF2F3663-2113-47A7-B992-82DEF9FCF36F}"/>
              </a:ext>
            </a:extLst>
          </p:cNvPr>
          <p:cNvPicPr>
            <a:picLocks noChangeAspect="1"/>
          </p:cNvPicPr>
          <p:nvPr/>
        </p:nvPicPr>
        <p:blipFill>
          <a:blip r:embed="rId2"/>
          <a:stretch>
            <a:fillRect/>
          </a:stretch>
        </p:blipFill>
        <p:spPr>
          <a:xfrm>
            <a:off x="310970" y="1239327"/>
            <a:ext cx="8222196" cy="4932316"/>
          </a:xfrm>
          <a:prstGeom prst="rect">
            <a:avLst/>
          </a:prstGeom>
        </p:spPr>
      </p:pic>
    </p:spTree>
    <p:extLst>
      <p:ext uri="{BB962C8B-B14F-4D97-AF65-F5344CB8AC3E}">
        <p14:creationId xmlns:p14="http://schemas.microsoft.com/office/powerpoint/2010/main" val="9434281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D26840-E048-467D-AECB-261424B5E8B8}"/>
              </a:ext>
            </a:extLst>
          </p:cNvPr>
          <p:cNvSpPr>
            <a:spLocks noGrp="1"/>
          </p:cNvSpPr>
          <p:nvPr>
            <p:ph type="body" sz="quarter" idx="10"/>
          </p:nvPr>
        </p:nvSpPr>
        <p:spPr/>
        <p:txBody>
          <a:bodyPr/>
          <a:lstStyle/>
          <a:p>
            <a:r>
              <a:rPr lang="en-US" dirty="0" err="1"/>
              <a:t>Subseting</a:t>
            </a:r>
            <a:r>
              <a:rPr lang="en-US" dirty="0"/>
              <a:t> </a:t>
            </a:r>
            <a:r>
              <a:rPr lang="en-US" dirty="0" err="1"/>
              <a:t>dataframes</a:t>
            </a:r>
            <a:endParaRPr lang="en-US" dirty="0"/>
          </a:p>
        </p:txBody>
      </p:sp>
      <p:sp>
        <p:nvSpPr>
          <p:cNvPr id="3" name="Rectangle 1">
            <a:extLst>
              <a:ext uri="{FF2B5EF4-FFF2-40B4-BE49-F238E27FC236}">
                <a16:creationId xmlns:a16="http://schemas.microsoft.com/office/drawing/2014/main" id="{55E85820-1B6B-4D7B-B6E3-CACADA822CB0}"/>
              </a:ext>
            </a:extLst>
          </p:cNvPr>
          <p:cNvSpPr>
            <a:spLocks noChangeArrowheads="1"/>
          </p:cNvSpPr>
          <p:nvPr/>
        </p:nvSpPr>
        <p:spPr bwMode="auto">
          <a:xfrm>
            <a:off x="399818" y="1853051"/>
            <a:ext cx="8196281" cy="2585323"/>
          </a:xfrm>
          <a:prstGeom prst="rect">
            <a:avLst/>
          </a:prstGeom>
          <a:solidFill>
            <a:srgbClr val="EB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9675" tIns="0" rIns="39675"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a:ln>
                  <a:noFill/>
                </a:ln>
                <a:solidFill>
                  <a:srgbClr val="3A3A3A"/>
                </a:solidFill>
                <a:effectLst/>
                <a:latin typeface="karmina-sans"/>
              </a:rPr>
              <a:t>Similar to vectors and matrices, you select elements from a data frame with the help of square brackets </a:t>
            </a:r>
            <a:r>
              <a:rPr kumimoji="0" lang="en-US" altLang="en-US" sz="1600" b="0" i="0" u="none" strike="noStrike" cap="none" normalizeH="0" baseline="0" dirty="0">
                <a:ln>
                  <a:noFill/>
                </a:ln>
                <a:solidFill>
                  <a:srgbClr val="3A3A3A"/>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3A3A3A"/>
                </a:solidFill>
                <a:effectLst/>
                <a:latin typeface="karmina-sans"/>
              </a:rPr>
              <a:t>. By using a comma, you can indicate what to select from the rows and the columns respectively. For example:</a:t>
            </a:r>
            <a:endParaRPr kumimoji="0" lang="en-US" altLang="en-US" sz="16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err="1">
                <a:ln>
                  <a:noFill/>
                </a:ln>
                <a:solidFill>
                  <a:srgbClr val="3A3A3A"/>
                </a:solidFill>
                <a:effectLst/>
                <a:latin typeface="Courier New" panose="02070309020205020404" pitchFamily="49" charset="0"/>
                <a:cs typeface="Courier New" panose="02070309020205020404" pitchFamily="49" charset="0"/>
              </a:rPr>
              <a:t>my_df</a:t>
            </a:r>
            <a:r>
              <a:rPr kumimoji="0" lang="en-US" altLang="en-US" sz="1600" b="0" i="0" u="none" strike="noStrike" cap="none" normalizeH="0" baseline="0" dirty="0">
                <a:ln>
                  <a:noFill/>
                </a:ln>
                <a:solidFill>
                  <a:srgbClr val="3A3A3A"/>
                </a:solidFill>
                <a:effectLst/>
                <a:latin typeface="Courier New" panose="02070309020205020404" pitchFamily="49" charset="0"/>
                <a:cs typeface="Courier New" panose="02070309020205020404" pitchFamily="49" charset="0"/>
              </a:rPr>
              <a:t>[1,2]</a:t>
            </a:r>
            <a:r>
              <a:rPr kumimoji="0" lang="en-US" altLang="en-US" sz="1600" b="0" i="0" u="none" strike="noStrike" cap="none" normalizeH="0" baseline="0" dirty="0">
                <a:ln>
                  <a:noFill/>
                </a:ln>
                <a:solidFill>
                  <a:srgbClr val="3A3A3A"/>
                </a:solidFill>
                <a:effectLst/>
                <a:latin typeface="karmina-sans"/>
              </a:rPr>
              <a:t> selects the value at the first row and select element in </a:t>
            </a:r>
            <a:r>
              <a:rPr kumimoji="0" lang="en-US" altLang="en-US" sz="1600" b="0" i="0" u="none" strike="noStrike" cap="none" normalizeH="0" baseline="0" dirty="0" err="1">
                <a:ln>
                  <a:noFill/>
                </a:ln>
                <a:solidFill>
                  <a:srgbClr val="3A3A3A"/>
                </a:solidFill>
                <a:effectLst/>
                <a:latin typeface="Courier New" panose="02070309020205020404" pitchFamily="49" charset="0"/>
                <a:cs typeface="Courier New" panose="02070309020205020404" pitchFamily="49" charset="0"/>
              </a:rPr>
              <a:t>my_df</a:t>
            </a:r>
            <a:r>
              <a:rPr kumimoji="0" lang="en-US" altLang="en-US" sz="1600" b="0" i="0" u="none" strike="noStrike" cap="none" normalizeH="0" baseline="0" dirty="0">
                <a:ln>
                  <a:noFill/>
                </a:ln>
                <a:solidFill>
                  <a:srgbClr val="3A3A3A"/>
                </a:solidFill>
                <a:effectLst/>
                <a:latin typeface="karmina-sans"/>
              </a:rPr>
              <a: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err="1">
                <a:ln>
                  <a:noFill/>
                </a:ln>
                <a:solidFill>
                  <a:srgbClr val="3A3A3A"/>
                </a:solidFill>
                <a:effectLst/>
                <a:latin typeface="Courier New" panose="02070309020205020404" pitchFamily="49" charset="0"/>
                <a:cs typeface="Courier New" panose="02070309020205020404" pitchFamily="49" charset="0"/>
              </a:rPr>
              <a:t>my_df</a:t>
            </a:r>
            <a:r>
              <a:rPr kumimoji="0" lang="en-US" altLang="en-US" sz="1600" b="0" i="0" u="none" strike="noStrike" cap="none" normalizeH="0" baseline="0" dirty="0">
                <a:ln>
                  <a:noFill/>
                </a:ln>
                <a:solidFill>
                  <a:srgbClr val="3A3A3A"/>
                </a:solidFill>
                <a:effectLst/>
                <a:latin typeface="Courier New" panose="02070309020205020404" pitchFamily="49" charset="0"/>
                <a:cs typeface="Courier New" panose="02070309020205020404" pitchFamily="49" charset="0"/>
              </a:rPr>
              <a:t>[1:3,2:4]</a:t>
            </a:r>
            <a:r>
              <a:rPr kumimoji="0" lang="en-US" altLang="en-US" sz="1600" b="0" i="0" u="none" strike="noStrike" cap="none" normalizeH="0" baseline="0" dirty="0">
                <a:ln>
                  <a:noFill/>
                </a:ln>
                <a:solidFill>
                  <a:srgbClr val="3A3A3A"/>
                </a:solidFill>
                <a:effectLst/>
                <a:latin typeface="karmina-sans"/>
              </a:rPr>
              <a:t> selects rows 1, 2, 3 and columns 2, 3, 4 in </a:t>
            </a:r>
            <a:r>
              <a:rPr kumimoji="0" lang="en-US" altLang="en-US" sz="1600" b="0" i="0" u="none" strike="noStrike" cap="none" normalizeH="0" baseline="0" dirty="0" err="1">
                <a:ln>
                  <a:noFill/>
                </a:ln>
                <a:solidFill>
                  <a:srgbClr val="3A3A3A"/>
                </a:solidFill>
                <a:effectLst/>
                <a:latin typeface="Courier New" panose="02070309020205020404" pitchFamily="49" charset="0"/>
                <a:cs typeface="Courier New" panose="02070309020205020404" pitchFamily="49" charset="0"/>
              </a:rPr>
              <a:t>my_df</a:t>
            </a:r>
            <a:r>
              <a:rPr kumimoji="0" lang="en-US" altLang="en-US" sz="1600" b="0" i="0" u="none" strike="noStrike" cap="none" normalizeH="0" baseline="0" dirty="0">
                <a:ln>
                  <a:noFill/>
                </a:ln>
                <a:solidFill>
                  <a:srgbClr val="3A3A3A"/>
                </a:solidFill>
                <a:effectLst/>
                <a:latin typeface="karmina-sans"/>
              </a:rPr>
              <a:t>.</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a:ln>
                  <a:noFill/>
                </a:ln>
                <a:solidFill>
                  <a:srgbClr val="3A3A3A"/>
                </a:solidFill>
                <a:effectLst/>
                <a:latin typeface="karmina-sans"/>
              </a:rPr>
              <a:t>Sometimes you want to select all elements of a row or column. For example, </a:t>
            </a:r>
            <a:r>
              <a:rPr kumimoji="0" lang="en-US" altLang="en-US" sz="1600" b="0" i="0" u="none" strike="noStrike" cap="none" normalizeH="0" baseline="0" dirty="0" err="1">
                <a:ln>
                  <a:noFill/>
                </a:ln>
                <a:solidFill>
                  <a:srgbClr val="3A3A3A"/>
                </a:solidFill>
                <a:effectLst/>
                <a:latin typeface="Courier New" panose="02070309020205020404" pitchFamily="49" charset="0"/>
                <a:cs typeface="Courier New" panose="02070309020205020404" pitchFamily="49" charset="0"/>
              </a:rPr>
              <a:t>my_df</a:t>
            </a:r>
            <a:r>
              <a:rPr kumimoji="0" lang="en-US" altLang="en-US" sz="1600" b="0" i="0" u="none" strike="noStrike" cap="none" normalizeH="0" baseline="0" dirty="0">
                <a:ln>
                  <a:noFill/>
                </a:ln>
                <a:solidFill>
                  <a:srgbClr val="3A3A3A"/>
                </a:solidFill>
                <a:effectLst/>
                <a:latin typeface="Courier New" panose="02070309020205020404" pitchFamily="49" charset="0"/>
                <a:cs typeface="Courier New" panose="02070309020205020404" pitchFamily="49" charset="0"/>
              </a:rPr>
              <a:t>[1,]</a:t>
            </a:r>
            <a:r>
              <a:rPr kumimoji="0" lang="en-US" altLang="en-US" sz="1600" b="0" i="0" u="none" strike="noStrike" cap="none" normalizeH="0" baseline="0" dirty="0">
                <a:ln>
                  <a:noFill/>
                </a:ln>
                <a:solidFill>
                  <a:srgbClr val="3A3A3A"/>
                </a:solidFill>
                <a:effectLst/>
                <a:latin typeface="karmina-sans"/>
              </a:rPr>
              <a:t> selects all elements of the first row. Let us now apply this technique on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928185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D26840-E048-467D-AECB-261424B5E8B8}"/>
              </a:ext>
            </a:extLst>
          </p:cNvPr>
          <p:cNvSpPr>
            <a:spLocks noGrp="1"/>
          </p:cNvSpPr>
          <p:nvPr>
            <p:ph type="body" sz="quarter" idx="10"/>
          </p:nvPr>
        </p:nvSpPr>
        <p:spPr/>
        <p:txBody>
          <a:bodyPr/>
          <a:lstStyle/>
          <a:p>
            <a:r>
              <a:rPr lang="en-US" dirty="0" err="1"/>
              <a:t>Subseting</a:t>
            </a:r>
            <a:r>
              <a:rPr lang="en-US" dirty="0"/>
              <a:t> </a:t>
            </a:r>
            <a:r>
              <a:rPr lang="en-US" dirty="0" err="1"/>
              <a:t>dataframes</a:t>
            </a:r>
            <a:endParaRPr lang="en-US" dirty="0"/>
          </a:p>
        </p:txBody>
      </p:sp>
      <p:pic>
        <p:nvPicPr>
          <p:cNvPr id="4" name="Picture 3">
            <a:extLst>
              <a:ext uri="{FF2B5EF4-FFF2-40B4-BE49-F238E27FC236}">
                <a16:creationId xmlns:a16="http://schemas.microsoft.com/office/drawing/2014/main" id="{A6275840-6190-4278-B2A0-EC5269C41C6D}"/>
              </a:ext>
            </a:extLst>
          </p:cNvPr>
          <p:cNvPicPr>
            <a:picLocks noChangeAspect="1"/>
          </p:cNvPicPr>
          <p:nvPr/>
        </p:nvPicPr>
        <p:blipFill>
          <a:blip r:embed="rId2"/>
          <a:stretch>
            <a:fillRect/>
          </a:stretch>
        </p:blipFill>
        <p:spPr>
          <a:xfrm>
            <a:off x="358975" y="1865472"/>
            <a:ext cx="8573888" cy="3310139"/>
          </a:xfrm>
          <a:prstGeom prst="rect">
            <a:avLst/>
          </a:prstGeom>
        </p:spPr>
      </p:pic>
    </p:spTree>
    <p:extLst>
      <p:ext uri="{BB962C8B-B14F-4D97-AF65-F5344CB8AC3E}">
        <p14:creationId xmlns:p14="http://schemas.microsoft.com/office/powerpoint/2010/main" val="26861037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0EFB9F4-F00F-4B02-B589-8FE1889131BC}"/>
              </a:ext>
            </a:extLst>
          </p:cNvPr>
          <p:cNvSpPr>
            <a:spLocks noGrp="1"/>
          </p:cNvSpPr>
          <p:nvPr>
            <p:ph type="body" sz="quarter" idx="10"/>
          </p:nvPr>
        </p:nvSpPr>
        <p:spPr/>
        <p:txBody>
          <a:bodyPr/>
          <a:lstStyle/>
          <a:p>
            <a:r>
              <a:rPr lang="en-US" dirty="0"/>
              <a:t>Sub setting data frames</a:t>
            </a:r>
          </a:p>
        </p:txBody>
      </p:sp>
      <p:pic>
        <p:nvPicPr>
          <p:cNvPr id="3" name="Picture 2">
            <a:extLst>
              <a:ext uri="{FF2B5EF4-FFF2-40B4-BE49-F238E27FC236}">
                <a16:creationId xmlns:a16="http://schemas.microsoft.com/office/drawing/2014/main" id="{0AE5240C-10DA-40BD-93AD-EBB69F4D579E}"/>
              </a:ext>
            </a:extLst>
          </p:cNvPr>
          <p:cNvPicPr>
            <a:picLocks noChangeAspect="1"/>
          </p:cNvPicPr>
          <p:nvPr/>
        </p:nvPicPr>
        <p:blipFill>
          <a:blip r:embed="rId2"/>
          <a:stretch>
            <a:fillRect/>
          </a:stretch>
        </p:blipFill>
        <p:spPr>
          <a:xfrm>
            <a:off x="385786" y="1466001"/>
            <a:ext cx="8758213" cy="4106899"/>
          </a:xfrm>
          <a:prstGeom prst="rect">
            <a:avLst/>
          </a:prstGeom>
        </p:spPr>
      </p:pic>
    </p:spTree>
    <p:extLst>
      <p:ext uri="{BB962C8B-B14F-4D97-AF65-F5344CB8AC3E}">
        <p14:creationId xmlns:p14="http://schemas.microsoft.com/office/powerpoint/2010/main" val="302026492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5A4E3E9-571F-47AC-89A5-0E80A790D9A0}"/>
              </a:ext>
            </a:extLst>
          </p:cNvPr>
          <p:cNvSpPr>
            <a:spLocks noGrp="1"/>
          </p:cNvSpPr>
          <p:nvPr>
            <p:ph type="body" sz="quarter" idx="10"/>
          </p:nvPr>
        </p:nvSpPr>
        <p:spPr/>
        <p:txBody>
          <a:bodyPr/>
          <a:lstStyle/>
          <a:p>
            <a:r>
              <a:rPr lang="en-US" dirty="0"/>
              <a:t>Intro to R: Access vectors and objects from the list</a:t>
            </a:r>
          </a:p>
        </p:txBody>
      </p:sp>
      <p:sp>
        <p:nvSpPr>
          <p:cNvPr id="3" name="TextBox 2"/>
          <p:cNvSpPr txBox="1"/>
          <p:nvPr/>
        </p:nvSpPr>
        <p:spPr>
          <a:xfrm>
            <a:off x="533400" y="3474184"/>
            <a:ext cx="7391400" cy="1631216"/>
          </a:xfrm>
          <a:prstGeom prst="rect">
            <a:avLst/>
          </a:prstGeom>
          <a:noFill/>
        </p:spPr>
        <p:txBody>
          <a:bodyPr wrap="square" rtlCol="0">
            <a:spAutoFit/>
          </a:bodyPr>
          <a:lstStyle/>
          <a:p>
            <a:pPr algn="ctr"/>
            <a:r>
              <a:rPr lang="en-US" sz="10000" dirty="0" err="1">
                <a:latin typeface="Open Sans" panose="020B0606030504020204" pitchFamily="34" charset="0"/>
                <a:ea typeface="Open Sans" panose="020B0606030504020204" pitchFamily="34" charset="0"/>
                <a:cs typeface="Open Sans" panose="020B0606030504020204" pitchFamily="34" charset="0"/>
              </a:rPr>
              <a:t>Data$Age</a:t>
            </a:r>
            <a:endParaRPr lang="en-US" sz="10000"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5" name="Straight Arrow Connector 4"/>
          <p:cNvCxnSpPr>
            <a:stCxn id="7" idx="2"/>
          </p:cNvCxnSpPr>
          <p:nvPr/>
        </p:nvCxnSpPr>
        <p:spPr bwMode="auto">
          <a:xfrm>
            <a:off x="1738533" y="2253914"/>
            <a:ext cx="1233267" cy="1448870"/>
          </a:xfrm>
          <a:prstGeom prst="straightConnector1">
            <a:avLst/>
          </a:prstGeom>
          <a:solidFill>
            <a:schemeClr val="accent1"/>
          </a:solidFill>
          <a:ln w="57150" cap="flat" cmpd="sng" algn="ctr">
            <a:solidFill>
              <a:srgbClr val="C00000"/>
            </a:solidFill>
            <a:prstDash val="solid"/>
            <a:miter lim="800000"/>
            <a:headEnd type="none" w="med" len="med"/>
            <a:tailEnd type="triangle"/>
          </a:ln>
          <a:effectLst/>
        </p:spPr>
      </p:cxnSp>
      <p:sp>
        <p:nvSpPr>
          <p:cNvPr id="7" name="TextBox 6"/>
          <p:cNvSpPr txBox="1"/>
          <p:nvPr/>
        </p:nvSpPr>
        <p:spPr>
          <a:xfrm>
            <a:off x="238565" y="1669139"/>
            <a:ext cx="2999935" cy="584775"/>
          </a:xfrm>
          <a:prstGeom prst="rect">
            <a:avLst/>
          </a:prstGeom>
          <a:noFill/>
        </p:spPr>
        <p:txBody>
          <a:bodyPr wrap="square" rtlCol="0">
            <a:spAutoFit/>
          </a:bodyPr>
          <a:lstStyle/>
          <a:p>
            <a:pPr algn="ctr"/>
            <a:r>
              <a:rPr lang="en-US" sz="1600" b="1" dirty="0">
                <a:latin typeface="Open Sans" panose="020B0606030504020204" pitchFamily="34" charset="0"/>
                <a:ea typeface="Open Sans" panose="020B0606030504020204" pitchFamily="34" charset="0"/>
                <a:cs typeface="Open Sans" panose="020B0606030504020204" pitchFamily="34" charset="0"/>
              </a:rPr>
              <a:t>The name of the data frame or list</a:t>
            </a:r>
          </a:p>
        </p:txBody>
      </p:sp>
      <p:cxnSp>
        <p:nvCxnSpPr>
          <p:cNvPr id="9" name="Straight Arrow Connector 8"/>
          <p:cNvCxnSpPr>
            <a:stCxn id="10" idx="2"/>
          </p:cNvCxnSpPr>
          <p:nvPr/>
        </p:nvCxnSpPr>
        <p:spPr bwMode="auto">
          <a:xfrm flipH="1">
            <a:off x="6019800" y="2337375"/>
            <a:ext cx="737968" cy="1472625"/>
          </a:xfrm>
          <a:prstGeom prst="straightConnector1">
            <a:avLst/>
          </a:prstGeom>
          <a:solidFill>
            <a:schemeClr val="accent1"/>
          </a:solidFill>
          <a:ln w="57150" cap="flat" cmpd="sng" algn="ctr">
            <a:solidFill>
              <a:srgbClr val="C00000"/>
            </a:solidFill>
            <a:prstDash val="solid"/>
            <a:miter lim="800000"/>
            <a:headEnd type="none" w="med" len="med"/>
            <a:tailEnd type="triangle"/>
          </a:ln>
          <a:effectLst/>
        </p:spPr>
      </p:cxnSp>
      <p:sp>
        <p:nvSpPr>
          <p:cNvPr id="10" name="TextBox 9"/>
          <p:cNvSpPr txBox="1"/>
          <p:nvPr/>
        </p:nvSpPr>
        <p:spPr>
          <a:xfrm>
            <a:off x="5257800" y="1752600"/>
            <a:ext cx="2999935" cy="584775"/>
          </a:xfrm>
          <a:prstGeom prst="rect">
            <a:avLst/>
          </a:prstGeom>
          <a:noFill/>
        </p:spPr>
        <p:txBody>
          <a:bodyPr wrap="square" rtlCol="0">
            <a:spAutoFit/>
          </a:bodyPr>
          <a:lstStyle/>
          <a:p>
            <a:pPr algn="ctr"/>
            <a:r>
              <a:rPr lang="en-US" sz="1600" b="1" dirty="0">
                <a:latin typeface="Open Sans" panose="020B0606030504020204" pitchFamily="34" charset="0"/>
                <a:ea typeface="Open Sans" panose="020B0606030504020204" pitchFamily="34" charset="0"/>
                <a:cs typeface="Open Sans" panose="020B0606030504020204" pitchFamily="34" charset="0"/>
              </a:rPr>
              <a:t>The name of the variable or object from the list</a:t>
            </a:r>
          </a:p>
        </p:txBody>
      </p:sp>
    </p:spTree>
    <p:extLst>
      <p:ext uri="{BB962C8B-B14F-4D97-AF65-F5344CB8AC3E}">
        <p14:creationId xmlns:p14="http://schemas.microsoft.com/office/powerpoint/2010/main" val="27395023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331CCFB-8331-4FFB-A62E-A8BD0A821A83}"/>
              </a:ext>
            </a:extLst>
          </p:cNvPr>
          <p:cNvSpPr>
            <a:spLocks noGrp="1"/>
          </p:cNvSpPr>
          <p:nvPr>
            <p:ph type="body" sz="quarter" idx="10"/>
          </p:nvPr>
        </p:nvSpPr>
        <p:spPr/>
        <p:txBody>
          <a:bodyPr/>
          <a:lstStyle/>
          <a:p>
            <a:r>
              <a:rPr lang="en-US" dirty="0"/>
              <a:t>Intro to R: Accessing subset of the data frame</a:t>
            </a:r>
          </a:p>
        </p:txBody>
      </p:sp>
      <p:sp>
        <p:nvSpPr>
          <p:cNvPr id="3" name="TextBox 2"/>
          <p:cNvSpPr txBox="1"/>
          <p:nvPr/>
        </p:nvSpPr>
        <p:spPr>
          <a:xfrm>
            <a:off x="723900" y="3657600"/>
            <a:ext cx="7696200" cy="1323439"/>
          </a:xfrm>
          <a:prstGeom prst="rect">
            <a:avLst/>
          </a:prstGeom>
          <a:noFill/>
        </p:spPr>
        <p:txBody>
          <a:bodyPr wrap="square" rtlCol="0">
            <a:spAutoFit/>
          </a:bodyPr>
          <a:lstStyle/>
          <a:p>
            <a:r>
              <a:rPr lang="en-US" sz="8000" dirty="0">
                <a:latin typeface="Open Sans" panose="020B0606030504020204" pitchFamily="34" charset="0"/>
                <a:ea typeface="Open Sans" panose="020B0606030504020204" pitchFamily="34" charset="0"/>
                <a:cs typeface="Open Sans" panose="020B0606030504020204" pitchFamily="34" charset="0"/>
              </a:rPr>
              <a:t>Data[1:500, 2:5]</a:t>
            </a:r>
          </a:p>
        </p:txBody>
      </p:sp>
      <p:sp>
        <p:nvSpPr>
          <p:cNvPr id="4" name="TextBox 3"/>
          <p:cNvSpPr txBox="1"/>
          <p:nvPr/>
        </p:nvSpPr>
        <p:spPr>
          <a:xfrm>
            <a:off x="533400" y="1416902"/>
            <a:ext cx="3124200" cy="830997"/>
          </a:xfrm>
          <a:prstGeom prst="rect">
            <a:avLst/>
          </a:prstGeom>
          <a:noFill/>
        </p:spPr>
        <p:txBody>
          <a:bodyPr wrap="square" rtlCol="0">
            <a:spAutoFit/>
          </a:bodyPr>
          <a:lstStyle/>
          <a:p>
            <a:r>
              <a:rPr lang="en-US" dirty="0">
                <a:latin typeface="Open Sans" panose="020B0606030504020204" pitchFamily="34" charset="0"/>
                <a:ea typeface="Open Sans" panose="020B0606030504020204" pitchFamily="34" charset="0"/>
                <a:cs typeface="Open Sans" panose="020B0606030504020204" pitchFamily="34" charset="0"/>
              </a:rPr>
              <a:t>Extract cases (rows) from 1 to 500</a:t>
            </a:r>
          </a:p>
        </p:txBody>
      </p:sp>
      <p:cxnSp>
        <p:nvCxnSpPr>
          <p:cNvPr id="7" name="Straight Arrow Connector 6"/>
          <p:cNvCxnSpPr/>
          <p:nvPr/>
        </p:nvCxnSpPr>
        <p:spPr bwMode="auto">
          <a:xfrm>
            <a:off x="1738533" y="2253914"/>
            <a:ext cx="2528667" cy="1403686"/>
          </a:xfrm>
          <a:prstGeom prst="straightConnector1">
            <a:avLst/>
          </a:prstGeom>
          <a:solidFill>
            <a:schemeClr val="accent1"/>
          </a:solidFill>
          <a:ln w="57150" cap="flat" cmpd="sng" algn="ctr">
            <a:solidFill>
              <a:srgbClr val="C00000"/>
            </a:solidFill>
            <a:prstDash val="solid"/>
            <a:miter lim="800000"/>
            <a:headEnd type="none" w="med" len="med"/>
            <a:tailEnd type="triangle"/>
          </a:ln>
          <a:effectLst/>
        </p:spPr>
      </p:cxnSp>
      <p:sp>
        <p:nvSpPr>
          <p:cNvPr id="9" name="TextBox 8"/>
          <p:cNvSpPr txBox="1"/>
          <p:nvPr/>
        </p:nvSpPr>
        <p:spPr>
          <a:xfrm>
            <a:off x="4938933" y="1225215"/>
            <a:ext cx="3352800" cy="830997"/>
          </a:xfrm>
          <a:prstGeom prst="rect">
            <a:avLst/>
          </a:prstGeom>
          <a:noFill/>
        </p:spPr>
        <p:txBody>
          <a:bodyPr wrap="square" rtlCol="0">
            <a:spAutoFit/>
          </a:bodyPr>
          <a:lstStyle/>
          <a:p>
            <a:r>
              <a:rPr lang="en-US" dirty="0">
                <a:latin typeface="Open Sans" panose="020B0606030504020204" pitchFamily="34" charset="0"/>
                <a:ea typeface="Open Sans" panose="020B0606030504020204" pitchFamily="34" charset="0"/>
                <a:cs typeface="Open Sans" panose="020B0606030504020204" pitchFamily="34" charset="0"/>
              </a:rPr>
              <a:t>Extract variables (columns) from 2 to 5</a:t>
            </a:r>
          </a:p>
        </p:txBody>
      </p:sp>
      <p:cxnSp>
        <p:nvCxnSpPr>
          <p:cNvPr id="10" name="Straight Arrow Connector 9"/>
          <p:cNvCxnSpPr/>
          <p:nvPr/>
        </p:nvCxnSpPr>
        <p:spPr bwMode="auto">
          <a:xfrm>
            <a:off x="6615333" y="2056212"/>
            <a:ext cx="242667" cy="1753788"/>
          </a:xfrm>
          <a:prstGeom prst="straightConnector1">
            <a:avLst/>
          </a:prstGeom>
          <a:solidFill>
            <a:schemeClr val="accent1"/>
          </a:solidFill>
          <a:ln w="57150" cap="flat" cmpd="sng" algn="ctr">
            <a:solidFill>
              <a:srgbClr val="C00000"/>
            </a:solidFill>
            <a:prstDash val="solid"/>
            <a:miter lim="800000"/>
            <a:headEnd type="none" w="med" len="med"/>
            <a:tailEnd type="triangle"/>
          </a:ln>
          <a:effectLst/>
        </p:spPr>
      </p:cxnSp>
    </p:spTree>
    <p:extLst>
      <p:ext uri="{BB962C8B-B14F-4D97-AF65-F5344CB8AC3E}">
        <p14:creationId xmlns:p14="http://schemas.microsoft.com/office/powerpoint/2010/main" val="23077466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FA200A9-A5B6-42E7-B1A7-0902F93C1C80}"/>
              </a:ext>
            </a:extLst>
          </p:cNvPr>
          <p:cNvSpPr>
            <a:spLocks noGrp="1"/>
          </p:cNvSpPr>
          <p:nvPr>
            <p:ph type="body" sz="quarter" idx="10"/>
          </p:nvPr>
        </p:nvSpPr>
        <p:spPr/>
        <p:txBody>
          <a:bodyPr/>
          <a:lstStyle/>
          <a:p>
            <a:r>
              <a:rPr lang="en-US" dirty="0" err="1"/>
              <a:t>Subseting</a:t>
            </a:r>
            <a:r>
              <a:rPr lang="en-US" dirty="0"/>
              <a:t> data: </a:t>
            </a:r>
            <a:r>
              <a:rPr lang="en-US" dirty="0" err="1"/>
              <a:t>dataframes</a:t>
            </a:r>
            <a:endParaRPr lang="en-US" dirty="0"/>
          </a:p>
        </p:txBody>
      </p:sp>
      <p:sp>
        <p:nvSpPr>
          <p:cNvPr id="4" name="TextBox 3">
            <a:extLst>
              <a:ext uri="{FF2B5EF4-FFF2-40B4-BE49-F238E27FC236}">
                <a16:creationId xmlns:a16="http://schemas.microsoft.com/office/drawing/2014/main" id="{E31C2967-8553-4225-8DDA-B7375146B186}"/>
              </a:ext>
            </a:extLst>
          </p:cNvPr>
          <p:cNvSpPr txBox="1"/>
          <p:nvPr/>
        </p:nvSpPr>
        <p:spPr>
          <a:xfrm>
            <a:off x="3409480" y="1667976"/>
            <a:ext cx="4856880" cy="861774"/>
          </a:xfrm>
          <a:prstGeom prst="rect">
            <a:avLst/>
          </a:prstGeom>
          <a:noFill/>
        </p:spPr>
        <p:txBody>
          <a:bodyPr wrap="square" rtlCol="0">
            <a:spAutoFit/>
          </a:bodyPr>
          <a:lstStyle/>
          <a:p>
            <a:r>
              <a:rPr lang="en-US" sz="5000" dirty="0" err="1"/>
              <a:t>dataframe</a:t>
            </a:r>
            <a:r>
              <a:rPr lang="en-US" sz="5000" dirty="0"/>
              <a:t>[1 ,4 ]</a:t>
            </a:r>
          </a:p>
        </p:txBody>
      </p:sp>
      <p:sp>
        <p:nvSpPr>
          <p:cNvPr id="2" name="TextBox 1">
            <a:extLst>
              <a:ext uri="{FF2B5EF4-FFF2-40B4-BE49-F238E27FC236}">
                <a16:creationId xmlns:a16="http://schemas.microsoft.com/office/drawing/2014/main" id="{BA9A1675-4363-483D-912C-435E440A45AE}"/>
              </a:ext>
            </a:extLst>
          </p:cNvPr>
          <p:cNvSpPr txBox="1"/>
          <p:nvPr/>
        </p:nvSpPr>
        <p:spPr>
          <a:xfrm>
            <a:off x="450307" y="1043059"/>
            <a:ext cx="8142296" cy="492443"/>
          </a:xfrm>
          <a:prstGeom prst="rect">
            <a:avLst/>
          </a:prstGeom>
          <a:noFill/>
        </p:spPr>
        <p:txBody>
          <a:bodyPr wrap="square" rtlCol="0">
            <a:spAutoFit/>
          </a:bodyPr>
          <a:lstStyle/>
          <a:p>
            <a:r>
              <a:rPr lang="en-US" sz="2600" dirty="0"/>
              <a:t>Will return the value on first row and 4</a:t>
            </a:r>
            <a:r>
              <a:rPr lang="en-US" sz="2600" baseline="30000" dirty="0"/>
              <a:t>th</a:t>
            </a:r>
            <a:r>
              <a:rPr lang="en-US" sz="2600" dirty="0"/>
              <a:t> column</a:t>
            </a:r>
          </a:p>
        </p:txBody>
      </p:sp>
      <p:sp>
        <p:nvSpPr>
          <p:cNvPr id="5" name="TextBox 4">
            <a:extLst>
              <a:ext uri="{FF2B5EF4-FFF2-40B4-BE49-F238E27FC236}">
                <a16:creationId xmlns:a16="http://schemas.microsoft.com/office/drawing/2014/main" id="{2520A45E-29F5-490C-800A-84848429DF5B}"/>
              </a:ext>
            </a:extLst>
          </p:cNvPr>
          <p:cNvSpPr txBox="1"/>
          <p:nvPr/>
        </p:nvSpPr>
        <p:spPr>
          <a:xfrm>
            <a:off x="2297496" y="3897306"/>
            <a:ext cx="5679380" cy="861774"/>
          </a:xfrm>
          <a:prstGeom prst="rect">
            <a:avLst/>
          </a:prstGeom>
          <a:noFill/>
        </p:spPr>
        <p:txBody>
          <a:bodyPr wrap="square" rtlCol="0">
            <a:spAutoFit/>
          </a:bodyPr>
          <a:lstStyle/>
          <a:p>
            <a:r>
              <a:rPr lang="en-US" sz="5000" dirty="0" err="1"/>
              <a:t>dataframe</a:t>
            </a:r>
            <a:r>
              <a:rPr lang="en-US" sz="5000" dirty="0"/>
              <a:t>[1:10 ,4:6 ]</a:t>
            </a:r>
          </a:p>
        </p:txBody>
      </p:sp>
      <p:sp>
        <p:nvSpPr>
          <p:cNvPr id="6" name="TextBox 5">
            <a:extLst>
              <a:ext uri="{FF2B5EF4-FFF2-40B4-BE49-F238E27FC236}">
                <a16:creationId xmlns:a16="http://schemas.microsoft.com/office/drawing/2014/main" id="{F8A9C01E-A5E6-42F2-9A80-ADFA263660EA}"/>
              </a:ext>
            </a:extLst>
          </p:cNvPr>
          <p:cNvSpPr txBox="1"/>
          <p:nvPr/>
        </p:nvSpPr>
        <p:spPr>
          <a:xfrm>
            <a:off x="441126" y="3182778"/>
            <a:ext cx="8142296" cy="492443"/>
          </a:xfrm>
          <a:prstGeom prst="rect">
            <a:avLst/>
          </a:prstGeom>
          <a:noFill/>
        </p:spPr>
        <p:txBody>
          <a:bodyPr wrap="square" rtlCol="0">
            <a:spAutoFit/>
          </a:bodyPr>
          <a:lstStyle/>
          <a:p>
            <a:r>
              <a:rPr lang="en-US" sz="2600" dirty="0"/>
              <a:t>Will return the value on first 10 rows and columns 4,5,6</a:t>
            </a:r>
          </a:p>
        </p:txBody>
      </p:sp>
    </p:spTree>
    <p:extLst>
      <p:ext uri="{BB962C8B-B14F-4D97-AF65-F5344CB8AC3E}">
        <p14:creationId xmlns:p14="http://schemas.microsoft.com/office/powerpoint/2010/main" val="4230580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FA200A9-A5B6-42E7-B1A7-0902F93C1C80}"/>
              </a:ext>
            </a:extLst>
          </p:cNvPr>
          <p:cNvSpPr>
            <a:spLocks noGrp="1"/>
          </p:cNvSpPr>
          <p:nvPr>
            <p:ph type="body" sz="quarter" idx="10"/>
          </p:nvPr>
        </p:nvSpPr>
        <p:spPr/>
        <p:txBody>
          <a:bodyPr/>
          <a:lstStyle/>
          <a:p>
            <a:r>
              <a:rPr lang="en-US" dirty="0" err="1"/>
              <a:t>Subseting</a:t>
            </a:r>
            <a:r>
              <a:rPr lang="en-US" dirty="0"/>
              <a:t> data: </a:t>
            </a:r>
            <a:r>
              <a:rPr lang="en-US" dirty="0" err="1"/>
              <a:t>dataframes</a:t>
            </a:r>
            <a:endParaRPr lang="en-US" dirty="0"/>
          </a:p>
        </p:txBody>
      </p:sp>
      <p:sp>
        <p:nvSpPr>
          <p:cNvPr id="4" name="TextBox 3">
            <a:extLst>
              <a:ext uri="{FF2B5EF4-FFF2-40B4-BE49-F238E27FC236}">
                <a16:creationId xmlns:a16="http://schemas.microsoft.com/office/drawing/2014/main" id="{E31C2967-8553-4225-8DDA-B7375146B186}"/>
              </a:ext>
            </a:extLst>
          </p:cNvPr>
          <p:cNvSpPr txBox="1"/>
          <p:nvPr/>
        </p:nvSpPr>
        <p:spPr>
          <a:xfrm>
            <a:off x="3119996" y="1718521"/>
            <a:ext cx="4856880" cy="861774"/>
          </a:xfrm>
          <a:prstGeom prst="rect">
            <a:avLst/>
          </a:prstGeom>
          <a:noFill/>
        </p:spPr>
        <p:txBody>
          <a:bodyPr wrap="square" rtlCol="0">
            <a:spAutoFit/>
          </a:bodyPr>
          <a:lstStyle/>
          <a:p>
            <a:r>
              <a:rPr lang="en-US" sz="5000" dirty="0" err="1"/>
              <a:t>dataframe</a:t>
            </a:r>
            <a:r>
              <a:rPr lang="en-US" sz="5000" dirty="0"/>
              <a:t>[1:10 , ]</a:t>
            </a:r>
          </a:p>
        </p:txBody>
      </p:sp>
      <p:sp>
        <p:nvSpPr>
          <p:cNvPr id="2" name="TextBox 1">
            <a:extLst>
              <a:ext uri="{FF2B5EF4-FFF2-40B4-BE49-F238E27FC236}">
                <a16:creationId xmlns:a16="http://schemas.microsoft.com/office/drawing/2014/main" id="{BA9A1675-4363-483D-912C-435E440A45AE}"/>
              </a:ext>
            </a:extLst>
          </p:cNvPr>
          <p:cNvSpPr txBox="1"/>
          <p:nvPr/>
        </p:nvSpPr>
        <p:spPr>
          <a:xfrm>
            <a:off x="450307" y="1043059"/>
            <a:ext cx="8142296" cy="492443"/>
          </a:xfrm>
          <a:prstGeom prst="rect">
            <a:avLst/>
          </a:prstGeom>
          <a:noFill/>
        </p:spPr>
        <p:txBody>
          <a:bodyPr wrap="square" rtlCol="0">
            <a:spAutoFit/>
          </a:bodyPr>
          <a:lstStyle/>
          <a:p>
            <a:r>
              <a:rPr lang="en-US" sz="2600" dirty="0"/>
              <a:t>Will return the first 10 rows and all columns</a:t>
            </a:r>
          </a:p>
        </p:txBody>
      </p:sp>
      <p:sp>
        <p:nvSpPr>
          <p:cNvPr id="5" name="TextBox 4">
            <a:extLst>
              <a:ext uri="{FF2B5EF4-FFF2-40B4-BE49-F238E27FC236}">
                <a16:creationId xmlns:a16="http://schemas.microsoft.com/office/drawing/2014/main" id="{2520A45E-29F5-490C-800A-84848429DF5B}"/>
              </a:ext>
            </a:extLst>
          </p:cNvPr>
          <p:cNvSpPr txBox="1"/>
          <p:nvPr/>
        </p:nvSpPr>
        <p:spPr>
          <a:xfrm>
            <a:off x="2913223" y="4595929"/>
            <a:ext cx="5679380" cy="861774"/>
          </a:xfrm>
          <a:prstGeom prst="rect">
            <a:avLst/>
          </a:prstGeom>
          <a:noFill/>
        </p:spPr>
        <p:txBody>
          <a:bodyPr wrap="square" rtlCol="0">
            <a:spAutoFit/>
          </a:bodyPr>
          <a:lstStyle/>
          <a:p>
            <a:r>
              <a:rPr lang="en-US" sz="5000" dirty="0" err="1"/>
              <a:t>dataframe</a:t>
            </a:r>
            <a:r>
              <a:rPr lang="en-US" sz="5000" dirty="0"/>
              <a:t>[,c(2,4:6) ]</a:t>
            </a:r>
          </a:p>
        </p:txBody>
      </p:sp>
      <p:sp>
        <p:nvSpPr>
          <p:cNvPr id="7" name="TextBox 6">
            <a:extLst>
              <a:ext uri="{FF2B5EF4-FFF2-40B4-BE49-F238E27FC236}">
                <a16:creationId xmlns:a16="http://schemas.microsoft.com/office/drawing/2014/main" id="{45E52267-F2C9-45D3-B6E7-1AF343425296}"/>
              </a:ext>
            </a:extLst>
          </p:cNvPr>
          <p:cNvSpPr txBox="1"/>
          <p:nvPr/>
        </p:nvSpPr>
        <p:spPr>
          <a:xfrm>
            <a:off x="500851" y="2724820"/>
            <a:ext cx="8610983" cy="369332"/>
          </a:xfrm>
          <a:prstGeom prst="rect">
            <a:avLst/>
          </a:prstGeom>
          <a:noFill/>
        </p:spPr>
        <p:txBody>
          <a:bodyPr wrap="square" rtlCol="0">
            <a:spAutoFit/>
          </a:bodyPr>
          <a:lstStyle/>
          <a:p>
            <a:r>
              <a:rPr lang="en-US" dirty="0"/>
              <a:t>If you want to select all elements for the given index, just leave the placeholder empty.</a:t>
            </a:r>
          </a:p>
        </p:txBody>
      </p:sp>
      <p:sp>
        <p:nvSpPr>
          <p:cNvPr id="8" name="TextBox 7">
            <a:extLst>
              <a:ext uri="{FF2B5EF4-FFF2-40B4-BE49-F238E27FC236}">
                <a16:creationId xmlns:a16="http://schemas.microsoft.com/office/drawing/2014/main" id="{7E175C63-A11D-4272-B181-BA96FB99D574}"/>
              </a:ext>
            </a:extLst>
          </p:cNvPr>
          <p:cNvSpPr txBox="1"/>
          <p:nvPr/>
        </p:nvSpPr>
        <p:spPr>
          <a:xfrm>
            <a:off x="450307" y="3763849"/>
            <a:ext cx="8284739" cy="492443"/>
          </a:xfrm>
          <a:prstGeom prst="rect">
            <a:avLst/>
          </a:prstGeom>
          <a:noFill/>
        </p:spPr>
        <p:txBody>
          <a:bodyPr wrap="square" rtlCol="0">
            <a:spAutoFit/>
          </a:bodyPr>
          <a:lstStyle>
            <a:defPPr>
              <a:defRPr lang="en-US"/>
            </a:defPPr>
            <a:lvl1pPr>
              <a:defRPr sz="2600"/>
            </a:lvl1pPr>
          </a:lstStyle>
          <a:p>
            <a:r>
              <a:rPr lang="en-US" dirty="0"/>
              <a:t>What will this command return ?</a:t>
            </a:r>
          </a:p>
        </p:txBody>
      </p:sp>
    </p:spTree>
    <p:extLst>
      <p:ext uri="{BB962C8B-B14F-4D97-AF65-F5344CB8AC3E}">
        <p14:creationId xmlns:p14="http://schemas.microsoft.com/office/powerpoint/2010/main" val="4609470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0EFB9F4-F00F-4B02-B589-8FE1889131BC}"/>
              </a:ext>
            </a:extLst>
          </p:cNvPr>
          <p:cNvSpPr>
            <a:spLocks noGrp="1"/>
          </p:cNvSpPr>
          <p:nvPr>
            <p:ph type="body" sz="quarter" idx="10"/>
          </p:nvPr>
        </p:nvSpPr>
        <p:spPr/>
        <p:txBody>
          <a:bodyPr/>
          <a:lstStyle/>
          <a:p>
            <a:r>
              <a:rPr lang="en-US" dirty="0"/>
              <a:t>Sub setting data frames</a:t>
            </a:r>
          </a:p>
        </p:txBody>
      </p:sp>
      <p:pic>
        <p:nvPicPr>
          <p:cNvPr id="3" name="Picture 2">
            <a:extLst>
              <a:ext uri="{FF2B5EF4-FFF2-40B4-BE49-F238E27FC236}">
                <a16:creationId xmlns:a16="http://schemas.microsoft.com/office/drawing/2014/main" id="{E858555B-BB55-4026-A76A-89962D6BF6DA}"/>
              </a:ext>
            </a:extLst>
          </p:cNvPr>
          <p:cNvPicPr>
            <a:picLocks noChangeAspect="1"/>
          </p:cNvPicPr>
          <p:nvPr/>
        </p:nvPicPr>
        <p:blipFill>
          <a:blip r:embed="rId2"/>
          <a:stretch>
            <a:fillRect/>
          </a:stretch>
        </p:blipFill>
        <p:spPr>
          <a:xfrm>
            <a:off x="795935" y="1303179"/>
            <a:ext cx="7637276" cy="5139778"/>
          </a:xfrm>
          <a:prstGeom prst="rect">
            <a:avLst/>
          </a:prstGeom>
        </p:spPr>
      </p:pic>
    </p:spTree>
    <p:extLst>
      <p:ext uri="{BB962C8B-B14F-4D97-AF65-F5344CB8AC3E}">
        <p14:creationId xmlns:p14="http://schemas.microsoft.com/office/powerpoint/2010/main" val="10995255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0EFB9F4-F00F-4B02-B589-8FE1889131BC}"/>
              </a:ext>
            </a:extLst>
          </p:cNvPr>
          <p:cNvSpPr>
            <a:spLocks noGrp="1"/>
          </p:cNvSpPr>
          <p:nvPr>
            <p:ph type="body" sz="quarter" idx="10"/>
          </p:nvPr>
        </p:nvSpPr>
        <p:spPr/>
        <p:txBody>
          <a:bodyPr/>
          <a:lstStyle/>
          <a:p>
            <a:r>
              <a:rPr lang="en-US" dirty="0"/>
              <a:t>Sub setting data frames</a:t>
            </a:r>
          </a:p>
        </p:txBody>
      </p:sp>
      <p:pic>
        <p:nvPicPr>
          <p:cNvPr id="3" name="Picture 2">
            <a:extLst>
              <a:ext uri="{FF2B5EF4-FFF2-40B4-BE49-F238E27FC236}">
                <a16:creationId xmlns:a16="http://schemas.microsoft.com/office/drawing/2014/main" id="{96620EFD-8339-4818-A395-A20B6D3C1825}"/>
              </a:ext>
            </a:extLst>
          </p:cNvPr>
          <p:cNvPicPr>
            <a:picLocks noChangeAspect="1"/>
          </p:cNvPicPr>
          <p:nvPr/>
        </p:nvPicPr>
        <p:blipFill>
          <a:blip r:embed="rId2"/>
          <a:stretch>
            <a:fillRect/>
          </a:stretch>
        </p:blipFill>
        <p:spPr>
          <a:xfrm>
            <a:off x="681171" y="1714565"/>
            <a:ext cx="7407751" cy="4671983"/>
          </a:xfrm>
          <a:prstGeom prst="rect">
            <a:avLst/>
          </a:prstGeom>
        </p:spPr>
      </p:pic>
      <p:sp>
        <p:nvSpPr>
          <p:cNvPr id="4" name="TextBox 3">
            <a:extLst>
              <a:ext uri="{FF2B5EF4-FFF2-40B4-BE49-F238E27FC236}">
                <a16:creationId xmlns:a16="http://schemas.microsoft.com/office/drawing/2014/main" id="{E3CE9EA0-1E96-445F-95B5-78858A2521DE}"/>
              </a:ext>
            </a:extLst>
          </p:cNvPr>
          <p:cNvSpPr txBox="1"/>
          <p:nvPr/>
        </p:nvSpPr>
        <p:spPr>
          <a:xfrm>
            <a:off x="303566" y="1262390"/>
            <a:ext cx="6811725" cy="369332"/>
          </a:xfrm>
          <a:prstGeom prst="rect">
            <a:avLst/>
          </a:prstGeom>
          <a:noFill/>
        </p:spPr>
        <p:txBody>
          <a:bodyPr wrap="square" rtlCol="0">
            <a:spAutoFit/>
          </a:bodyPr>
          <a:lstStyle/>
          <a:p>
            <a:r>
              <a:rPr lang="en-US" dirty="0"/>
              <a:t>Can subset by using more than 1 condition</a:t>
            </a:r>
          </a:p>
        </p:txBody>
      </p:sp>
    </p:spTree>
    <p:extLst>
      <p:ext uri="{BB962C8B-B14F-4D97-AF65-F5344CB8AC3E}">
        <p14:creationId xmlns:p14="http://schemas.microsoft.com/office/powerpoint/2010/main" val="27679113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0EFB9F4-F00F-4B02-B589-8FE1889131BC}"/>
              </a:ext>
            </a:extLst>
          </p:cNvPr>
          <p:cNvSpPr>
            <a:spLocks noGrp="1"/>
          </p:cNvSpPr>
          <p:nvPr>
            <p:ph type="body" sz="quarter" idx="10"/>
          </p:nvPr>
        </p:nvSpPr>
        <p:spPr/>
        <p:txBody>
          <a:bodyPr/>
          <a:lstStyle/>
          <a:p>
            <a:r>
              <a:rPr lang="en-US" dirty="0"/>
              <a:t>Sub setting data frames</a:t>
            </a:r>
          </a:p>
        </p:txBody>
      </p:sp>
      <p:pic>
        <p:nvPicPr>
          <p:cNvPr id="3" name="Picture 2">
            <a:extLst>
              <a:ext uri="{FF2B5EF4-FFF2-40B4-BE49-F238E27FC236}">
                <a16:creationId xmlns:a16="http://schemas.microsoft.com/office/drawing/2014/main" id="{7063F3A0-0DA1-445D-BB8C-B439C74EE04D}"/>
              </a:ext>
            </a:extLst>
          </p:cNvPr>
          <p:cNvPicPr>
            <a:picLocks noChangeAspect="1"/>
          </p:cNvPicPr>
          <p:nvPr/>
        </p:nvPicPr>
        <p:blipFill>
          <a:blip r:embed="rId2"/>
          <a:stretch>
            <a:fillRect/>
          </a:stretch>
        </p:blipFill>
        <p:spPr>
          <a:xfrm>
            <a:off x="647854" y="1321112"/>
            <a:ext cx="7822377" cy="5001580"/>
          </a:xfrm>
          <a:prstGeom prst="rect">
            <a:avLst/>
          </a:prstGeom>
        </p:spPr>
      </p:pic>
    </p:spTree>
    <p:extLst>
      <p:ext uri="{BB962C8B-B14F-4D97-AF65-F5344CB8AC3E}">
        <p14:creationId xmlns:p14="http://schemas.microsoft.com/office/powerpoint/2010/main" val="16621656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C1F3162-E40D-41F5-A9F5-CFF01812FBF6}"/>
              </a:ext>
            </a:extLst>
          </p:cNvPr>
          <p:cNvSpPr>
            <a:spLocks noGrp="1"/>
          </p:cNvSpPr>
          <p:nvPr>
            <p:ph type="body" sz="quarter" idx="10"/>
          </p:nvPr>
        </p:nvSpPr>
        <p:spPr/>
        <p:txBody>
          <a:bodyPr/>
          <a:lstStyle/>
          <a:p>
            <a:r>
              <a:rPr lang="en-US" dirty="0"/>
              <a:t>Data Frames: creating new data frame</a:t>
            </a:r>
          </a:p>
        </p:txBody>
      </p:sp>
      <p:pic>
        <p:nvPicPr>
          <p:cNvPr id="3" name="Picture 2">
            <a:extLst>
              <a:ext uri="{FF2B5EF4-FFF2-40B4-BE49-F238E27FC236}">
                <a16:creationId xmlns:a16="http://schemas.microsoft.com/office/drawing/2014/main" id="{AA8A143C-4FD4-4AD6-82A0-4976863EF301}"/>
              </a:ext>
            </a:extLst>
          </p:cNvPr>
          <p:cNvPicPr>
            <a:picLocks noChangeAspect="1"/>
          </p:cNvPicPr>
          <p:nvPr/>
        </p:nvPicPr>
        <p:blipFill>
          <a:blip r:embed="rId2"/>
          <a:stretch>
            <a:fillRect/>
          </a:stretch>
        </p:blipFill>
        <p:spPr>
          <a:xfrm>
            <a:off x="238228" y="1663633"/>
            <a:ext cx="8584994" cy="2883901"/>
          </a:xfrm>
          <a:prstGeom prst="rect">
            <a:avLst/>
          </a:prstGeom>
        </p:spPr>
      </p:pic>
    </p:spTree>
    <p:extLst>
      <p:ext uri="{BB962C8B-B14F-4D97-AF65-F5344CB8AC3E}">
        <p14:creationId xmlns:p14="http://schemas.microsoft.com/office/powerpoint/2010/main" val="24666056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9084387-8DC3-4753-A18D-5FB6F8C3A51B}"/>
              </a:ext>
            </a:extLst>
          </p:cNvPr>
          <p:cNvSpPr>
            <a:spLocks noGrp="1"/>
          </p:cNvSpPr>
          <p:nvPr>
            <p:ph type="body" sz="quarter" idx="10"/>
          </p:nvPr>
        </p:nvSpPr>
        <p:spPr/>
        <p:txBody>
          <a:bodyPr/>
          <a:lstStyle/>
          <a:p>
            <a:r>
              <a:rPr lang="en-US" dirty="0"/>
              <a:t>Operations with </a:t>
            </a:r>
            <a:r>
              <a:rPr lang="en-US" dirty="0" err="1"/>
              <a:t>dataframes</a:t>
            </a:r>
            <a:endParaRPr lang="en-US" dirty="0"/>
          </a:p>
        </p:txBody>
      </p:sp>
      <p:pic>
        <p:nvPicPr>
          <p:cNvPr id="4" name="Picture 3">
            <a:extLst>
              <a:ext uri="{FF2B5EF4-FFF2-40B4-BE49-F238E27FC236}">
                <a16:creationId xmlns:a16="http://schemas.microsoft.com/office/drawing/2014/main" id="{65EF2539-0521-436D-A3A5-D193A2FA9B86}"/>
              </a:ext>
            </a:extLst>
          </p:cNvPr>
          <p:cNvPicPr>
            <a:picLocks noChangeAspect="1"/>
          </p:cNvPicPr>
          <p:nvPr/>
        </p:nvPicPr>
        <p:blipFill>
          <a:blip r:embed="rId2"/>
          <a:stretch>
            <a:fillRect/>
          </a:stretch>
        </p:blipFill>
        <p:spPr>
          <a:xfrm>
            <a:off x="147050" y="2184523"/>
            <a:ext cx="8657225" cy="2346838"/>
          </a:xfrm>
          <a:prstGeom prst="rect">
            <a:avLst/>
          </a:prstGeom>
        </p:spPr>
      </p:pic>
    </p:spTree>
    <p:extLst>
      <p:ext uri="{BB962C8B-B14F-4D97-AF65-F5344CB8AC3E}">
        <p14:creationId xmlns:p14="http://schemas.microsoft.com/office/powerpoint/2010/main" val="8154222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Intro to R: Data Structures</a:t>
            </a:r>
          </a:p>
        </p:txBody>
      </p:sp>
      <p:sp>
        <p:nvSpPr>
          <p:cNvPr id="3" name="Rectangle 2">
            <a:extLst>
              <a:ext uri="{FF2B5EF4-FFF2-40B4-BE49-F238E27FC236}">
                <a16:creationId xmlns:a16="http://schemas.microsoft.com/office/drawing/2014/main" id="{6E778C0C-9615-426C-8769-D8CFC64A7CE7}"/>
              </a:ext>
            </a:extLst>
          </p:cNvPr>
          <p:cNvSpPr/>
          <p:nvPr/>
        </p:nvSpPr>
        <p:spPr>
          <a:xfrm>
            <a:off x="85007" y="1036144"/>
            <a:ext cx="8673014" cy="1477328"/>
          </a:xfrm>
          <a:prstGeom prst="rect">
            <a:avLst/>
          </a:prstGeom>
        </p:spPr>
        <p:txBody>
          <a:bodyPr wrap="square">
            <a:spAutoFit/>
          </a:bodyPr>
          <a:lstStyle/>
          <a:p>
            <a:pPr marL="285750" indent="-285750">
              <a:buFont typeface="Arial" panose="020B0604020202020204" pitchFamily="34" charset="0"/>
              <a:buChar char="•"/>
            </a:pPr>
            <a:r>
              <a:rPr lang="en-US" dirty="0">
                <a:solidFill>
                  <a:srgbClr val="333333"/>
                </a:solidFill>
                <a:latin typeface="Helvetica Neue"/>
              </a:rPr>
              <a:t>A data frame is the most common way of storing data in R, and if </a:t>
            </a:r>
            <a:r>
              <a:rPr lang="en-US" dirty="0">
                <a:solidFill>
                  <a:srgbClr val="428BCA"/>
                </a:solidFill>
                <a:latin typeface="Helvetica Neue"/>
                <a:hlinkClick r:id="rId2"/>
              </a:rPr>
              <a:t>used systematically</a:t>
            </a:r>
            <a:r>
              <a:rPr lang="en-US" dirty="0">
                <a:solidFill>
                  <a:srgbClr val="333333"/>
                </a:solidFill>
                <a:latin typeface="Helvetica Neue"/>
              </a:rPr>
              <a:t> makes data analysis easier. </a:t>
            </a:r>
          </a:p>
          <a:p>
            <a:pPr marL="285750" indent="-285750">
              <a:buFont typeface="Arial" panose="020B0604020202020204" pitchFamily="34" charset="0"/>
              <a:buChar char="•"/>
            </a:pPr>
            <a:endParaRPr lang="en-US" dirty="0">
              <a:solidFill>
                <a:srgbClr val="333333"/>
              </a:solidFill>
              <a:latin typeface="Helvetica Neue"/>
            </a:endParaRPr>
          </a:p>
          <a:p>
            <a:pPr marL="285750" indent="-285750">
              <a:buFont typeface="Arial" panose="020B0604020202020204" pitchFamily="34" charset="0"/>
              <a:buChar char="•"/>
            </a:pPr>
            <a:r>
              <a:rPr lang="en-US" dirty="0">
                <a:solidFill>
                  <a:srgbClr val="333333"/>
                </a:solidFill>
                <a:latin typeface="Helvetica Neue"/>
              </a:rPr>
              <a:t>Under the hood, a data frame is a list of equal-length vectors that can also have different types</a:t>
            </a:r>
            <a:endParaRPr lang="en-US" dirty="0"/>
          </a:p>
        </p:txBody>
      </p:sp>
      <p:pic>
        <p:nvPicPr>
          <p:cNvPr id="4" name="Picture 3">
            <a:extLst>
              <a:ext uri="{FF2B5EF4-FFF2-40B4-BE49-F238E27FC236}">
                <a16:creationId xmlns:a16="http://schemas.microsoft.com/office/drawing/2014/main" id="{B7FC49D4-8827-42B8-AC4B-179B2CE60544}"/>
              </a:ext>
            </a:extLst>
          </p:cNvPr>
          <p:cNvPicPr>
            <a:picLocks noChangeAspect="1"/>
          </p:cNvPicPr>
          <p:nvPr/>
        </p:nvPicPr>
        <p:blipFill>
          <a:blip r:embed="rId3"/>
          <a:stretch>
            <a:fillRect/>
          </a:stretch>
        </p:blipFill>
        <p:spPr>
          <a:xfrm>
            <a:off x="634106" y="2726888"/>
            <a:ext cx="8054991" cy="2750173"/>
          </a:xfrm>
          <a:prstGeom prst="rect">
            <a:avLst/>
          </a:prstGeom>
        </p:spPr>
      </p:pic>
      <p:sp>
        <p:nvSpPr>
          <p:cNvPr id="5" name="Rectangle 4">
            <a:extLst>
              <a:ext uri="{FF2B5EF4-FFF2-40B4-BE49-F238E27FC236}">
                <a16:creationId xmlns:a16="http://schemas.microsoft.com/office/drawing/2014/main" id="{88CC7402-4BE4-4AE2-BC71-6BDD545EA390}"/>
              </a:ext>
            </a:extLst>
          </p:cNvPr>
          <p:cNvSpPr/>
          <p:nvPr/>
        </p:nvSpPr>
        <p:spPr>
          <a:xfrm>
            <a:off x="981075" y="3895725"/>
            <a:ext cx="312028" cy="1647825"/>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7A9AC452-76ED-4220-BF88-1E4629666C93}"/>
              </a:ext>
            </a:extLst>
          </p:cNvPr>
          <p:cNvCxnSpPr>
            <a:cxnSpLocks/>
            <a:stCxn id="5" idx="2"/>
            <a:endCxn id="7" idx="0"/>
          </p:cNvCxnSpPr>
          <p:nvPr/>
        </p:nvCxnSpPr>
        <p:spPr>
          <a:xfrm>
            <a:off x="1137089" y="5543550"/>
            <a:ext cx="156014" cy="501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79E84F2-E9E5-4411-923E-3B7922258AA4}"/>
              </a:ext>
            </a:extLst>
          </p:cNvPr>
          <p:cNvSpPr txBox="1"/>
          <p:nvPr/>
        </p:nvSpPr>
        <p:spPr>
          <a:xfrm>
            <a:off x="454903" y="6045333"/>
            <a:ext cx="1676399" cy="369332"/>
          </a:xfrm>
          <a:prstGeom prst="rect">
            <a:avLst/>
          </a:prstGeom>
          <a:noFill/>
        </p:spPr>
        <p:txBody>
          <a:bodyPr wrap="square" rtlCol="0">
            <a:spAutoFit/>
          </a:bodyPr>
          <a:lstStyle/>
          <a:p>
            <a:r>
              <a:rPr lang="en-US" dirty="0"/>
              <a:t>Row numbers</a:t>
            </a:r>
          </a:p>
        </p:txBody>
      </p:sp>
    </p:spTree>
    <p:extLst>
      <p:ext uri="{BB962C8B-B14F-4D97-AF65-F5344CB8AC3E}">
        <p14:creationId xmlns:p14="http://schemas.microsoft.com/office/powerpoint/2010/main" val="241229485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Intro to R: Data Structures</a:t>
            </a:r>
          </a:p>
        </p:txBody>
      </p:sp>
      <p:pic>
        <p:nvPicPr>
          <p:cNvPr id="3" name="Picture 2">
            <a:extLst>
              <a:ext uri="{FF2B5EF4-FFF2-40B4-BE49-F238E27FC236}">
                <a16:creationId xmlns:a16="http://schemas.microsoft.com/office/drawing/2014/main" id="{A062E6F4-CB20-46BE-9ADD-D170E2DEA11A}"/>
              </a:ext>
            </a:extLst>
          </p:cNvPr>
          <p:cNvPicPr>
            <a:picLocks noChangeAspect="1"/>
          </p:cNvPicPr>
          <p:nvPr/>
        </p:nvPicPr>
        <p:blipFill>
          <a:blip r:embed="rId2"/>
          <a:stretch>
            <a:fillRect/>
          </a:stretch>
        </p:blipFill>
        <p:spPr>
          <a:xfrm>
            <a:off x="344623" y="1752361"/>
            <a:ext cx="8349069" cy="2051750"/>
          </a:xfrm>
          <a:prstGeom prst="rect">
            <a:avLst/>
          </a:prstGeom>
        </p:spPr>
      </p:pic>
    </p:spTree>
    <p:extLst>
      <p:ext uri="{BB962C8B-B14F-4D97-AF65-F5344CB8AC3E}">
        <p14:creationId xmlns:p14="http://schemas.microsoft.com/office/powerpoint/2010/main" val="24585954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Intro to R: Data Structures</a:t>
            </a:r>
          </a:p>
        </p:txBody>
      </p:sp>
      <p:pic>
        <p:nvPicPr>
          <p:cNvPr id="3" name="Picture 2">
            <a:extLst>
              <a:ext uri="{FF2B5EF4-FFF2-40B4-BE49-F238E27FC236}">
                <a16:creationId xmlns:a16="http://schemas.microsoft.com/office/drawing/2014/main" id="{52AA8C96-0818-42AF-87B4-5E423DEC26CB}"/>
              </a:ext>
            </a:extLst>
          </p:cNvPr>
          <p:cNvPicPr>
            <a:picLocks noChangeAspect="1"/>
          </p:cNvPicPr>
          <p:nvPr/>
        </p:nvPicPr>
        <p:blipFill>
          <a:blip r:embed="rId2"/>
          <a:stretch>
            <a:fillRect/>
          </a:stretch>
        </p:blipFill>
        <p:spPr>
          <a:xfrm>
            <a:off x="217923" y="951160"/>
            <a:ext cx="8779037" cy="4499434"/>
          </a:xfrm>
          <a:prstGeom prst="rect">
            <a:avLst/>
          </a:prstGeom>
        </p:spPr>
      </p:pic>
    </p:spTree>
    <p:extLst>
      <p:ext uri="{BB962C8B-B14F-4D97-AF65-F5344CB8AC3E}">
        <p14:creationId xmlns:p14="http://schemas.microsoft.com/office/powerpoint/2010/main" val="8833373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Intro to R: Data Structures</a:t>
            </a:r>
          </a:p>
        </p:txBody>
      </p:sp>
      <p:pic>
        <p:nvPicPr>
          <p:cNvPr id="3" name="Picture 2">
            <a:extLst>
              <a:ext uri="{FF2B5EF4-FFF2-40B4-BE49-F238E27FC236}">
                <a16:creationId xmlns:a16="http://schemas.microsoft.com/office/drawing/2014/main" id="{EAD90946-F6F2-4E0C-B215-ADE7307DE6F2}"/>
              </a:ext>
            </a:extLst>
          </p:cNvPr>
          <p:cNvPicPr>
            <a:picLocks noChangeAspect="1"/>
          </p:cNvPicPr>
          <p:nvPr/>
        </p:nvPicPr>
        <p:blipFill>
          <a:blip r:embed="rId2"/>
          <a:stretch>
            <a:fillRect/>
          </a:stretch>
        </p:blipFill>
        <p:spPr>
          <a:xfrm>
            <a:off x="156112" y="1098199"/>
            <a:ext cx="8831775" cy="2460280"/>
          </a:xfrm>
          <a:prstGeom prst="rect">
            <a:avLst/>
          </a:prstGeom>
        </p:spPr>
      </p:pic>
      <p:sp>
        <p:nvSpPr>
          <p:cNvPr id="4" name="TextBox 3">
            <a:extLst>
              <a:ext uri="{FF2B5EF4-FFF2-40B4-BE49-F238E27FC236}">
                <a16:creationId xmlns:a16="http://schemas.microsoft.com/office/drawing/2014/main" id="{12D8805D-3ACE-4224-988E-21C1BCCD77E6}"/>
              </a:ext>
            </a:extLst>
          </p:cNvPr>
          <p:cNvSpPr txBox="1"/>
          <p:nvPr/>
        </p:nvSpPr>
        <p:spPr>
          <a:xfrm>
            <a:off x="546802" y="4208997"/>
            <a:ext cx="6547839" cy="369332"/>
          </a:xfrm>
          <a:prstGeom prst="rect">
            <a:avLst/>
          </a:prstGeom>
          <a:noFill/>
        </p:spPr>
        <p:txBody>
          <a:bodyPr wrap="square" rtlCol="0">
            <a:spAutoFit/>
          </a:bodyPr>
          <a:lstStyle/>
          <a:p>
            <a:r>
              <a:rPr lang="en-US" dirty="0"/>
              <a:t>Two columns (vectors) in the df have different types</a:t>
            </a:r>
          </a:p>
        </p:txBody>
      </p:sp>
    </p:spTree>
    <p:extLst>
      <p:ext uri="{BB962C8B-B14F-4D97-AF65-F5344CB8AC3E}">
        <p14:creationId xmlns:p14="http://schemas.microsoft.com/office/powerpoint/2010/main" val="37567524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DF777B-D37E-473E-A94A-48CB005D4E70}"/>
              </a:ext>
            </a:extLst>
          </p:cNvPr>
          <p:cNvSpPr>
            <a:spLocks noGrp="1"/>
          </p:cNvSpPr>
          <p:nvPr>
            <p:ph type="body" sz="quarter" idx="10"/>
          </p:nvPr>
        </p:nvSpPr>
        <p:spPr/>
        <p:txBody>
          <a:bodyPr/>
          <a:lstStyle/>
          <a:p>
            <a:r>
              <a:rPr lang="en-US" dirty="0"/>
              <a:t>List</a:t>
            </a:r>
          </a:p>
        </p:txBody>
      </p:sp>
    </p:spTree>
    <p:extLst>
      <p:ext uri="{BB962C8B-B14F-4D97-AF65-F5344CB8AC3E}">
        <p14:creationId xmlns:p14="http://schemas.microsoft.com/office/powerpoint/2010/main" val="337767998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1A21D59-36FA-44BB-96EF-81972ACDD365}"/>
              </a:ext>
            </a:extLst>
          </p:cNvPr>
          <p:cNvSpPr>
            <a:spLocks noGrp="1"/>
          </p:cNvSpPr>
          <p:nvPr>
            <p:ph type="body" sz="quarter" idx="10"/>
          </p:nvPr>
        </p:nvSpPr>
        <p:spPr/>
        <p:txBody>
          <a:bodyPr/>
          <a:lstStyle/>
          <a:p>
            <a:r>
              <a:rPr lang="en-US" dirty="0"/>
              <a:t>List</a:t>
            </a:r>
          </a:p>
        </p:txBody>
      </p:sp>
      <p:sp>
        <p:nvSpPr>
          <p:cNvPr id="4" name="Rectangle 3">
            <a:extLst>
              <a:ext uri="{FF2B5EF4-FFF2-40B4-BE49-F238E27FC236}">
                <a16:creationId xmlns:a16="http://schemas.microsoft.com/office/drawing/2014/main" id="{1405DEB0-6B25-4896-9F7A-BE309778944B}"/>
              </a:ext>
            </a:extLst>
          </p:cNvPr>
          <p:cNvSpPr/>
          <p:nvPr/>
        </p:nvSpPr>
        <p:spPr>
          <a:xfrm>
            <a:off x="673768" y="1582341"/>
            <a:ext cx="7559534" cy="3877985"/>
          </a:xfrm>
          <a:prstGeom prst="rect">
            <a:avLst/>
          </a:prstGeom>
        </p:spPr>
        <p:txBody>
          <a:bodyPr wrap="square">
            <a:spAutoFit/>
          </a:bodyPr>
          <a:lstStyle/>
          <a:p>
            <a:pPr>
              <a:lnSpc>
                <a:spcPct val="150000"/>
              </a:lnSpc>
              <a:spcBef>
                <a:spcPts val="600"/>
              </a:spcBef>
              <a:spcAft>
                <a:spcPts val="600"/>
              </a:spcAft>
            </a:pPr>
            <a:r>
              <a:rPr lang="en-US" b="1" dirty="0">
                <a:solidFill>
                  <a:srgbClr val="3A3A3A"/>
                </a:solidFill>
                <a:latin typeface="karmina-sans"/>
              </a:rPr>
              <a:t>So far we have looked at the following objects</a:t>
            </a:r>
          </a:p>
          <a:p>
            <a:pPr marL="285750" indent="-285750">
              <a:lnSpc>
                <a:spcPct val="150000"/>
              </a:lnSpc>
              <a:spcBef>
                <a:spcPts val="600"/>
              </a:spcBef>
              <a:spcAft>
                <a:spcPts val="600"/>
              </a:spcAft>
              <a:buFont typeface="Arial" panose="020B0604020202020204" pitchFamily="34" charset="0"/>
              <a:buChar char="•"/>
            </a:pPr>
            <a:r>
              <a:rPr lang="en-US" b="1" dirty="0">
                <a:solidFill>
                  <a:srgbClr val="3A3A3A"/>
                </a:solidFill>
                <a:latin typeface="karmina-sans"/>
              </a:rPr>
              <a:t>Vectors</a:t>
            </a:r>
            <a:r>
              <a:rPr lang="en-US" dirty="0">
                <a:solidFill>
                  <a:srgbClr val="3A3A3A"/>
                </a:solidFill>
                <a:latin typeface="karmina-sans"/>
              </a:rPr>
              <a:t> (one dimensional array): can hold numeric, character or logical values. The elements in a vector all have the same data type.</a:t>
            </a:r>
          </a:p>
          <a:p>
            <a:pPr marL="285750" indent="-285750">
              <a:lnSpc>
                <a:spcPct val="150000"/>
              </a:lnSpc>
              <a:spcBef>
                <a:spcPts val="600"/>
              </a:spcBef>
              <a:spcAft>
                <a:spcPts val="600"/>
              </a:spcAft>
              <a:buFont typeface="Arial" panose="020B0604020202020204" pitchFamily="34" charset="0"/>
              <a:buChar char="•"/>
            </a:pPr>
            <a:r>
              <a:rPr lang="en-US" b="1" dirty="0">
                <a:solidFill>
                  <a:srgbClr val="3A3A3A"/>
                </a:solidFill>
                <a:latin typeface="karmina-sans"/>
              </a:rPr>
              <a:t>Matrices</a:t>
            </a:r>
            <a:r>
              <a:rPr lang="en-US" dirty="0">
                <a:solidFill>
                  <a:srgbClr val="3A3A3A"/>
                </a:solidFill>
                <a:latin typeface="karmina-sans"/>
              </a:rPr>
              <a:t> (two dimensional array): can hold numeric, character or logical values. The elements in a matrix all have the same data type.</a:t>
            </a:r>
          </a:p>
          <a:p>
            <a:pPr marL="285750" indent="-285750">
              <a:lnSpc>
                <a:spcPct val="150000"/>
              </a:lnSpc>
              <a:spcBef>
                <a:spcPts val="600"/>
              </a:spcBef>
              <a:spcAft>
                <a:spcPts val="600"/>
              </a:spcAft>
              <a:buFont typeface="Arial" panose="020B0604020202020204" pitchFamily="34" charset="0"/>
              <a:buChar char="•"/>
            </a:pPr>
            <a:r>
              <a:rPr lang="en-US" b="1" dirty="0">
                <a:solidFill>
                  <a:srgbClr val="3A3A3A"/>
                </a:solidFill>
                <a:latin typeface="karmina-sans"/>
              </a:rPr>
              <a:t>Data frames</a:t>
            </a:r>
            <a:r>
              <a:rPr lang="en-US" dirty="0">
                <a:solidFill>
                  <a:srgbClr val="3A3A3A"/>
                </a:solidFill>
                <a:latin typeface="karmina-sans"/>
              </a:rPr>
              <a:t> (two-dimensional objects): can hold numeric, character or logical values. Within a column all elements have the same data type, but different columns can be of different data type.</a:t>
            </a:r>
            <a:endParaRPr lang="en-US" b="0" i="0" dirty="0">
              <a:solidFill>
                <a:srgbClr val="3A3A3A"/>
              </a:solidFill>
              <a:effectLst/>
              <a:latin typeface="karmina-sans"/>
            </a:endParaRPr>
          </a:p>
        </p:txBody>
      </p:sp>
    </p:spTree>
    <p:extLst>
      <p:ext uri="{BB962C8B-B14F-4D97-AF65-F5344CB8AC3E}">
        <p14:creationId xmlns:p14="http://schemas.microsoft.com/office/powerpoint/2010/main" val="96627940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9229314-B1F4-4307-94C6-E332442FF085}"/>
              </a:ext>
            </a:extLst>
          </p:cNvPr>
          <p:cNvSpPr>
            <a:spLocks noGrp="1"/>
          </p:cNvSpPr>
          <p:nvPr>
            <p:ph type="body" sz="quarter" idx="10"/>
          </p:nvPr>
        </p:nvSpPr>
        <p:spPr/>
        <p:txBody>
          <a:bodyPr/>
          <a:lstStyle/>
          <a:p>
            <a:r>
              <a:rPr lang="en-US" dirty="0"/>
              <a:t>List</a:t>
            </a:r>
          </a:p>
        </p:txBody>
      </p:sp>
      <p:sp>
        <p:nvSpPr>
          <p:cNvPr id="3" name="Rectangle 2">
            <a:extLst>
              <a:ext uri="{FF2B5EF4-FFF2-40B4-BE49-F238E27FC236}">
                <a16:creationId xmlns:a16="http://schemas.microsoft.com/office/drawing/2014/main" id="{0A1AA696-1F3D-431C-BC4A-B082AC8F0815}"/>
              </a:ext>
            </a:extLst>
          </p:cNvPr>
          <p:cNvSpPr/>
          <p:nvPr/>
        </p:nvSpPr>
        <p:spPr>
          <a:xfrm>
            <a:off x="588621" y="2136339"/>
            <a:ext cx="8025989" cy="2031325"/>
          </a:xfrm>
          <a:prstGeom prst="rect">
            <a:avLst/>
          </a:prstGeom>
        </p:spPr>
        <p:txBody>
          <a:bodyPr wrap="square">
            <a:spAutoFit/>
          </a:bodyPr>
          <a:lstStyle/>
          <a:p>
            <a:r>
              <a:rPr lang="en-US" dirty="0">
                <a:solidFill>
                  <a:srgbClr val="3A3A3A"/>
                </a:solidFill>
                <a:latin typeface="karmina-sans"/>
              </a:rPr>
              <a:t>A list in R allows you to gather a variety of objects under one name (that is, the name of the list) in an ordered way. These objects can be matrices, vectors, data frames, even other lists, etc. It is not even required that these objects are related to each other in any way.</a:t>
            </a:r>
          </a:p>
          <a:p>
            <a:endParaRPr lang="en-US" dirty="0">
              <a:solidFill>
                <a:srgbClr val="3A3A3A"/>
              </a:solidFill>
              <a:latin typeface="karmina-sans"/>
            </a:endParaRPr>
          </a:p>
          <a:p>
            <a:r>
              <a:rPr lang="en-US" dirty="0">
                <a:solidFill>
                  <a:srgbClr val="3A3A3A"/>
                </a:solidFill>
                <a:latin typeface="karmina-sans"/>
              </a:rPr>
              <a:t>You could say that a list is some kind super data type: you can store practically any piece of information in it!</a:t>
            </a:r>
            <a:endParaRPr lang="en-US" b="0" i="0" dirty="0">
              <a:solidFill>
                <a:srgbClr val="3A3A3A"/>
              </a:solidFill>
              <a:effectLst/>
              <a:latin typeface="karmina-sans"/>
            </a:endParaRPr>
          </a:p>
        </p:txBody>
      </p:sp>
    </p:spTree>
    <p:extLst>
      <p:ext uri="{BB962C8B-B14F-4D97-AF65-F5344CB8AC3E}">
        <p14:creationId xmlns:p14="http://schemas.microsoft.com/office/powerpoint/2010/main" val="23562230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261FBBD-536E-43CF-AF73-5DF75884C13B}"/>
              </a:ext>
            </a:extLst>
          </p:cNvPr>
          <p:cNvSpPr>
            <a:spLocks noGrp="1"/>
          </p:cNvSpPr>
          <p:nvPr>
            <p:ph type="body" sz="quarter" idx="10"/>
          </p:nvPr>
        </p:nvSpPr>
        <p:spPr/>
        <p:txBody>
          <a:bodyPr/>
          <a:lstStyle/>
          <a:p>
            <a:r>
              <a:rPr lang="en-US" dirty="0"/>
              <a:t>List</a:t>
            </a:r>
          </a:p>
        </p:txBody>
      </p:sp>
      <p:sp>
        <p:nvSpPr>
          <p:cNvPr id="3" name="Rectangle 1">
            <a:extLst>
              <a:ext uri="{FF2B5EF4-FFF2-40B4-BE49-F238E27FC236}">
                <a16:creationId xmlns:a16="http://schemas.microsoft.com/office/drawing/2014/main" id="{8334D08A-A4D7-4C49-92CA-7BFDC30D50FA}"/>
              </a:ext>
            </a:extLst>
          </p:cNvPr>
          <p:cNvSpPr>
            <a:spLocks noChangeArrowheads="1"/>
          </p:cNvSpPr>
          <p:nvPr/>
        </p:nvSpPr>
        <p:spPr bwMode="auto">
          <a:xfrm>
            <a:off x="407220" y="1620007"/>
            <a:ext cx="8022287" cy="1969770"/>
          </a:xfrm>
          <a:prstGeom prst="rect">
            <a:avLst/>
          </a:prstGeom>
          <a:solidFill>
            <a:srgbClr val="EB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ts val="600"/>
              </a:spcBef>
              <a:spcAft>
                <a:spcPts val="600"/>
              </a:spcAft>
              <a:buClrTx/>
              <a:buSzTx/>
              <a:buFontTx/>
              <a:buNone/>
              <a:tabLst/>
            </a:pPr>
            <a:r>
              <a:rPr kumimoji="0" lang="en-US" altLang="en-US" b="0" i="0" u="none" strike="noStrike" cap="none" normalizeH="0" baseline="0" dirty="0">
                <a:ln>
                  <a:noFill/>
                </a:ln>
                <a:solidFill>
                  <a:srgbClr val="3A3A3A"/>
                </a:solidFill>
                <a:effectLst/>
                <a:latin typeface="karmina-sans"/>
              </a:rPr>
              <a:t>Let us create our first list! To construct a list you use the function </a:t>
            </a:r>
            <a:r>
              <a:rPr kumimoji="0" lang="en-US" altLang="en-US" b="0" i="0" u="none" strike="noStrike" cap="none" normalizeH="0" baseline="0" dirty="0">
                <a:ln>
                  <a:noFill/>
                </a:ln>
                <a:solidFill>
                  <a:srgbClr val="33AACC"/>
                </a:solidFill>
                <a:effectLst/>
                <a:latin typeface="Courier New" panose="02070309020205020404" pitchFamily="49" charset="0"/>
                <a:cs typeface="Courier New" panose="02070309020205020404" pitchFamily="49" charset="0"/>
                <a:hlinkClick r:id="rId2"/>
              </a:rPr>
              <a:t>list()</a:t>
            </a:r>
            <a:r>
              <a:rPr kumimoji="0" lang="en-US" altLang="en-US" b="0" i="0" u="none" strike="noStrike" cap="none" normalizeH="0" baseline="0" dirty="0">
                <a:ln>
                  <a:noFill/>
                </a:ln>
                <a:solidFill>
                  <a:srgbClr val="3A3A3A"/>
                </a:solidFill>
                <a:effectLst/>
                <a:latin typeface="karmina-sans"/>
              </a:rPr>
              <a:t>:</a:t>
            </a:r>
            <a:endParaRPr kumimoji="0" lang="en-US" altLang="en-US"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50000"/>
              </a:lnSpc>
              <a:spcBef>
                <a:spcPts val="600"/>
              </a:spcBef>
              <a:spcAft>
                <a:spcPts val="600"/>
              </a:spcAft>
              <a:buClrTx/>
              <a:buSzTx/>
              <a:buFontTx/>
              <a:buNone/>
              <a:tabLst/>
            </a:pPr>
            <a:r>
              <a:rPr kumimoji="0" lang="en-US" altLang="en-US" b="0" i="0" u="none" strike="noStrike" cap="none" normalizeH="0" baseline="0" dirty="0" err="1">
                <a:ln>
                  <a:noFill/>
                </a:ln>
                <a:solidFill>
                  <a:srgbClr val="333333"/>
                </a:solidFill>
                <a:effectLst/>
                <a:latin typeface="Courier New" panose="02070309020205020404" pitchFamily="49" charset="0"/>
                <a:cs typeface="Courier New" panose="02070309020205020404" pitchFamily="49" charset="0"/>
              </a:rPr>
              <a:t>my_list</a:t>
            </a:r>
            <a:r>
              <a:rPr kumimoji="0" lang="en-US" altLang="en-US"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rPr>
              <a:t> &lt;- list(comp1, comp2 ...)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ts val="600"/>
              </a:spcBef>
              <a:spcAft>
                <a:spcPts val="600"/>
              </a:spcAft>
              <a:buClrTx/>
              <a:buSzTx/>
              <a:buFontTx/>
              <a:buNone/>
              <a:tabLst/>
            </a:pPr>
            <a:r>
              <a:rPr kumimoji="0" lang="en-US" altLang="en-US" b="0" i="0" u="none" strike="noStrike" cap="none" normalizeH="0" baseline="0" dirty="0">
                <a:ln>
                  <a:noFill/>
                </a:ln>
                <a:solidFill>
                  <a:srgbClr val="3A3A3A"/>
                </a:solidFill>
                <a:effectLst/>
                <a:latin typeface="karmina-sans"/>
              </a:rPr>
              <a:t>The arguments to the list function are the list components. Remember, these components can be matrices, vectors, other lists,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4867649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60D691E-69AC-449D-83FE-80E6EB9F401E}"/>
              </a:ext>
            </a:extLst>
          </p:cNvPr>
          <p:cNvSpPr>
            <a:spLocks noGrp="1"/>
          </p:cNvSpPr>
          <p:nvPr>
            <p:ph type="body" sz="quarter" idx="10"/>
          </p:nvPr>
        </p:nvSpPr>
        <p:spPr/>
        <p:txBody>
          <a:bodyPr/>
          <a:lstStyle/>
          <a:p>
            <a:r>
              <a:rPr lang="en-US" dirty="0"/>
              <a:t>List</a:t>
            </a:r>
          </a:p>
        </p:txBody>
      </p:sp>
      <p:pic>
        <p:nvPicPr>
          <p:cNvPr id="3" name="Picture 2">
            <a:extLst>
              <a:ext uri="{FF2B5EF4-FFF2-40B4-BE49-F238E27FC236}">
                <a16:creationId xmlns:a16="http://schemas.microsoft.com/office/drawing/2014/main" id="{86458548-E8B5-449C-93AE-EB7E84BF6DF1}"/>
              </a:ext>
            </a:extLst>
          </p:cNvPr>
          <p:cNvPicPr>
            <a:picLocks noChangeAspect="1"/>
          </p:cNvPicPr>
          <p:nvPr/>
        </p:nvPicPr>
        <p:blipFill>
          <a:blip r:embed="rId2"/>
          <a:stretch>
            <a:fillRect/>
          </a:stretch>
        </p:blipFill>
        <p:spPr>
          <a:xfrm>
            <a:off x="581218" y="1157345"/>
            <a:ext cx="6052810" cy="5479190"/>
          </a:xfrm>
          <a:prstGeom prst="rect">
            <a:avLst/>
          </a:prstGeom>
        </p:spPr>
      </p:pic>
    </p:spTree>
    <p:extLst>
      <p:ext uri="{BB962C8B-B14F-4D97-AF65-F5344CB8AC3E}">
        <p14:creationId xmlns:p14="http://schemas.microsoft.com/office/powerpoint/2010/main" val="24926130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60D691E-69AC-449D-83FE-80E6EB9F401E}"/>
              </a:ext>
            </a:extLst>
          </p:cNvPr>
          <p:cNvSpPr>
            <a:spLocks noGrp="1"/>
          </p:cNvSpPr>
          <p:nvPr>
            <p:ph type="body" sz="quarter" idx="10"/>
          </p:nvPr>
        </p:nvSpPr>
        <p:spPr/>
        <p:txBody>
          <a:bodyPr/>
          <a:lstStyle/>
          <a:p>
            <a:r>
              <a:rPr lang="en-US" dirty="0"/>
              <a:t>List</a:t>
            </a:r>
          </a:p>
        </p:txBody>
      </p:sp>
      <p:sp>
        <p:nvSpPr>
          <p:cNvPr id="3" name="Rectangle 1">
            <a:extLst>
              <a:ext uri="{FF2B5EF4-FFF2-40B4-BE49-F238E27FC236}">
                <a16:creationId xmlns:a16="http://schemas.microsoft.com/office/drawing/2014/main" id="{B4D7240D-B71D-429B-9D84-7D4E42C672A5}"/>
              </a:ext>
            </a:extLst>
          </p:cNvPr>
          <p:cNvSpPr>
            <a:spLocks noChangeArrowheads="1"/>
          </p:cNvSpPr>
          <p:nvPr/>
        </p:nvSpPr>
        <p:spPr bwMode="auto">
          <a:xfrm>
            <a:off x="722342" y="1623453"/>
            <a:ext cx="7129651" cy="4062651"/>
          </a:xfrm>
          <a:prstGeom prst="rect">
            <a:avLst/>
          </a:prstGeom>
          <a:solidFill>
            <a:srgbClr val="EBF4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a:ln>
                  <a:noFill/>
                </a:ln>
                <a:solidFill>
                  <a:srgbClr val="3A3A3A"/>
                </a:solidFill>
                <a:effectLst/>
                <a:latin typeface="karmina-sans"/>
              </a:rPr>
              <a:t>You can see </a:t>
            </a:r>
            <a:r>
              <a:rPr lang="en-US" altLang="en-US" sz="1600" dirty="0">
                <a:solidFill>
                  <a:srgbClr val="3A3A3A"/>
                </a:solidFill>
                <a:latin typeface="karmina-sans"/>
              </a:rPr>
              <a:t>that elements in the list does not have names, which can be confusing. We need to name elements in the list </a:t>
            </a:r>
            <a:endParaRPr kumimoji="0" lang="en-US" altLang="en-US" sz="16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err="1">
                <a:ln>
                  <a:noFill/>
                </a:ln>
                <a:solidFill>
                  <a:srgbClr val="333333"/>
                </a:solidFill>
                <a:effectLst/>
                <a:latin typeface="Courier New" panose="02070309020205020404" pitchFamily="49" charset="0"/>
                <a:cs typeface="Courier New" panose="02070309020205020404" pitchFamily="49" charset="0"/>
              </a:rPr>
              <a:t>my_list</a:t>
            </a:r>
            <a:r>
              <a:rPr kumimoji="0" lang="en-US" altLang="en-US" sz="16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rPr>
              <a:t> &lt;- list(name1 = your_comp1, name2 = your_comp2)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600" b="0" i="0" u="none" strike="noStrike" cap="none" normalizeH="0" baseline="0" dirty="0">
              <a:ln>
                <a:noFill/>
              </a:ln>
              <a:solidFill>
                <a:srgbClr val="3A3A3A"/>
              </a:solidFill>
              <a:effectLst/>
              <a:latin typeface="karmina-sans"/>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a:ln>
                  <a:noFill/>
                </a:ln>
                <a:solidFill>
                  <a:srgbClr val="3A3A3A"/>
                </a:solidFill>
                <a:effectLst/>
                <a:latin typeface="karmina-sans"/>
              </a:rPr>
              <a:t>This creates a list with components that are named </a:t>
            </a:r>
            <a:r>
              <a:rPr kumimoji="0" lang="en-US" altLang="en-US" sz="1600" b="0" i="0" u="none" strike="noStrike" cap="none" normalizeH="0" baseline="0" dirty="0">
                <a:ln>
                  <a:noFill/>
                </a:ln>
                <a:solidFill>
                  <a:srgbClr val="3A3A3A"/>
                </a:solidFill>
                <a:effectLst/>
                <a:latin typeface="Courier New" panose="02070309020205020404" pitchFamily="49" charset="0"/>
                <a:cs typeface="Courier New" panose="02070309020205020404" pitchFamily="49" charset="0"/>
              </a:rPr>
              <a:t>name1</a:t>
            </a:r>
            <a:r>
              <a:rPr kumimoji="0" lang="en-US" altLang="en-US" sz="1600" b="0" i="0" u="none" strike="noStrike" cap="none" normalizeH="0" baseline="0" dirty="0">
                <a:ln>
                  <a:noFill/>
                </a:ln>
                <a:solidFill>
                  <a:srgbClr val="3A3A3A"/>
                </a:solidFill>
                <a:effectLst/>
                <a:latin typeface="karmina-sans"/>
              </a:rPr>
              <a:t>, </a:t>
            </a:r>
            <a:r>
              <a:rPr kumimoji="0" lang="en-US" altLang="en-US" sz="1600" b="0" i="0" u="none" strike="noStrike" cap="none" normalizeH="0" baseline="0" dirty="0">
                <a:ln>
                  <a:noFill/>
                </a:ln>
                <a:solidFill>
                  <a:srgbClr val="3A3A3A"/>
                </a:solidFill>
                <a:effectLst/>
                <a:latin typeface="Courier New" panose="02070309020205020404" pitchFamily="49" charset="0"/>
                <a:cs typeface="Courier New" panose="02070309020205020404" pitchFamily="49" charset="0"/>
              </a:rPr>
              <a:t>name2</a:t>
            </a:r>
            <a:r>
              <a:rPr kumimoji="0" lang="en-US" altLang="en-US" sz="1600" b="0" i="0" u="none" strike="noStrike" cap="none" normalizeH="0" baseline="0" dirty="0">
                <a:ln>
                  <a:noFill/>
                </a:ln>
                <a:solidFill>
                  <a:srgbClr val="3A3A3A"/>
                </a:solidFill>
                <a:effectLst/>
                <a:latin typeface="karmina-sans"/>
              </a:rPr>
              <a:t>, and so on. If you want to name your lists after you've created them, you can use the </a:t>
            </a:r>
            <a:r>
              <a:rPr kumimoji="0" lang="en-US" altLang="en-US" sz="1600" b="0" i="0" u="none" strike="noStrike" cap="none" normalizeH="0" baseline="0" dirty="0">
                <a:ln>
                  <a:noFill/>
                </a:ln>
                <a:solidFill>
                  <a:srgbClr val="3A3A3A"/>
                </a:solidFill>
                <a:effectLst/>
                <a:latin typeface="Courier New" panose="02070309020205020404" pitchFamily="49" charset="0"/>
                <a:cs typeface="Courier New" panose="02070309020205020404" pitchFamily="49" charset="0"/>
              </a:rPr>
              <a:t>names()</a:t>
            </a:r>
            <a:r>
              <a:rPr kumimoji="0" lang="en-US" altLang="en-US" sz="1600" b="0" i="0" u="none" strike="noStrike" cap="none" normalizeH="0" baseline="0" dirty="0">
                <a:ln>
                  <a:noFill/>
                </a:ln>
                <a:solidFill>
                  <a:srgbClr val="3A3A3A"/>
                </a:solidFill>
                <a:effectLst/>
                <a:latin typeface="karmina-sans"/>
              </a:rPr>
              <a:t>function as you did with vectors. The following commands are fully equivalent to the assignment above:</a:t>
            </a:r>
            <a:endParaRPr kumimoji="0" lang="en-US" altLang="en-US" sz="16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6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err="1">
                <a:ln>
                  <a:noFill/>
                </a:ln>
                <a:solidFill>
                  <a:srgbClr val="333333"/>
                </a:solidFill>
                <a:effectLst/>
                <a:latin typeface="Courier New" panose="02070309020205020404" pitchFamily="49" charset="0"/>
                <a:cs typeface="Courier New" panose="02070309020205020404" pitchFamily="49" charset="0"/>
              </a:rPr>
              <a:t>my_list</a:t>
            </a:r>
            <a:r>
              <a:rPr kumimoji="0" lang="en-US" altLang="en-US" sz="16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rPr>
              <a:t> &lt;- list(your_comp1, your_comp2) names(</a:t>
            </a:r>
            <a:r>
              <a:rPr kumimoji="0" lang="en-US" altLang="en-US" sz="1600" b="0" i="0" u="none" strike="noStrike" cap="none" normalizeH="0" baseline="0" dirty="0" err="1">
                <a:ln>
                  <a:noFill/>
                </a:ln>
                <a:solidFill>
                  <a:srgbClr val="333333"/>
                </a:solidFill>
                <a:effectLst/>
                <a:latin typeface="Courier New" panose="02070309020205020404" pitchFamily="49" charset="0"/>
                <a:cs typeface="Courier New" panose="02070309020205020404" pitchFamily="49" charset="0"/>
              </a:rPr>
              <a:t>my_list</a:t>
            </a:r>
            <a:r>
              <a:rPr kumimoji="0" lang="en-US" altLang="en-US" sz="16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rPr>
              <a:t>) &lt;- c("name1", "name2")</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767616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8B01A2A-8C0B-43CC-BE2E-AC8BA5BE1958}"/>
              </a:ext>
            </a:extLst>
          </p:cNvPr>
          <p:cNvSpPr>
            <a:spLocks noGrp="1"/>
          </p:cNvSpPr>
          <p:nvPr>
            <p:ph type="body" sz="quarter" idx="10"/>
          </p:nvPr>
        </p:nvSpPr>
        <p:spPr/>
        <p:txBody>
          <a:bodyPr/>
          <a:lstStyle/>
          <a:p>
            <a:r>
              <a:rPr lang="en-US" dirty="0"/>
              <a:t>List</a:t>
            </a:r>
          </a:p>
        </p:txBody>
      </p:sp>
      <p:pic>
        <p:nvPicPr>
          <p:cNvPr id="3" name="Picture 2">
            <a:extLst>
              <a:ext uri="{FF2B5EF4-FFF2-40B4-BE49-F238E27FC236}">
                <a16:creationId xmlns:a16="http://schemas.microsoft.com/office/drawing/2014/main" id="{CFEAE0A6-B31C-4AA5-B3EF-542BDC901E83}"/>
              </a:ext>
            </a:extLst>
          </p:cNvPr>
          <p:cNvPicPr>
            <a:picLocks noChangeAspect="1"/>
          </p:cNvPicPr>
          <p:nvPr/>
        </p:nvPicPr>
        <p:blipFill>
          <a:blip r:embed="rId2"/>
          <a:stretch>
            <a:fillRect/>
          </a:stretch>
        </p:blipFill>
        <p:spPr>
          <a:xfrm>
            <a:off x="1292007" y="1124462"/>
            <a:ext cx="5934344" cy="5524958"/>
          </a:xfrm>
          <a:prstGeom prst="rect">
            <a:avLst/>
          </a:prstGeom>
        </p:spPr>
      </p:pic>
    </p:spTree>
    <p:extLst>
      <p:ext uri="{BB962C8B-B14F-4D97-AF65-F5344CB8AC3E}">
        <p14:creationId xmlns:p14="http://schemas.microsoft.com/office/powerpoint/2010/main" val="237816471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C1F57F4-BC04-459E-96EB-7B1AAE4E0A92}"/>
              </a:ext>
            </a:extLst>
          </p:cNvPr>
          <p:cNvSpPr>
            <a:spLocks noGrp="1"/>
          </p:cNvSpPr>
          <p:nvPr>
            <p:ph type="body" sz="quarter" idx="10"/>
          </p:nvPr>
        </p:nvSpPr>
        <p:spPr/>
        <p:txBody>
          <a:bodyPr/>
          <a:lstStyle/>
          <a:p>
            <a:r>
              <a:rPr lang="en-US" dirty="0"/>
              <a:t>List: The shining</a:t>
            </a:r>
          </a:p>
        </p:txBody>
      </p:sp>
      <p:pic>
        <p:nvPicPr>
          <p:cNvPr id="3" name="Picture 2">
            <a:extLst>
              <a:ext uri="{FF2B5EF4-FFF2-40B4-BE49-F238E27FC236}">
                <a16:creationId xmlns:a16="http://schemas.microsoft.com/office/drawing/2014/main" id="{4CB9AC20-091C-4C0E-B5F3-695A297FE9E3}"/>
              </a:ext>
            </a:extLst>
          </p:cNvPr>
          <p:cNvPicPr>
            <a:picLocks noChangeAspect="1"/>
          </p:cNvPicPr>
          <p:nvPr/>
        </p:nvPicPr>
        <p:blipFill>
          <a:blip r:embed="rId2"/>
          <a:stretch>
            <a:fillRect/>
          </a:stretch>
        </p:blipFill>
        <p:spPr>
          <a:xfrm>
            <a:off x="570112" y="1283987"/>
            <a:ext cx="7851994" cy="4266451"/>
          </a:xfrm>
          <a:prstGeom prst="rect">
            <a:avLst/>
          </a:prstGeom>
        </p:spPr>
      </p:pic>
    </p:spTree>
    <p:extLst>
      <p:ext uri="{BB962C8B-B14F-4D97-AF65-F5344CB8AC3E}">
        <p14:creationId xmlns:p14="http://schemas.microsoft.com/office/powerpoint/2010/main" val="127095014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5DF2584-0D1B-4554-BA5F-6F254D06B04A}"/>
              </a:ext>
            </a:extLst>
          </p:cNvPr>
          <p:cNvSpPr>
            <a:spLocks noGrp="1"/>
          </p:cNvSpPr>
          <p:nvPr>
            <p:ph type="body" sz="quarter" idx="10"/>
          </p:nvPr>
        </p:nvSpPr>
        <p:spPr/>
        <p:txBody>
          <a:bodyPr/>
          <a:lstStyle/>
          <a:p>
            <a:r>
              <a:rPr lang="en-US" dirty="0"/>
              <a:t>Sub setting the list</a:t>
            </a:r>
          </a:p>
        </p:txBody>
      </p:sp>
      <p:pic>
        <p:nvPicPr>
          <p:cNvPr id="3" name="Picture 2">
            <a:extLst>
              <a:ext uri="{FF2B5EF4-FFF2-40B4-BE49-F238E27FC236}">
                <a16:creationId xmlns:a16="http://schemas.microsoft.com/office/drawing/2014/main" id="{DFCC38E7-7118-41E1-AECB-0AFBEE18A8E0}"/>
              </a:ext>
            </a:extLst>
          </p:cNvPr>
          <p:cNvPicPr>
            <a:picLocks noChangeAspect="1"/>
          </p:cNvPicPr>
          <p:nvPr/>
        </p:nvPicPr>
        <p:blipFill>
          <a:blip r:embed="rId2"/>
          <a:stretch>
            <a:fillRect/>
          </a:stretch>
        </p:blipFill>
        <p:spPr>
          <a:xfrm>
            <a:off x="128588" y="1561008"/>
            <a:ext cx="8602714" cy="2226163"/>
          </a:xfrm>
          <a:prstGeom prst="rect">
            <a:avLst/>
          </a:prstGeom>
        </p:spPr>
      </p:pic>
    </p:spTree>
    <p:extLst>
      <p:ext uri="{BB962C8B-B14F-4D97-AF65-F5344CB8AC3E}">
        <p14:creationId xmlns:p14="http://schemas.microsoft.com/office/powerpoint/2010/main" val="223258331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908D292-36E8-4F57-BC4B-AC6F9C261710}"/>
              </a:ext>
            </a:extLst>
          </p:cNvPr>
          <p:cNvSpPr>
            <a:spLocks noGrp="1"/>
          </p:cNvSpPr>
          <p:nvPr>
            <p:ph type="body" sz="quarter" idx="10"/>
          </p:nvPr>
        </p:nvSpPr>
        <p:spPr/>
        <p:txBody>
          <a:bodyPr/>
          <a:lstStyle/>
          <a:p>
            <a:r>
              <a:rPr lang="en-US" dirty="0"/>
              <a:t>Sub setting the list</a:t>
            </a:r>
          </a:p>
          <a:p>
            <a:endParaRPr lang="en-US" dirty="0"/>
          </a:p>
        </p:txBody>
      </p:sp>
      <p:pic>
        <p:nvPicPr>
          <p:cNvPr id="4" name="Picture 3">
            <a:extLst>
              <a:ext uri="{FF2B5EF4-FFF2-40B4-BE49-F238E27FC236}">
                <a16:creationId xmlns:a16="http://schemas.microsoft.com/office/drawing/2014/main" id="{0E5B63E4-705B-43B1-9773-EB045952E205}"/>
              </a:ext>
            </a:extLst>
          </p:cNvPr>
          <p:cNvPicPr>
            <a:picLocks noChangeAspect="1"/>
          </p:cNvPicPr>
          <p:nvPr/>
        </p:nvPicPr>
        <p:blipFill>
          <a:blip r:embed="rId2"/>
          <a:stretch>
            <a:fillRect/>
          </a:stretch>
        </p:blipFill>
        <p:spPr>
          <a:xfrm>
            <a:off x="229525" y="1525007"/>
            <a:ext cx="8777499" cy="4043454"/>
          </a:xfrm>
          <a:prstGeom prst="rect">
            <a:avLst/>
          </a:prstGeom>
        </p:spPr>
      </p:pic>
    </p:spTree>
    <p:extLst>
      <p:ext uri="{BB962C8B-B14F-4D97-AF65-F5344CB8AC3E}">
        <p14:creationId xmlns:p14="http://schemas.microsoft.com/office/powerpoint/2010/main" val="148172840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167609-7C18-45B9-AA7D-FC854CFEF558}"/>
              </a:ext>
            </a:extLst>
          </p:cNvPr>
          <p:cNvSpPr>
            <a:spLocks noGrp="1"/>
          </p:cNvSpPr>
          <p:nvPr>
            <p:ph type="body" sz="quarter" idx="10"/>
          </p:nvPr>
        </p:nvSpPr>
        <p:spPr/>
        <p:txBody>
          <a:bodyPr/>
          <a:lstStyle/>
          <a:p>
            <a:r>
              <a:rPr lang="en-US" dirty="0"/>
              <a:t>Lists</a:t>
            </a:r>
          </a:p>
        </p:txBody>
      </p:sp>
      <p:pic>
        <p:nvPicPr>
          <p:cNvPr id="4" name="Picture 3">
            <a:extLst>
              <a:ext uri="{FF2B5EF4-FFF2-40B4-BE49-F238E27FC236}">
                <a16:creationId xmlns:a16="http://schemas.microsoft.com/office/drawing/2014/main" id="{1D78EC1A-C8A5-48A0-9804-D8C402364976}"/>
              </a:ext>
            </a:extLst>
          </p:cNvPr>
          <p:cNvPicPr>
            <a:picLocks noChangeAspect="1"/>
          </p:cNvPicPr>
          <p:nvPr/>
        </p:nvPicPr>
        <p:blipFill>
          <a:blip r:embed="rId2"/>
          <a:stretch>
            <a:fillRect/>
          </a:stretch>
        </p:blipFill>
        <p:spPr>
          <a:xfrm>
            <a:off x="296161" y="1176925"/>
            <a:ext cx="8081519" cy="5569563"/>
          </a:xfrm>
          <a:prstGeom prst="rect">
            <a:avLst/>
          </a:prstGeom>
        </p:spPr>
      </p:pic>
    </p:spTree>
    <p:extLst>
      <p:ext uri="{BB962C8B-B14F-4D97-AF65-F5344CB8AC3E}">
        <p14:creationId xmlns:p14="http://schemas.microsoft.com/office/powerpoint/2010/main" val="134098243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1EA2B6D-7F84-44BE-99C6-55C2542330A3}"/>
              </a:ext>
            </a:extLst>
          </p:cNvPr>
          <p:cNvSpPr>
            <a:spLocks noGrp="1"/>
          </p:cNvSpPr>
          <p:nvPr>
            <p:ph type="body" sz="quarter" idx="10"/>
          </p:nvPr>
        </p:nvSpPr>
        <p:spPr/>
        <p:txBody>
          <a:bodyPr/>
          <a:lstStyle/>
          <a:p>
            <a:r>
              <a:rPr lang="en-US" dirty="0"/>
              <a:t>Data Types again</a:t>
            </a:r>
          </a:p>
        </p:txBody>
      </p:sp>
    </p:spTree>
    <p:extLst>
      <p:ext uri="{BB962C8B-B14F-4D97-AF65-F5344CB8AC3E}">
        <p14:creationId xmlns:p14="http://schemas.microsoft.com/office/powerpoint/2010/main" val="100507674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Intro to R: Data types</a:t>
            </a:r>
          </a:p>
        </p:txBody>
      </p:sp>
      <p:pic>
        <p:nvPicPr>
          <p:cNvPr id="3" name="Picture 2">
            <a:extLst>
              <a:ext uri="{FF2B5EF4-FFF2-40B4-BE49-F238E27FC236}">
                <a16:creationId xmlns:a16="http://schemas.microsoft.com/office/drawing/2014/main" id="{4164FAA1-510F-4F03-AFCE-B8BF520F7FFD}"/>
              </a:ext>
            </a:extLst>
          </p:cNvPr>
          <p:cNvPicPr>
            <a:picLocks noChangeAspect="1"/>
          </p:cNvPicPr>
          <p:nvPr/>
        </p:nvPicPr>
        <p:blipFill>
          <a:blip r:embed="rId2"/>
          <a:stretch>
            <a:fillRect/>
          </a:stretch>
        </p:blipFill>
        <p:spPr>
          <a:xfrm>
            <a:off x="383825" y="1157934"/>
            <a:ext cx="8103094" cy="2912910"/>
          </a:xfrm>
          <a:prstGeom prst="rect">
            <a:avLst/>
          </a:prstGeom>
        </p:spPr>
      </p:pic>
    </p:spTree>
    <p:extLst>
      <p:ext uri="{BB962C8B-B14F-4D97-AF65-F5344CB8AC3E}">
        <p14:creationId xmlns:p14="http://schemas.microsoft.com/office/powerpoint/2010/main" val="32227229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Intro to R: Data types</a:t>
            </a:r>
          </a:p>
        </p:txBody>
      </p:sp>
      <p:pic>
        <p:nvPicPr>
          <p:cNvPr id="3" name="Picture 2">
            <a:extLst>
              <a:ext uri="{FF2B5EF4-FFF2-40B4-BE49-F238E27FC236}">
                <a16:creationId xmlns:a16="http://schemas.microsoft.com/office/drawing/2014/main" id="{D5E15769-37FF-4CB8-AC95-4F267D6FC208}"/>
              </a:ext>
            </a:extLst>
          </p:cNvPr>
          <p:cNvPicPr>
            <a:picLocks noChangeAspect="1"/>
          </p:cNvPicPr>
          <p:nvPr/>
        </p:nvPicPr>
        <p:blipFill>
          <a:blip r:embed="rId2"/>
          <a:stretch>
            <a:fillRect/>
          </a:stretch>
        </p:blipFill>
        <p:spPr>
          <a:xfrm>
            <a:off x="339724" y="1153338"/>
            <a:ext cx="8252489" cy="3114072"/>
          </a:xfrm>
          <a:prstGeom prst="rect">
            <a:avLst/>
          </a:prstGeom>
        </p:spPr>
      </p:pic>
      <p:sp>
        <p:nvSpPr>
          <p:cNvPr id="4" name="TextBox 3">
            <a:extLst>
              <a:ext uri="{FF2B5EF4-FFF2-40B4-BE49-F238E27FC236}">
                <a16:creationId xmlns:a16="http://schemas.microsoft.com/office/drawing/2014/main" id="{F716ACA3-77BF-4DE3-AC4D-BCDA435B21AB}"/>
              </a:ext>
            </a:extLst>
          </p:cNvPr>
          <p:cNvSpPr txBox="1"/>
          <p:nvPr/>
        </p:nvSpPr>
        <p:spPr>
          <a:xfrm>
            <a:off x="385978" y="4360631"/>
            <a:ext cx="6452972" cy="369332"/>
          </a:xfrm>
          <a:prstGeom prst="rect">
            <a:avLst/>
          </a:prstGeom>
          <a:noFill/>
        </p:spPr>
        <p:txBody>
          <a:bodyPr wrap="square" rtlCol="0">
            <a:spAutoFit/>
          </a:bodyPr>
          <a:lstStyle/>
          <a:p>
            <a:r>
              <a:rPr lang="en-US" dirty="0"/>
              <a:t>Coercion of numeric and logical values will result as numeric </a:t>
            </a:r>
          </a:p>
        </p:txBody>
      </p:sp>
    </p:spTree>
    <p:extLst>
      <p:ext uri="{BB962C8B-B14F-4D97-AF65-F5344CB8AC3E}">
        <p14:creationId xmlns:p14="http://schemas.microsoft.com/office/powerpoint/2010/main" val="395406592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Intro to R: Data types</a:t>
            </a:r>
          </a:p>
        </p:txBody>
      </p:sp>
      <p:pic>
        <p:nvPicPr>
          <p:cNvPr id="3" name="Picture 2">
            <a:extLst>
              <a:ext uri="{FF2B5EF4-FFF2-40B4-BE49-F238E27FC236}">
                <a16:creationId xmlns:a16="http://schemas.microsoft.com/office/drawing/2014/main" id="{5A40AD9F-D0B1-4959-8375-B3B701B1F8BD}"/>
              </a:ext>
            </a:extLst>
          </p:cNvPr>
          <p:cNvPicPr>
            <a:picLocks noChangeAspect="1"/>
          </p:cNvPicPr>
          <p:nvPr/>
        </p:nvPicPr>
        <p:blipFill>
          <a:blip r:embed="rId2"/>
          <a:stretch>
            <a:fillRect/>
          </a:stretch>
        </p:blipFill>
        <p:spPr>
          <a:xfrm>
            <a:off x="346071" y="2011320"/>
            <a:ext cx="8531420" cy="2259871"/>
          </a:xfrm>
          <a:prstGeom prst="rect">
            <a:avLst/>
          </a:prstGeom>
        </p:spPr>
      </p:pic>
      <p:sp>
        <p:nvSpPr>
          <p:cNvPr id="4" name="Rectangle 3">
            <a:extLst>
              <a:ext uri="{FF2B5EF4-FFF2-40B4-BE49-F238E27FC236}">
                <a16:creationId xmlns:a16="http://schemas.microsoft.com/office/drawing/2014/main" id="{E4DFD1C4-196E-4D4F-8761-023E7DFB97D0}"/>
              </a:ext>
            </a:extLst>
          </p:cNvPr>
          <p:cNvSpPr/>
          <p:nvPr/>
        </p:nvSpPr>
        <p:spPr>
          <a:xfrm>
            <a:off x="470136" y="1078800"/>
            <a:ext cx="8099492" cy="646331"/>
          </a:xfrm>
          <a:prstGeom prst="rect">
            <a:avLst/>
          </a:prstGeom>
        </p:spPr>
        <p:txBody>
          <a:bodyPr wrap="square">
            <a:spAutoFit/>
          </a:bodyPr>
          <a:lstStyle/>
          <a:p>
            <a:r>
              <a:rPr lang="en-US" dirty="0">
                <a:solidFill>
                  <a:srgbClr val="000000"/>
                </a:solidFill>
                <a:latin typeface="Arial" panose="020B0604020202020204" pitchFamily="34" charset="0"/>
              </a:rPr>
              <a:t>String literals or string values are stored as Character objects in</a:t>
            </a:r>
          </a:p>
          <a:p>
            <a:r>
              <a:rPr lang="en-US" dirty="0">
                <a:solidFill>
                  <a:srgbClr val="000000"/>
                </a:solidFill>
                <a:latin typeface="Arial" panose="020B0604020202020204" pitchFamily="34" charset="0"/>
              </a:rPr>
              <a:t>R.</a:t>
            </a:r>
            <a:endParaRPr lang="en-US" dirty="0"/>
          </a:p>
        </p:txBody>
      </p:sp>
    </p:spTree>
    <p:extLst>
      <p:ext uri="{BB962C8B-B14F-4D97-AF65-F5344CB8AC3E}">
        <p14:creationId xmlns:p14="http://schemas.microsoft.com/office/powerpoint/2010/main" val="145338710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Intro to R: Data Structures</a:t>
            </a:r>
          </a:p>
        </p:txBody>
      </p:sp>
      <p:pic>
        <p:nvPicPr>
          <p:cNvPr id="4" name="Picture 3">
            <a:extLst>
              <a:ext uri="{FF2B5EF4-FFF2-40B4-BE49-F238E27FC236}">
                <a16:creationId xmlns:a16="http://schemas.microsoft.com/office/drawing/2014/main" id="{4898C7AE-32D6-45BD-803D-C305E1C12F84}"/>
              </a:ext>
            </a:extLst>
          </p:cNvPr>
          <p:cNvPicPr>
            <a:picLocks noChangeAspect="1"/>
          </p:cNvPicPr>
          <p:nvPr/>
        </p:nvPicPr>
        <p:blipFill>
          <a:blip r:embed="rId2"/>
          <a:stretch>
            <a:fillRect/>
          </a:stretch>
        </p:blipFill>
        <p:spPr>
          <a:xfrm>
            <a:off x="339725" y="1185503"/>
            <a:ext cx="8618386" cy="3525703"/>
          </a:xfrm>
          <a:prstGeom prst="rect">
            <a:avLst/>
          </a:prstGeom>
        </p:spPr>
      </p:pic>
    </p:spTree>
    <p:extLst>
      <p:ext uri="{BB962C8B-B14F-4D97-AF65-F5344CB8AC3E}">
        <p14:creationId xmlns:p14="http://schemas.microsoft.com/office/powerpoint/2010/main" val="6741855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Intro to R: Data types</a:t>
            </a:r>
          </a:p>
        </p:txBody>
      </p:sp>
      <p:pic>
        <p:nvPicPr>
          <p:cNvPr id="3" name="Picture 2">
            <a:extLst>
              <a:ext uri="{FF2B5EF4-FFF2-40B4-BE49-F238E27FC236}">
                <a16:creationId xmlns:a16="http://schemas.microsoft.com/office/drawing/2014/main" id="{5312587E-B120-44D6-AE8D-1B95DC19949C}"/>
              </a:ext>
            </a:extLst>
          </p:cNvPr>
          <p:cNvPicPr>
            <a:picLocks noChangeAspect="1"/>
          </p:cNvPicPr>
          <p:nvPr/>
        </p:nvPicPr>
        <p:blipFill>
          <a:blip r:embed="rId2"/>
          <a:stretch>
            <a:fillRect/>
          </a:stretch>
        </p:blipFill>
        <p:spPr>
          <a:xfrm>
            <a:off x="339724" y="1614899"/>
            <a:ext cx="8280145" cy="4635661"/>
          </a:xfrm>
          <a:prstGeom prst="rect">
            <a:avLst/>
          </a:prstGeom>
        </p:spPr>
      </p:pic>
      <p:sp>
        <p:nvSpPr>
          <p:cNvPr id="4" name="TextBox 3">
            <a:extLst>
              <a:ext uri="{FF2B5EF4-FFF2-40B4-BE49-F238E27FC236}">
                <a16:creationId xmlns:a16="http://schemas.microsoft.com/office/drawing/2014/main" id="{3A98C5AA-5C45-46FC-8A08-420C93D6AE71}"/>
              </a:ext>
            </a:extLst>
          </p:cNvPr>
          <p:cNvSpPr txBox="1"/>
          <p:nvPr/>
        </p:nvSpPr>
        <p:spPr>
          <a:xfrm>
            <a:off x="326243" y="923590"/>
            <a:ext cx="8280145" cy="369332"/>
          </a:xfrm>
          <a:prstGeom prst="rect">
            <a:avLst/>
          </a:prstGeom>
          <a:noFill/>
        </p:spPr>
        <p:txBody>
          <a:bodyPr wrap="square" rtlCol="0">
            <a:spAutoFit/>
          </a:bodyPr>
          <a:lstStyle/>
          <a:p>
            <a:r>
              <a:rPr lang="en-US" b="1" dirty="0"/>
              <a:t>Factors </a:t>
            </a:r>
          </a:p>
        </p:txBody>
      </p:sp>
    </p:spTree>
    <p:extLst>
      <p:ext uri="{BB962C8B-B14F-4D97-AF65-F5344CB8AC3E}">
        <p14:creationId xmlns:p14="http://schemas.microsoft.com/office/powerpoint/2010/main" val="352622908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Intro to R: Data types</a:t>
            </a:r>
          </a:p>
        </p:txBody>
      </p:sp>
      <p:pic>
        <p:nvPicPr>
          <p:cNvPr id="3" name="Picture 2">
            <a:extLst>
              <a:ext uri="{FF2B5EF4-FFF2-40B4-BE49-F238E27FC236}">
                <a16:creationId xmlns:a16="http://schemas.microsoft.com/office/drawing/2014/main" id="{711E3108-412A-409D-B21A-B9F0C410E539}"/>
              </a:ext>
            </a:extLst>
          </p:cNvPr>
          <p:cNvPicPr>
            <a:picLocks noChangeAspect="1"/>
          </p:cNvPicPr>
          <p:nvPr/>
        </p:nvPicPr>
        <p:blipFill>
          <a:blip r:embed="rId2"/>
          <a:stretch>
            <a:fillRect/>
          </a:stretch>
        </p:blipFill>
        <p:spPr>
          <a:xfrm>
            <a:off x="389337" y="2104498"/>
            <a:ext cx="8754663" cy="2474144"/>
          </a:xfrm>
          <a:prstGeom prst="rect">
            <a:avLst/>
          </a:prstGeom>
        </p:spPr>
      </p:pic>
      <p:sp>
        <p:nvSpPr>
          <p:cNvPr id="4" name="TextBox 3">
            <a:extLst>
              <a:ext uri="{FF2B5EF4-FFF2-40B4-BE49-F238E27FC236}">
                <a16:creationId xmlns:a16="http://schemas.microsoft.com/office/drawing/2014/main" id="{8DAEAA14-12F8-4FCD-8808-9EA7166F1FFD}"/>
              </a:ext>
            </a:extLst>
          </p:cNvPr>
          <p:cNvSpPr txBox="1"/>
          <p:nvPr/>
        </p:nvSpPr>
        <p:spPr>
          <a:xfrm>
            <a:off x="153393" y="1203659"/>
            <a:ext cx="8804275" cy="369332"/>
          </a:xfrm>
          <a:prstGeom prst="rect">
            <a:avLst/>
          </a:prstGeom>
          <a:noFill/>
        </p:spPr>
        <p:txBody>
          <a:bodyPr wrap="square" rtlCol="0">
            <a:spAutoFit/>
          </a:bodyPr>
          <a:lstStyle/>
          <a:p>
            <a:r>
              <a:rPr lang="en-US" dirty="0"/>
              <a:t>You can relevel the factor variable by changing the reference value</a:t>
            </a:r>
          </a:p>
        </p:txBody>
      </p:sp>
    </p:spTree>
    <p:extLst>
      <p:ext uri="{BB962C8B-B14F-4D97-AF65-F5344CB8AC3E}">
        <p14:creationId xmlns:p14="http://schemas.microsoft.com/office/powerpoint/2010/main" val="286457008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2BD921C-7FC4-40C2-B700-A183A5F06D7E}"/>
              </a:ext>
            </a:extLst>
          </p:cNvPr>
          <p:cNvSpPr>
            <a:spLocks noGrp="1"/>
          </p:cNvSpPr>
          <p:nvPr>
            <p:ph type="body" sz="quarter" idx="10"/>
          </p:nvPr>
        </p:nvSpPr>
        <p:spPr/>
        <p:txBody>
          <a:bodyPr/>
          <a:lstStyle/>
          <a:p>
            <a:r>
              <a:rPr lang="en-US" dirty="0"/>
              <a:t>Functions</a:t>
            </a:r>
          </a:p>
        </p:txBody>
      </p:sp>
    </p:spTree>
    <p:extLst>
      <p:ext uri="{BB962C8B-B14F-4D97-AF65-F5344CB8AC3E}">
        <p14:creationId xmlns:p14="http://schemas.microsoft.com/office/powerpoint/2010/main" val="50287468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58A8B56-E77F-4421-B20E-78E4DC5A73BB}"/>
              </a:ext>
            </a:extLst>
          </p:cNvPr>
          <p:cNvSpPr>
            <a:spLocks noGrp="1"/>
          </p:cNvSpPr>
          <p:nvPr>
            <p:ph type="body" sz="quarter" idx="10"/>
          </p:nvPr>
        </p:nvSpPr>
        <p:spPr/>
        <p:txBody>
          <a:bodyPr/>
          <a:lstStyle/>
          <a:p>
            <a:r>
              <a:rPr lang="en-US" dirty="0"/>
              <a:t>Functions</a:t>
            </a:r>
          </a:p>
        </p:txBody>
      </p:sp>
      <p:sp>
        <p:nvSpPr>
          <p:cNvPr id="4" name="Rectangle 3">
            <a:extLst>
              <a:ext uri="{FF2B5EF4-FFF2-40B4-BE49-F238E27FC236}">
                <a16:creationId xmlns:a16="http://schemas.microsoft.com/office/drawing/2014/main" id="{998D026D-4483-4299-8EF1-ECCC59BF117A}"/>
              </a:ext>
            </a:extLst>
          </p:cNvPr>
          <p:cNvSpPr/>
          <p:nvPr/>
        </p:nvSpPr>
        <p:spPr>
          <a:xfrm>
            <a:off x="257398" y="1582340"/>
            <a:ext cx="8546653" cy="3416320"/>
          </a:xfrm>
          <a:prstGeom prst="rect">
            <a:avLst/>
          </a:prstGeom>
        </p:spPr>
        <p:txBody>
          <a:bodyPr wrap="square">
            <a:spAutoFit/>
          </a:bodyPr>
          <a:lstStyle/>
          <a:p>
            <a:pPr marL="285750" indent="-285750">
              <a:buFont typeface="Arial" panose="020B0604020202020204" pitchFamily="34" charset="0"/>
              <a:buChar char="•"/>
            </a:pPr>
            <a:r>
              <a:rPr lang="en-US" dirty="0">
                <a:solidFill>
                  <a:srgbClr val="3D4251"/>
                </a:solidFill>
                <a:latin typeface="Lora"/>
              </a:rPr>
              <a:t>In programming, you use functions to incorporate sets of instructions that you want to use repeatedly or that, because of their complexity, are better self-contained in a sub program and called when needed. </a:t>
            </a:r>
          </a:p>
          <a:p>
            <a:pPr marL="285750" indent="-285750">
              <a:buFont typeface="Arial" panose="020B0604020202020204" pitchFamily="34" charset="0"/>
              <a:buChar char="•"/>
            </a:pPr>
            <a:endParaRPr lang="en-US" dirty="0">
              <a:solidFill>
                <a:srgbClr val="3D4251"/>
              </a:solidFill>
              <a:latin typeface="Lora"/>
            </a:endParaRPr>
          </a:p>
          <a:p>
            <a:pPr marL="285750" indent="-285750">
              <a:buFont typeface="Arial" panose="020B0604020202020204" pitchFamily="34" charset="0"/>
              <a:buChar char="•"/>
            </a:pPr>
            <a:r>
              <a:rPr lang="en-US" dirty="0">
                <a:solidFill>
                  <a:srgbClr val="3D4251"/>
                </a:solidFill>
                <a:latin typeface="Lora"/>
              </a:rPr>
              <a:t>A function is a piece of code written to carry out a specified task; it can or can not accept arguments or parameters and it can or can not return one or more values.</a:t>
            </a:r>
          </a:p>
          <a:p>
            <a:pPr marL="285750" indent="-285750">
              <a:buFont typeface="Arial" panose="020B0604020202020204" pitchFamily="34" charset="0"/>
              <a:buChar char="•"/>
            </a:pPr>
            <a:endParaRPr lang="en-US" dirty="0">
              <a:solidFill>
                <a:srgbClr val="3D4251"/>
              </a:solidFill>
              <a:latin typeface="Lora"/>
            </a:endParaRPr>
          </a:p>
          <a:p>
            <a:pPr marL="285750" indent="-285750">
              <a:buFont typeface="Arial" panose="020B0604020202020204" pitchFamily="34" charset="0"/>
              <a:buChar char="•"/>
            </a:pPr>
            <a:r>
              <a:rPr lang="en-US" dirty="0">
                <a:solidFill>
                  <a:srgbClr val="3D4251"/>
                </a:solidFill>
                <a:latin typeface="Lora"/>
              </a:rPr>
              <a:t>In fact, there are several possible formal definitions of ‘function’ spanning from mathematics to computer science.</a:t>
            </a:r>
          </a:p>
          <a:p>
            <a:pPr marL="285750" indent="-285750">
              <a:buFont typeface="Arial" panose="020B0604020202020204" pitchFamily="34" charset="0"/>
              <a:buChar char="•"/>
            </a:pPr>
            <a:endParaRPr lang="en-US" dirty="0">
              <a:solidFill>
                <a:srgbClr val="3D4251"/>
              </a:solidFill>
              <a:latin typeface="Lora"/>
            </a:endParaRPr>
          </a:p>
          <a:p>
            <a:pPr marL="285750" indent="-285750">
              <a:buFont typeface="Arial" panose="020B0604020202020204" pitchFamily="34" charset="0"/>
              <a:buChar char="•"/>
            </a:pPr>
            <a:r>
              <a:rPr lang="en-US" sz="2000" b="1" dirty="0">
                <a:solidFill>
                  <a:srgbClr val="3D4251"/>
                </a:solidFill>
                <a:latin typeface="Lora"/>
              </a:rPr>
              <a:t> Generically, its arguments constitute the input and return values as output.</a:t>
            </a:r>
          </a:p>
          <a:p>
            <a:endParaRPr lang="en-US" dirty="0">
              <a:solidFill>
                <a:srgbClr val="3D4251"/>
              </a:solidFill>
              <a:latin typeface="Lora"/>
            </a:endParaRPr>
          </a:p>
        </p:txBody>
      </p:sp>
    </p:spTree>
    <p:extLst>
      <p:ext uri="{BB962C8B-B14F-4D97-AF65-F5344CB8AC3E}">
        <p14:creationId xmlns:p14="http://schemas.microsoft.com/office/powerpoint/2010/main" val="94137108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88A627-A196-4415-9AF1-F380D0273A3A}"/>
              </a:ext>
            </a:extLst>
          </p:cNvPr>
          <p:cNvSpPr>
            <a:spLocks noGrp="1"/>
          </p:cNvSpPr>
          <p:nvPr>
            <p:ph type="body" sz="quarter" idx="10"/>
          </p:nvPr>
        </p:nvSpPr>
        <p:spPr/>
        <p:txBody>
          <a:bodyPr/>
          <a:lstStyle/>
          <a:p>
            <a:r>
              <a:rPr lang="en-US" dirty="0"/>
              <a:t>Functions</a:t>
            </a:r>
          </a:p>
        </p:txBody>
      </p:sp>
      <p:sp>
        <p:nvSpPr>
          <p:cNvPr id="3" name="Rectangle 2">
            <a:extLst>
              <a:ext uri="{FF2B5EF4-FFF2-40B4-BE49-F238E27FC236}">
                <a16:creationId xmlns:a16="http://schemas.microsoft.com/office/drawing/2014/main" id="{E8931BAB-1D8D-4FA7-94CD-9285E323627D}"/>
              </a:ext>
            </a:extLst>
          </p:cNvPr>
          <p:cNvSpPr/>
          <p:nvPr/>
        </p:nvSpPr>
        <p:spPr>
          <a:xfrm>
            <a:off x="689245" y="1148420"/>
            <a:ext cx="7884977" cy="2126864"/>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t>Functions have named arguments which potentially have default values. </a:t>
            </a:r>
          </a:p>
          <a:p>
            <a:pPr marL="285750" indent="-285750">
              <a:lnSpc>
                <a:spcPct val="150000"/>
              </a:lnSpc>
              <a:buFont typeface="Arial" panose="020B0604020202020204" pitchFamily="34" charset="0"/>
              <a:buChar char="•"/>
            </a:pPr>
            <a:r>
              <a:rPr lang="en-US" dirty="0"/>
              <a:t>The formal arguments are the arguments included in the function definition.</a:t>
            </a:r>
          </a:p>
          <a:p>
            <a:pPr marL="285750" indent="-285750">
              <a:lnSpc>
                <a:spcPct val="150000"/>
              </a:lnSpc>
              <a:buFont typeface="Arial" panose="020B0604020202020204" pitchFamily="34" charset="0"/>
              <a:buChar char="•"/>
            </a:pPr>
            <a:r>
              <a:rPr lang="en-US" dirty="0"/>
              <a:t>The formals function returns a list of all the formal arguments of a function.</a:t>
            </a:r>
          </a:p>
          <a:p>
            <a:pPr marL="285750" indent="-285750">
              <a:lnSpc>
                <a:spcPct val="150000"/>
              </a:lnSpc>
              <a:buFont typeface="Arial" panose="020B0604020202020204" pitchFamily="34" charset="0"/>
              <a:buChar char="•"/>
            </a:pPr>
            <a:r>
              <a:rPr lang="en-US" dirty="0"/>
              <a:t> Not every function call in R makes use of all the formal arguments.</a:t>
            </a:r>
          </a:p>
          <a:p>
            <a:pPr marL="285750" indent="-285750">
              <a:lnSpc>
                <a:spcPct val="150000"/>
              </a:lnSpc>
              <a:buFont typeface="Arial" panose="020B0604020202020204" pitchFamily="34" charset="0"/>
              <a:buChar char="•"/>
            </a:pPr>
            <a:r>
              <a:rPr lang="en-US" dirty="0"/>
              <a:t> Function arguments can be missing or might have default values</a:t>
            </a:r>
          </a:p>
        </p:txBody>
      </p:sp>
    </p:spTree>
    <p:extLst>
      <p:ext uri="{BB962C8B-B14F-4D97-AF65-F5344CB8AC3E}">
        <p14:creationId xmlns:p14="http://schemas.microsoft.com/office/powerpoint/2010/main" val="74793192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88A627-A196-4415-9AF1-F380D0273A3A}"/>
              </a:ext>
            </a:extLst>
          </p:cNvPr>
          <p:cNvSpPr>
            <a:spLocks noGrp="1"/>
          </p:cNvSpPr>
          <p:nvPr>
            <p:ph type="body" sz="quarter" idx="10"/>
          </p:nvPr>
        </p:nvSpPr>
        <p:spPr/>
        <p:txBody>
          <a:bodyPr/>
          <a:lstStyle/>
          <a:p>
            <a:r>
              <a:rPr lang="en-US" dirty="0"/>
              <a:t>Functions</a:t>
            </a:r>
          </a:p>
        </p:txBody>
      </p:sp>
      <p:pic>
        <p:nvPicPr>
          <p:cNvPr id="3" name="Picture 2">
            <a:extLst>
              <a:ext uri="{FF2B5EF4-FFF2-40B4-BE49-F238E27FC236}">
                <a16:creationId xmlns:a16="http://schemas.microsoft.com/office/drawing/2014/main" id="{E0D5034D-93C4-49B6-B363-91D2300AF533}"/>
              </a:ext>
            </a:extLst>
          </p:cNvPr>
          <p:cNvPicPr>
            <a:picLocks noChangeAspect="1"/>
          </p:cNvPicPr>
          <p:nvPr/>
        </p:nvPicPr>
        <p:blipFill>
          <a:blip r:embed="rId2"/>
          <a:stretch>
            <a:fillRect/>
          </a:stretch>
        </p:blipFill>
        <p:spPr>
          <a:xfrm>
            <a:off x="528422" y="2345778"/>
            <a:ext cx="5922618" cy="4086640"/>
          </a:xfrm>
          <a:prstGeom prst="rect">
            <a:avLst/>
          </a:prstGeom>
        </p:spPr>
      </p:pic>
      <p:sp>
        <p:nvSpPr>
          <p:cNvPr id="4" name="TextBox 3">
            <a:extLst>
              <a:ext uri="{FF2B5EF4-FFF2-40B4-BE49-F238E27FC236}">
                <a16:creationId xmlns:a16="http://schemas.microsoft.com/office/drawing/2014/main" id="{AA28E5CA-57C4-47B9-B7F9-F8B55C5B8460}"/>
              </a:ext>
            </a:extLst>
          </p:cNvPr>
          <p:cNvSpPr txBox="1"/>
          <p:nvPr/>
        </p:nvSpPr>
        <p:spPr>
          <a:xfrm>
            <a:off x="257319" y="868450"/>
            <a:ext cx="7636848" cy="1477328"/>
          </a:xfrm>
          <a:prstGeom prst="rect">
            <a:avLst/>
          </a:prstGeom>
          <a:noFill/>
        </p:spPr>
        <p:txBody>
          <a:bodyPr wrap="square" rtlCol="0">
            <a:spAutoFit/>
          </a:bodyPr>
          <a:lstStyle/>
          <a:p>
            <a:r>
              <a:rPr lang="en-US" dirty="0"/>
              <a:t>functions </a:t>
            </a:r>
            <a:r>
              <a:rPr lang="en-US" dirty="0" err="1"/>
              <a:t>runif</a:t>
            </a:r>
            <a:r>
              <a:rPr lang="en-US" dirty="0"/>
              <a:t> generate random numbers from continuous uniform distribution</a:t>
            </a:r>
          </a:p>
          <a:p>
            <a:r>
              <a:rPr lang="en-US" dirty="0"/>
              <a:t>Arguments are:</a:t>
            </a:r>
          </a:p>
          <a:p>
            <a:pPr marL="285750" indent="-285750">
              <a:buFont typeface="Arial" panose="020B0604020202020204" pitchFamily="34" charset="0"/>
              <a:buChar char="•"/>
            </a:pPr>
            <a:r>
              <a:rPr lang="en-US" dirty="0"/>
              <a:t>n, number of observations, with no default so needs to be specified</a:t>
            </a:r>
          </a:p>
          <a:p>
            <a:pPr marL="285750" indent="-285750">
              <a:buFont typeface="Arial" panose="020B0604020202020204" pitchFamily="34" charset="0"/>
              <a:buChar char="•"/>
            </a:pPr>
            <a:r>
              <a:rPr lang="en-US" dirty="0"/>
              <a:t>min, the minimum</a:t>
            </a:r>
          </a:p>
          <a:p>
            <a:pPr marL="285750" indent="-285750">
              <a:buFont typeface="Arial" panose="020B0604020202020204" pitchFamily="34" charset="0"/>
              <a:buChar char="•"/>
            </a:pPr>
            <a:r>
              <a:rPr lang="en-US" dirty="0"/>
              <a:t>max, the maximum</a:t>
            </a:r>
          </a:p>
        </p:txBody>
      </p:sp>
    </p:spTree>
    <p:extLst>
      <p:ext uri="{BB962C8B-B14F-4D97-AF65-F5344CB8AC3E}">
        <p14:creationId xmlns:p14="http://schemas.microsoft.com/office/powerpoint/2010/main" val="24533356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88A627-A196-4415-9AF1-F380D0273A3A}"/>
              </a:ext>
            </a:extLst>
          </p:cNvPr>
          <p:cNvSpPr>
            <a:spLocks noGrp="1"/>
          </p:cNvSpPr>
          <p:nvPr>
            <p:ph type="body" sz="quarter" idx="10"/>
          </p:nvPr>
        </p:nvSpPr>
        <p:spPr/>
        <p:txBody>
          <a:bodyPr/>
          <a:lstStyle/>
          <a:p>
            <a:r>
              <a:rPr lang="en-US" dirty="0"/>
              <a:t>Functions</a:t>
            </a:r>
          </a:p>
        </p:txBody>
      </p:sp>
      <p:sp>
        <p:nvSpPr>
          <p:cNvPr id="3" name="TextBox 2">
            <a:extLst>
              <a:ext uri="{FF2B5EF4-FFF2-40B4-BE49-F238E27FC236}">
                <a16:creationId xmlns:a16="http://schemas.microsoft.com/office/drawing/2014/main" id="{0F25D020-68FB-4CBF-9E72-78F01EFE8096}"/>
              </a:ext>
            </a:extLst>
          </p:cNvPr>
          <p:cNvSpPr txBox="1"/>
          <p:nvPr/>
        </p:nvSpPr>
        <p:spPr>
          <a:xfrm>
            <a:off x="225154" y="891425"/>
            <a:ext cx="7434669" cy="1200329"/>
          </a:xfrm>
          <a:prstGeom prst="rect">
            <a:avLst/>
          </a:prstGeom>
          <a:noFill/>
        </p:spPr>
        <p:txBody>
          <a:bodyPr wrap="square" rtlCol="0">
            <a:spAutoFit/>
          </a:bodyPr>
          <a:lstStyle/>
          <a:p>
            <a:r>
              <a:rPr lang="en-US" dirty="0"/>
              <a:t>Matching arguments:</a:t>
            </a:r>
          </a:p>
          <a:p>
            <a:endParaRPr lang="en-US" dirty="0"/>
          </a:p>
          <a:p>
            <a:r>
              <a:rPr lang="en-US" dirty="0"/>
              <a:t>R functions arguments can be matched positionally or by name. So the following calls to </a:t>
            </a:r>
            <a:r>
              <a:rPr lang="en-US" dirty="0" err="1"/>
              <a:t>runif</a:t>
            </a:r>
            <a:r>
              <a:rPr lang="en-US" dirty="0"/>
              <a:t> are all equivalent (you can mix them as well).</a:t>
            </a:r>
          </a:p>
        </p:txBody>
      </p:sp>
      <p:sp>
        <p:nvSpPr>
          <p:cNvPr id="4" name="TextBox 3">
            <a:extLst>
              <a:ext uri="{FF2B5EF4-FFF2-40B4-BE49-F238E27FC236}">
                <a16:creationId xmlns:a16="http://schemas.microsoft.com/office/drawing/2014/main" id="{39B16930-3C33-4DA9-8D27-A791DCB07327}"/>
              </a:ext>
            </a:extLst>
          </p:cNvPr>
          <p:cNvSpPr txBox="1"/>
          <p:nvPr/>
        </p:nvSpPr>
        <p:spPr>
          <a:xfrm>
            <a:off x="298673" y="2297487"/>
            <a:ext cx="7940117" cy="369332"/>
          </a:xfrm>
          <a:prstGeom prst="rect">
            <a:avLst/>
          </a:prstGeom>
          <a:noFill/>
        </p:spPr>
        <p:txBody>
          <a:bodyPr wrap="square" rtlCol="0">
            <a:spAutoFit/>
          </a:bodyPr>
          <a:lstStyle/>
          <a:p>
            <a:r>
              <a:rPr lang="en-US" dirty="0"/>
              <a:t>Matching by name</a:t>
            </a:r>
          </a:p>
        </p:txBody>
      </p:sp>
      <p:pic>
        <p:nvPicPr>
          <p:cNvPr id="6" name="Picture 5">
            <a:extLst>
              <a:ext uri="{FF2B5EF4-FFF2-40B4-BE49-F238E27FC236}">
                <a16:creationId xmlns:a16="http://schemas.microsoft.com/office/drawing/2014/main" id="{4FE9D9E4-C518-45A4-903D-EE64EEFAA6AF}"/>
              </a:ext>
            </a:extLst>
          </p:cNvPr>
          <p:cNvPicPr>
            <a:picLocks noChangeAspect="1"/>
          </p:cNvPicPr>
          <p:nvPr/>
        </p:nvPicPr>
        <p:blipFill>
          <a:blip r:embed="rId2"/>
          <a:stretch>
            <a:fillRect/>
          </a:stretch>
        </p:blipFill>
        <p:spPr>
          <a:xfrm>
            <a:off x="298673" y="4804498"/>
            <a:ext cx="8031281" cy="1115886"/>
          </a:xfrm>
          <a:prstGeom prst="rect">
            <a:avLst/>
          </a:prstGeom>
        </p:spPr>
      </p:pic>
      <p:pic>
        <p:nvPicPr>
          <p:cNvPr id="7" name="Picture 6">
            <a:extLst>
              <a:ext uri="{FF2B5EF4-FFF2-40B4-BE49-F238E27FC236}">
                <a16:creationId xmlns:a16="http://schemas.microsoft.com/office/drawing/2014/main" id="{0767993D-98B8-41DD-B03D-5E136DC532ED}"/>
              </a:ext>
            </a:extLst>
          </p:cNvPr>
          <p:cNvPicPr>
            <a:picLocks noChangeAspect="1"/>
          </p:cNvPicPr>
          <p:nvPr/>
        </p:nvPicPr>
        <p:blipFill>
          <a:blip r:embed="rId3"/>
          <a:stretch>
            <a:fillRect/>
          </a:stretch>
        </p:blipFill>
        <p:spPr>
          <a:xfrm>
            <a:off x="225154" y="2872552"/>
            <a:ext cx="8461351" cy="1115886"/>
          </a:xfrm>
          <a:prstGeom prst="rect">
            <a:avLst/>
          </a:prstGeom>
        </p:spPr>
      </p:pic>
      <p:sp>
        <p:nvSpPr>
          <p:cNvPr id="8" name="TextBox 7">
            <a:extLst>
              <a:ext uri="{FF2B5EF4-FFF2-40B4-BE49-F238E27FC236}">
                <a16:creationId xmlns:a16="http://schemas.microsoft.com/office/drawing/2014/main" id="{C4DF080F-F0DA-486D-8DF5-039E21C5456A}"/>
              </a:ext>
            </a:extLst>
          </p:cNvPr>
          <p:cNvSpPr txBox="1"/>
          <p:nvPr/>
        </p:nvSpPr>
        <p:spPr>
          <a:xfrm>
            <a:off x="389837" y="4194171"/>
            <a:ext cx="7940117" cy="369332"/>
          </a:xfrm>
          <a:prstGeom prst="rect">
            <a:avLst/>
          </a:prstGeom>
          <a:noFill/>
        </p:spPr>
        <p:txBody>
          <a:bodyPr wrap="square" rtlCol="0">
            <a:spAutoFit/>
          </a:bodyPr>
          <a:lstStyle/>
          <a:p>
            <a:r>
              <a:rPr lang="en-US" dirty="0"/>
              <a:t>Matching by position</a:t>
            </a:r>
          </a:p>
        </p:txBody>
      </p:sp>
    </p:spTree>
    <p:extLst>
      <p:ext uri="{BB962C8B-B14F-4D97-AF65-F5344CB8AC3E}">
        <p14:creationId xmlns:p14="http://schemas.microsoft.com/office/powerpoint/2010/main" val="10898485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88A627-A196-4415-9AF1-F380D0273A3A}"/>
              </a:ext>
            </a:extLst>
          </p:cNvPr>
          <p:cNvSpPr>
            <a:spLocks noGrp="1"/>
          </p:cNvSpPr>
          <p:nvPr>
            <p:ph type="body" sz="quarter" idx="10"/>
          </p:nvPr>
        </p:nvSpPr>
        <p:spPr/>
        <p:txBody>
          <a:bodyPr/>
          <a:lstStyle/>
          <a:p>
            <a:r>
              <a:rPr lang="en-US" dirty="0"/>
              <a:t>Functions</a:t>
            </a:r>
          </a:p>
        </p:txBody>
      </p:sp>
      <p:pic>
        <p:nvPicPr>
          <p:cNvPr id="3" name="Picture 2">
            <a:extLst>
              <a:ext uri="{FF2B5EF4-FFF2-40B4-BE49-F238E27FC236}">
                <a16:creationId xmlns:a16="http://schemas.microsoft.com/office/drawing/2014/main" id="{07480F1D-B413-400D-A3C7-531150D687A5}"/>
              </a:ext>
            </a:extLst>
          </p:cNvPr>
          <p:cNvPicPr>
            <a:picLocks noChangeAspect="1"/>
          </p:cNvPicPr>
          <p:nvPr/>
        </p:nvPicPr>
        <p:blipFill>
          <a:blip r:embed="rId2"/>
          <a:stretch>
            <a:fillRect/>
          </a:stretch>
        </p:blipFill>
        <p:spPr>
          <a:xfrm>
            <a:off x="230718" y="2211046"/>
            <a:ext cx="8682564" cy="1725200"/>
          </a:xfrm>
          <a:prstGeom prst="rect">
            <a:avLst/>
          </a:prstGeom>
        </p:spPr>
      </p:pic>
      <p:sp>
        <p:nvSpPr>
          <p:cNvPr id="4" name="TextBox 3">
            <a:extLst>
              <a:ext uri="{FF2B5EF4-FFF2-40B4-BE49-F238E27FC236}">
                <a16:creationId xmlns:a16="http://schemas.microsoft.com/office/drawing/2014/main" id="{D2B6F53D-6AD6-499C-9473-7DB111055B3B}"/>
              </a:ext>
            </a:extLst>
          </p:cNvPr>
          <p:cNvSpPr txBox="1"/>
          <p:nvPr/>
        </p:nvSpPr>
        <p:spPr>
          <a:xfrm>
            <a:off x="271104" y="918995"/>
            <a:ext cx="6423774" cy="369332"/>
          </a:xfrm>
          <a:prstGeom prst="rect">
            <a:avLst/>
          </a:prstGeom>
          <a:noFill/>
        </p:spPr>
        <p:txBody>
          <a:bodyPr wrap="square" rtlCol="0">
            <a:spAutoFit/>
          </a:bodyPr>
          <a:lstStyle/>
          <a:p>
            <a:r>
              <a:rPr lang="en-US" dirty="0"/>
              <a:t>matched by position, this will give you an error</a:t>
            </a:r>
          </a:p>
        </p:txBody>
      </p:sp>
    </p:spTree>
    <p:extLst>
      <p:ext uri="{BB962C8B-B14F-4D97-AF65-F5344CB8AC3E}">
        <p14:creationId xmlns:p14="http://schemas.microsoft.com/office/powerpoint/2010/main" val="151847999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88A627-A196-4415-9AF1-F380D0273A3A}"/>
              </a:ext>
            </a:extLst>
          </p:cNvPr>
          <p:cNvSpPr>
            <a:spLocks noGrp="1"/>
          </p:cNvSpPr>
          <p:nvPr>
            <p:ph type="body" sz="quarter" idx="10"/>
          </p:nvPr>
        </p:nvSpPr>
        <p:spPr/>
        <p:txBody>
          <a:bodyPr/>
          <a:lstStyle/>
          <a:p>
            <a:r>
              <a:rPr lang="en-US" dirty="0"/>
              <a:t>Functions</a:t>
            </a:r>
          </a:p>
        </p:txBody>
      </p:sp>
      <p:sp>
        <p:nvSpPr>
          <p:cNvPr id="3" name="TextBox 2">
            <a:extLst>
              <a:ext uri="{FF2B5EF4-FFF2-40B4-BE49-F238E27FC236}">
                <a16:creationId xmlns:a16="http://schemas.microsoft.com/office/drawing/2014/main" id="{EDF86BC5-2380-4B57-8564-00E4EF356FB5}"/>
              </a:ext>
            </a:extLst>
          </p:cNvPr>
          <p:cNvSpPr txBox="1"/>
          <p:nvPr/>
        </p:nvSpPr>
        <p:spPr>
          <a:xfrm>
            <a:off x="73520" y="1061439"/>
            <a:ext cx="7581708" cy="646331"/>
          </a:xfrm>
          <a:prstGeom prst="rect">
            <a:avLst/>
          </a:prstGeom>
          <a:noFill/>
        </p:spPr>
        <p:txBody>
          <a:bodyPr wrap="square" rtlCol="0">
            <a:spAutoFit/>
          </a:bodyPr>
          <a:lstStyle/>
          <a:p>
            <a:r>
              <a:rPr lang="en-US" dirty="0"/>
              <a:t>If the argument has a default value and is not defined then the default value is used.</a:t>
            </a:r>
          </a:p>
        </p:txBody>
      </p:sp>
      <p:pic>
        <p:nvPicPr>
          <p:cNvPr id="4" name="Picture 3">
            <a:extLst>
              <a:ext uri="{FF2B5EF4-FFF2-40B4-BE49-F238E27FC236}">
                <a16:creationId xmlns:a16="http://schemas.microsoft.com/office/drawing/2014/main" id="{75646C11-0EBA-41A6-A230-3D6A929C5792}"/>
              </a:ext>
            </a:extLst>
          </p:cNvPr>
          <p:cNvPicPr>
            <a:picLocks noChangeAspect="1"/>
          </p:cNvPicPr>
          <p:nvPr/>
        </p:nvPicPr>
        <p:blipFill>
          <a:blip r:embed="rId2"/>
          <a:stretch>
            <a:fillRect/>
          </a:stretch>
        </p:blipFill>
        <p:spPr>
          <a:xfrm>
            <a:off x="248128" y="2300639"/>
            <a:ext cx="8647743" cy="1360670"/>
          </a:xfrm>
          <a:prstGeom prst="rect">
            <a:avLst/>
          </a:prstGeom>
        </p:spPr>
      </p:pic>
      <p:sp>
        <p:nvSpPr>
          <p:cNvPr id="5" name="TextBox 4">
            <a:extLst>
              <a:ext uri="{FF2B5EF4-FFF2-40B4-BE49-F238E27FC236}">
                <a16:creationId xmlns:a16="http://schemas.microsoft.com/office/drawing/2014/main" id="{5DCA68F2-19D8-4384-92C1-B2E3FAD6EF65}"/>
              </a:ext>
            </a:extLst>
          </p:cNvPr>
          <p:cNvSpPr txBox="1"/>
          <p:nvPr/>
        </p:nvSpPr>
        <p:spPr>
          <a:xfrm>
            <a:off x="298673" y="1778255"/>
            <a:ext cx="8381235" cy="369332"/>
          </a:xfrm>
          <a:prstGeom prst="rect">
            <a:avLst/>
          </a:prstGeom>
          <a:noFill/>
        </p:spPr>
        <p:txBody>
          <a:bodyPr wrap="square" rtlCol="0">
            <a:spAutoFit/>
          </a:bodyPr>
          <a:lstStyle/>
          <a:p>
            <a:r>
              <a:rPr lang="en-US" dirty="0"/>
              <a:t>Generated 10 numbers with min=0, max=1</a:t>
            </a:r>
          </a:p>
        </p:txBody>
      </p:sp>
    </p:spTree>
    <p:extLst>
      <p:ext uri="{BB962C8B-B14F-4D97-AF65-F5344CB8AC3E}">
        <p14:creationId xmlns:p14="http://schemas.microsoft.com/office/powerpoint/2010/main" val="390565089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88A627-A196-4415-9AF1-F380D0273A3A}"/>
              </a:ext>
            </a:extLst>
          </p:cNvPr>
          <p:cNvSpPr>
            <a:spLocks noGrp="1"/>
          </p:cNvSpPr>
          <p:nvPr>
            <p:ph type="body" sz="quarter" idx="10"/>
          </p:nvPr>
        </p:nvSpPr>
        <p:spPr/>
        <p:txBody>
          <a:bodyPr/>
          <a:lstStyle/>
          <a:p>
            <a:r>
              <a:rPr lang="en-US" dirty="0"/>
              <a:t>Functions</a:t>
            </a:r>
          </a:p>
        </p:txBody>
      </p:sp>
      <p:pic>
        <p:nvPicPr>
          <p:cNvPr id="4" name="Picture 3">
            <a:extLst>
              <a:ext uri="{FF2B5EF4-FFF2-40B4-BE49-F238E27FC236}">
                <a16:creationId xmlns:a16="http://schemas.microsoft.com/office/drawing/2014/main" id="{0D7B0BB0-8674-452F-908B-54AFB197BA68}"/>
              </a:ext>
            </a:extLst>
          </p:cNvPr>
          <p:cNvPicPr>
            <a:picLocks noChangeAspect="1"/>
          </p:cNvPicPr>
          <p:nvPr/>
        </p:nvPicPr>
        <p:blipFill>
          <a:blip r:embed="rId2"/>
          <a:stretch>
            <a:fillRect/>
          </a:stretch>
        </p:blipFill>
        <p:spPr>
          <a:xfrm>
            <a:off x="643296" y="1810321"/>
            <a:ext cx="8404209" cy="2336885"/>
          </a:xfrm>
          <a:prstGeom prst="rect">
            <a:avLst/>
          </a:prstGeom>
        </p:spPr>
      </p:pic>
      <p:sp>
        <p:nvSpPr>
          <p:cNvPr id="5" name="TextBox 4">
            <a:extLst>
              <a:ext uri="{FF2B5EF4-FFF2-40B4-BE49-F238E27FC236}">
                <a16:creationId xmlns:a16="http://schemas.microsoft.com/office/drawing/2014/main" id="{259C3A5D-4DFC-47F2-81CF-F1321FCE78DB}"/>
              </a:ext>
            </a:extLst>
          </p:cNvPr>
          <p:cNvSpPr txBox="1"/>
          <p:nvPr/>
        </p:nvSpPr>
        <p:spPr>
          <a:xfrm>
            <a:off x="477877" y="799526"/>
            <a:ext cx="7926332" cy="646331"/>
          </a:xfrm>
          <a:prstGeom prst="rect">
            <a:avLst/>
          </a:prstGeom>
          <a:noFill/>
        </p:spPr>
        <p:txBody>
          <a:bodyPr wrap="square" rtlCol="0">
            <a:spAutoFit/>
          </a:bodyPr>
          <a:lstStyle/>
          <a:p>
            <a:r>
              <a:rPr lang="en-US" dirty="0"/>
              <a:t>You can look at the arguments of the function and their description by hitting </a:t>
            </a:r>
            <a:r>
              <a:rPr lang="en-US" b="1" i="1" dirty="0"/>
              <a:t>tab </a:t>
            </a:r>
            <a:r>
              <a:rPr lang="en-US" dirty="0"/>
              <a:t> inside the brackets</a:t>
            </a:r>
            <a:endParaRPr lang="en-US" b="1" i="1" dirty="0"/>
          </a:p>
        </p:txBody>
      </p:sp>
    </p:spTree>
    <p:extLst>
      <p:ext uri="{BB962C8B-B14F-4D97-AF65-F5344CB8AC3E}">
        <p14:creationId xmlns:p14="http://schemas.microsoft.com/office/powerpoint/2010/main" val="335780648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12E5CC7-3E78-4E4D-9722-7D4D0C6257DB}"/>
              </a:ext>
            </a:extLst>
          </p:cNvPr>
          <p:cNvSpPr>
            <a:spLocks noGrp="1"/>
          </p:cNvSpPr>
          <p:nvPr>
            <p:ph type="body" sz="quarter" idx="10"/>
          </p:nvPr>
        </p:nvSpPr>
        <p:spPr/>
        <p:txBody>
          <a:bodyPr/>
          <a:lstStyle/>
          <a:p>
            <a:r>
              <a:rPr lang="en-US" dirty="0"/>
              <a:t>Reading data</a:t>
            </a:r>
          </a:p>
        </p:txBody>
      </p:sp>
    </p:spTree>
    <p:extLst>
      <p:ext uri="{BB962C8B-B14F-4D97-AF65-F5344CB8AC3E}">
        <p14:creationId xmlns:p14="http://schemas.microsoft.com/office/powerpoint/2010/main" val="145328273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EE5D8FA-2864-4AFF-8610-A6AB7FF50690}"/>
              </a:ext>
            </a:extLst>
          </p:cNvPr>
          <p:cNvSpPr>
            <a:spLocks noGrp="1"/>
          </p:cNvSpPr>
          <p:nvPr>
            <p:ph type="body" sz="quarter" idx="10"/>
          </p:nvPr>
        </p:nvSpPr>
        <p:spPr/>
        <p:txBody>
          <a:bodyPr/>
          <a:lstStyle/>
          <a:p>
            <a:r>
              <a:rPr lang="en-US" dirty="0"/>
              <a:t>CSV files</a:t>
            </a:r>
          </a:p>
        </p:txBody>
      </p:sp>
      <p:sp>
        <p:nvSpPr>
          <p:cNvPr id="4" name="TextBox 3">
            <a:extLst>
              <a:ext uri="{FF2B5EF4-FFF2-40B4-BE49-F238E27FC236}">
                <a16:creationId xmlns:a16="http://schemas.microsoft.com/office/drawing/2014/main" id="{823C560A-685A-46E8-ABA0-FCC28A516009}"/>
              </a:ext>
            </a:extLst>
          </p:cNvPr>
          <p:cNvSpPr txBox="1"/>
          <p:nvPr/>
        </p:nvSpPr>
        <p:spPr>
          <a:xfrm>
            <a:off x="234344" y="955755"/>
            <a:ext cx="7889572" cy="369332"/>
          </a:xfrm>
          <a:prstGeom prst="rect">
            <a:avLst/>
          </a:prstGeom>
          <a:noFill/>
        </p:spPr>
        <p:txBody>
          <a:bodyPr wrap="square" rtlCol="0">
            <a:spAutoFit/>
          </a:bodyPr>
          <a:lstStyle/>
          <a:p>
            <a:r>
              <a:rPr lang="en-US" dirty="0"/>
              <a:t>csv (comma separated values)- the most common file format we will use</a:t>
            </a:r>
          </a:p>
        </p:txBody>
      </p:sp>
      <p:pic>
        <p:nvPicPr>
          <p:cNvPr id="5" name="Picture 4">
            <a:extLst>
              <a:ext uri="{FF2B5EF4-FFF2-40B4-BE49-F238E27FC236}">
                <a16:creationId xmlns:a16="http://schemas.microsoft.com/office/drawing/2014/main" id="{7E8FAE5F-C54C-4E50-9C92-D0DEB778D84B}"/>
              </a:ext>
            </a:extLst>
          </p:cNvPr>
          <p:cNvPicPr>
            <a:picLocks noChangeAspect="1"/>
          </p:cNvPicPr>
          <p:nvPr/>
        </p:nvPicPr>
        <p:blipFill>
          <a:blip r:embed="rId2"/>
          <a:stretch>
            <a:fillRect/>
          </a:stretch>
        </p:blipFill>
        <p:spPr>
          <a:xfrm>
            <a:off x="2499665" y="5002893"/>
            <a:ext cx="6299711" cy="1231044"/>
          </a:xfrm>
          <a:prstGeom prst="rect">
            <a:avLst/>
          </a:prstGeom>
        </p:spPr>
      </p:pic>
      <p:pic>
        <p:nvPicPr>
          <p:cNvPr id="2" name="Picture 1">
            <a:extLst>
              <a:ext uri="{FF2B5EF4-FFF2-40B4-BE49-F238E27FC236}">
                <a16:creationId xmlns:a16="http://schemas.microsoft.com/office/drawing/2014/main" id="{FBB794FB-8A4D-4572-9060-F4C81981918A}"/>
              </a:ext>
            </a:extLst>
          </p:cNvPr>
          <p:cNvPicPr>
            <a:picLocks noChangeAspect="1"/>
          </p:cNvPicPr>
          <p:nvPr/>
        </p:nvPicPr>
        <p:blipFill rotWithShape="1">
          <a:blip r:embed="rId3"/>
          <a:srcRect l="-6811" t="-4952" r="51141" b="43098"/>
          <a:stretch/>
        </p:blipFill>
        <p:spPr>
          <a:xfrm>
            <a:off x="-381382" y="2950034"/>
            <a:ext cx="7300298" cy="892492"/>
          </a:xfrm>
          <a:prstGeom prst="rect">
            <a:avLst/>
          </a:prstGeom>
        </p:spPr>
      </p:pic>
      <p:sp>
        <p:nvSpPr>
          <p:cNvPr id="6" name="TextBox 5">
            <a:extLst>
              <a:ext uri="{FF2B5EF4-FFF2-40B4-BE49-F238E27FC236}">
                <a16:creationId xmlns:a16="http://schemas.microsoft.com/office/drawing/2014/main" id="{C09249AD-F410-43A1-A7BA-DBBA10ABE07E}"/>
              </a:ext>
            </a:extLst>
          </p:cNvPr>
          <p:cNvSpPr txBox="1"/>
          <p:nvPr/>
        </p:nvSpPr>
        <p:spPr>
          <a:xfrm>
            <a:off x="271104" y="1755280"/>
            <a:ext cx="6786777" cy="369332"/>
          </a:xfrm>
          <a:prstGeom prst="rect">
            <a:avLst/>
          </a:prstGeom>
          <a:noFill/>
        </p:spPr>
        <p:txBody>
          <a:bodyPr wrap="square" rtlCol="0">
            <a:spAutoFit/>
          </a:bodyPr>
          <a:lstStyle/>
          <a:p>
            <a:r>
              <a:rPr lang="en-US" dirty="0"/>
              <a:t>Use read.csv to get csv file into your R environment</a:t>
            </a:r>
          </a:p>
        </p:txBody>
      </p:sp>
      <p:sp>
        <p:nvSpPr>
          <p:cNvPr id="7" name="TextBox 6">
            <a:extLst>
              <a:ext uri="{FF2B5EF4-FFF2-40B4-BE49-F238E27FC236}">
                <a16:creationId xmlns:a16="http://schemas.microsoft.com/office/drawing/2014/main" id="{20C55D41-6EE4-4C99-86C2-3651B0C63491}"/>
              </a:ext>
            </a:extLst>
          </p:cNvPr>
          <p:cNvSpPr txBox="1"/>
          <p:nvPr/>
        </p:nvSpPr>
        <p:spPr>
          <a:xfrm>
            <a:off x="317053" y="4048173"/>
            <a:ext cx="7806863" cy="646331"/>
          </a:xfrm>
          <a:prstGeom prst="rect">
            <a:avLst/>
          </a:prstGeom>
          <a:noFill/>
        </p:spPr>
        <p:txBody>
          <a:bodyPr wrap="square" rtlCol="0">
            <a:spAutoFit/>
          </a:bodyPr>
          <a:lstStyle/>
          <a:p>
            <a:pPr marL="285750" indent="-285750">
              <a:buFont typeface="Arial" panose="020B0604020202020204" pitchFamily="34" charset="0"/>
              <a:buChar char="•"/>
            </a:pPr>
            <a:r>
              <a:rPr lang="en-US" dirty="0"/>
              <a:t>Look at the top right of R studio window, you need to see census object.</a:t>
            </a:r>
          </a:p>
          <a:p>
            <a:pPr marL="285750" indent="-285750">
              <a:buFont typeface="Arial" panose="020B0604020202020204" pitchFamily="34" charset="0"/>
              <a:buChar char="•"/>
            </a:pPr>
            <a:r>
              <a:rPr lang="en-US" dirty="0"/>
              <a:t>If you don’t see it there you cant work with it</a:t>
            </a:r>
          </a:p>
        </p:txBody>
      </p:sp>
    </p:spTree>
    <p:extLst>
      <p:ext uri="{BB962C8B-B14F-4D97-AF65-F5344CB8AC3E}">
        <p14:creationId xmlns:p14="http://schemas.microsoft.com/office/powerpoint/2010/main" val="323303795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1DD332E-AA43-4C16-9285-B3B64E895571}"/>
              </a:ext>
            </a:extLst>
          </p:cNvPr>
          <p:cNvSpPr>
            <a:spLocks noGrp="1"/>
          </p:cNvSpPr>
          <p:nvPr>
            <p:ph type="body" sz="quarter" idx="10"/>
          </p:nvPr>
        </p:nvSpPr>
        <p:spPr/>
        <p:txBody>
          <a:bodyPr/>
          <a:lstStyle/>
          <a:p>
            <a:r>
              <a:rPr lang="en-US" dirty="0"/>
              <a:t>Reading r data file</a:t>
            </a:r>
          </a:p>
        </p:txBody>
      </p:sp>
      <p:pic>
        <p:nvPicPr>
          <p:cNvPr id="3" name="Picture 2">
            <a:extLst>
              <a:ext uri="{FF2B5EF4-FFF2-40B4-BE49-F238E27FC236}">
                <a16:creationId xmlns:a16="http://schemas.microsoft.com/office/drawing/2014/main" id="{C9D40426-3391-447A-A53E-213160AEC30D}"/>
              </a:ext>
            </a:extLst>
          </p:cNvPr>
          <p:cNvPicPr>
            <a:picLocks noChangeAspect="1"/>
          </p:cNvPicPr>
          <p:nvPr/>
        </p:nvPicPr>
        <p:blipFill>
          <a:blip r:embed="rId2"/>
          <a:stretch>
            <a:fillRect/>
          </a:stretch>
        </p:blipFill>
        <p:spPr>
          <a:xfrm>
            <a:off x="525000" y="2614781"/>
            <a:ext cx="8094000" cy="1805321"/>
          </a:xfrm>
          <a:prstGeom prst="rect">
            <a:avLst/>
          </a:prstGeom>
        </p:spPr>
      </p:pic>
      <p:sp>
        <p:nvSpPr>
          <p:cNvPr id="4" name="TextBox 3">
            <a:extLst>
              <a:ext uri="{FF2B5EF4-FFF2-40B4-BE49-F238E27FC236}">
                <a16:creationId xmlns:a16="http://schemas.microsoft.com/office/drawing/2014/main" id="{0EB621FF-6BB0-40A9-B0C9-E09A24687886}"/>
              </a:ext>
            </a:extLst>
          </p:cNvPr>
          <p:cNvSpPr txBox="1"/>
          <p:nvPr/>
        </p:nvSpPr>
        <p:spPr>
          <a:xfrm>
            <a:off x="358408" y="974135"/>
            <a:ext cx="7894167" cy="1477328"/>
          </a:xfrm>
          <a:prstGeom prst="rect">
            <a:avLst/>
          </a:prstGeom>
          <a:noFill/>
        </p:spPr>
        <p:txBody>
          <a:bodyPr wrap="square" rtlCol="0">
            <a:spAutoFit/>
          </a:bodyPr>
          <a:lstStyle/>
          <a:p>
            <a:pPr marL="285750" indent="-285750">
              <a:buFont typeface="Arial" panose="020B0604020202020204" pitchFamily="34" charset="0"/>
              <a:buChar char="•"/>
            </a:pPr>
            <a:r>
              <a:rPr lang="en-US" dirty="0"/>
              <a:t>R data files are saved with extension .</a:t>
            </a:r>
            <a:r>
              <a:rPr lang="en-US" dirty="0" err="1"/>
              <a:t>rda</a:t>
            </a:r>
            <a:endParaRPr lang="en-US" dirty="0"/>
          </a:p>
          <a:p>
            <a:pPr marL="285750" indent="-285750">
              <a:buFont typeface="Arial" panose="020B0604020202020204" pitchFamily="34" charset="0"/>
              <a:buChar char="•"/>
            </a:pPr>
            <a:r>
              <a:rPr lang="en-US" dirty="0"/>
              <a:t>Check to see if you have it in your project directory</a:t>
            </a:r>
          </a:p>
          <a:p>
            <a:pPr marL="285750" indent="-285750">
              <a:buFont typeface="Arial" panose="020B0604020202020204" pitchFamily="34" charset="0"/>
              <a:buChar char="•"/>
            </a:pPr>
            <a:r>
              <a:rPr lang="en-US" dirty="0"/>
              <a:t>rm(list=ls()) will clean you environment</a:t>
            </a:r>
          </a:p>
          <a:p>
            <a:pPr marL="285750" indent="-285750">
              <a:buFont typeface="Arial" panose="020B0604020202020204" pitchFamily="34" charset="0"/>
              <a:buChar char="•"/>
            </a:pPr>
            <a:r>
              <a:rPr lang="en-US" dirty="0"/>
              <a:t>To load </a:t>
            </a:r>
            <a:r>
              <a:rPr lang="en-US" dirty="0" err="1"/>
              <a:t>rda</a:t>
            </a:r>
            <a:r>
              <a:rPr lang="en-US" dirty="0"/>
              <a:t> file to environment, use load(‘</a:t>
            </a:r>
            <a:r>
              <a:rPr lang="en-US" dirty="0" err="1"/>
              <a:t>filename.rda</a:t>
            </a:r>
            <a:r>
              <a:rPr lang="en-US" dirty="0"/>
              <a:t>’)</a:t>
            </a:r>
          </a:p>
          <a:p>
            <a:pPr marL="742950" lvl="1" indent="-285750">
              <a:buFont typeface="Arial" panose="020B0604020202020204" pitchFamily="34" charset="0"/>
              <a:buChar char="•"/>
            </a:pPr>
            <a:r>
              <a:rPr lang="en-US" dirty="0"/>
              <a:t>Pay attention: you are not assigning </a:t>
            </a:r>
            <a:r>
              <a:rPr lang="en-US" dirty="0" err="1"/>
              <a:t>rda</a:t>
            </a:r>
            <a:r>
              <a:rPr lang="en-US" dirty="0"/>
              <a:t> file to an object, just loading it</a:t>
            </a:r>
          </a:p>
        </p:txBody>
      </p:sp>
    </p:spTree>
    <p:extLst>
      <p:ext uri="{BB962C8B-B14F-4D97-AF65-F5344CB8AC3E}">
        <p14:creationId xmlns:p14="http://schemas.microsoft.com/office/powerpoint/2010/main" val="16457318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0F677D-E50F-44EC-B69A-01973D615C23}"/>
              </a:ext>
            </a:extLst>
          </p:cNvPr>
          <p:cNvSpPr>
            <a:spLocks noGrp="1"/>
          </p:cNvSpPr>
          <p:nvPr>
            <p:ph type="body" sz="quarter" idx="10"/>
          </p:nvPr>
        </p:nvSpPr>
        <p:spPr/>
        <p:txBody>
          <a:bodyPr/>
          <a:lstStyle/>
          <a:p>
            <a:r>
              <a:rPr lang="en-US" dirty="0"/>
              <a:t>Census R: factor and characters</a:t>
            </a:r>
          </a:p>
        </p:txBody>
      </p:sp>
      <p:pic>
        <p:nvPicPr>
          <p:cNvPr id="3" name="Picture 2">
            <a:extLst>
              <a:ext uri="{FF2B5EF4-FFF2-40B4-BE49-F238E27FC236}">
                <a16:creationId xmlns:a16="http://schemas.microsoft.com/office/drawing/2014/main" id="{AF03DE8D-709E-42D2-896E-1B751BF74339}"/>
              </a:ext>
            </a:extLst>
          </p:cNvPr>
          <p:cNvPicPr>
            <a:picLocks noChangeAspect="1"/>
          </p:cNvPicPr>
          <p:nvPr/>
        </p:nvPicPr>
        <p:blipFill rotWithShape="1">
          <a:blip r:embed="rId2"/>
          <a:srcRect b="34074"/>
          <a:stretch/>
        </p:blipFill>
        <p:spPr>
          <a:xfrm>
            <a:off x="629511" y="976403"/>
            <a:ext cx="6138887" cy="5521584"/>
          </a:xfrm>
          <a:prstGeom prst="rect">
            <a:avLst/>
          </a:prstGeom>
        </p:spPr>
      </p:pic>
    </p:spTree>
    <p:extLst>
      <p:ext uri="{BB962C8B-B14F-4D97-AF65-F5344CB8AC3E}">
        <p14:creationId xmlns:p14="http://schemas.microsoft.com/office/powerpoint/2010/main" val="36240543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CC921B-DC81-40ED-B9E7-BCACE8D65DE5}"/>
              </a:ext>
            </a:extLst>
          </p:cNvPr>
          <p:cNvSpPr>
            <a:spLocks noGrp="1"/>
          </p:cNvSpPr>
          <p:nvPr>
            <p:ph type="body" sz="quarter" idx="10"/>
          </p:nvPr>
        </p:nvSpPr>
        <p:spPr/>
        <p:txBody>
          <a:bodyPr/>
          <a:lstStyle/>
          <a:p>
            <a:r>
              <a:rPr lang="en-US" dirty="0"/>
              <a:t>Census R: factor and characters</a:t>
            </a:r>
          </a:p>
          <a:p>
            <a:endParaRPr lang="en-US" dirty="0"/>
          </a:p>
        </p:txBody>
      </p:sp>
      <p:pic>
        <p:nvPicPr>
          <p:cNvPr id="3" name="Picture 2">
            <a:extLst>
              <a:ext uri="{FF2B5EF4-FFF2-40B4-BE49-F238E27FC236}">
                <a16:creationId xmlns:a16="http://schemas.microsoft.com/office/drawing/2014/main" id="{09FBFB67-445E-44DA-82EA-5178C2263BFA}"/>
              </a:ext>
            </a:extLst>
          </p:cNvPr>
          <p:cNvPicPr>
            <a:picLocks noChangeAspect="1"/>
          </p:cNvPicPr>
          <p:nvPr/>
        </p:nvPicPr>
        <p:blipFill rotWithShape="1">
          <a:blip r:embed="rId2"/>
          <a:srcRect r="11307"/>
          <a:stretch/>
        </p:blipFill>
        <p:spPr>
          <a:xfrm>
            <a:off x="252724" y="2846891"/>
            <a:ext cx="8110131" cy="1063128"/>
          </a:xfrm>
          <a:prstGeom prst="rect">
            <a:avLst/>
          </a:prstGeom>
        </p:spPr>
      </p:pic>
      <p:sp>
        <p:nvSpPr>
          <p:cNvPr id="4" name="TextBox 3">
            <a:extLst>
              <a:ext uri="{FF2B5EF4-FFF2-40B4-BE49-F238E27FC236}">
                <a16:creationId xmlns:a16="http://schemas.microsoft.com/office/drawing/2014/main" id="{2AAB6013-3721-4FBA-B22B-9676FCFFA20B}"/>
              </a:ext>
            </a:extLst>
          </p:cNvPr>
          <p:cNvSpPr txBox="1"/>
          <p:nvPr/>
        </p:nvSpPr>
        <p:spPr>
          <a:xfrm>
            <a:off x="275698" y="891425"/>
            <a:ext cx="8252575" cy="1754326"/>
          </a:xfrm>
          <a:prstGeom prst="rect">
            <a:avLst/>
          </a:prstGeom>
          <a:noFill/>
        </p:spPr>
        <p:txBody>
          <a:bodyPr wrap="square" rtlCol="0">
            <a:spAutoFit/>
          </a:bodyPr>
          <a:lstStyle/>
          <a:p>
            <a:r>
              <a:rPr lang="en-US"/>
              <a:t>Variable </a:t>
            </a:r>
            <a:r>
              <a:rPr lang="en-US" dirty="0"/>
              <a:t>happy is a categorical variable where</a:t>
            </a:r>
          </a:p>
          <a:p>
            <a:r>
              <a:rPr lang="en-US" dirty="0"/>
              <a:t>1-Very happy</a:t>
            </a:r>
          </a:p>
          <a:p>
            <a:r>
              <a:rPr lang="en-US" dirty="0"/>
              <a:t>2-Pretty happy</a:t>
            </a:r>
          </a:p>
          <a:p>
            <a:r>
              <a:rPr lang="en-US" dirty="0"/>
              <a:t>3- Not to happy</a:t>
            </a:r>
          </a:p>
          <a:p>
            <a:endParaRPr lang="en-US" dirty="0"/>
          </a:p>
          <a:p>
            <a:r>
              <a:rPr lang="en-US" dirty="0"/>
              <a:t>We convert to factor specifying levels and labels</a:t>
            </a:r>
          </a:p>
        </p:txBody>
      </p:sp>
    </p:spTree>
    <p:extLst>
      <p:ext uri="{BB962C8B-B14F-4D97-AF65-F5344CB8AC3E}">
        <p14:creationId xmlns:p14="http://schemas.microsoft.com/office/powerpoint/2010/main" val="195577820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CC921B-DC81-40ED-B9E7-BCACE8D65DE5}"/>
              </a:ext>
            </a:extLst>
          </p:cNvPr>
          <p:cNvSpPr>
            <a:spLocks noGrp="1"/>
          </p:cNvSpPr>
          <p:nvPr>
            <p:ph type="body" sz="quarter" idx="10"/>
          </p:nvPr>
        </p:nvSpPr>
        <p:spPr/>
        <p:txBody>
          <a:bodyPr/>
          <a:lstStyle/>
          <a:p>
            <a:r>
              <a:rPr lang="en-US" dirty="0"/>
              <a:t>Census R: factor and characters</a:t>
            </a:r>
          </a:p>
          <a:p>
            <a:endParaRPr lang="en-US" dirty="0"/>
          </a:p>
        </p:txBody>
      </p:sp>
      <p:pic>
        <p:nvPicPr>
          <p:cNvPr id="3" name="Picture 2">
            <a:extLst>
              <a:ext uri="{FF2B5EF4-FFF2-40B4-BE49-F238E27FC236}">
                <a16:creationId xmlns:a16="http://schemas.microsoft.com/office/drawing/2014/main" id="{4A115825-45A7-442B-858A-6E8C56CCF66C}"/>
              </a:ext>
            </a:extLst>
          </p:cNvPr>
          <p:cNvPicPr>
            <a:picLocks noChangeAspect="1"/>
          </p:cNvPicPr>
          <p:nvPr/>
        </p:nvPicPr>
        <p:blipFill rotWithShape="1">
          <a:blip r:embed="rId2"/>
          <a:srcRect r="6693"/>
          <a:stretch/>
        </p:blipFill>
        <p:spPr>
          <a:xfrm>
            <a:off x="173551" y="960350"/>
            <a:ext cx="8455811" cy="3934284"/>
          </a:xfrm>
          <a:prstGeom prst="rect">
            <a:avLst/>
          </a:prstGeom>
        </p:spPr>
      </p:pic>
      <p:sp>
        <p:nvSpPr>
          <p:cNvPr id="4" name="Rectangle 3">
            <a:extLst>
              <a:ext uri="{FF2B5EF4-FFF2-40B4-BE49-F238E27FC236}">
                <a16:creationId xmlns:a16="http://schemas.microsoft.com/office/drawing/2014/main" id="{753D00F1-12EC-41A9-B685-ED4C3612952C}"/>
              </a:ext>
            </a:extLst>
          </p:cNvPr>
          <p:cNvSpPr/>
          <p:nvPr/>
        </p:nvSpPr>
        <p:spPr>
          <a:xfrm>
            <a:off x="464093" y="4305491"/>
            <a:ext cx="7682798" cy="294079"/>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112D355-39B9-48EC-87DF-36075465CC4C}"/>
              </a:ext>
            </a:extLst>
          </p:cNvPr>
          <p:cNvSpPr txBox="1"/>
          <p:nvPr/>
        </p:nvSpPr>
        <p:spPr>
          <a:xfrm>
            <a:off x="464093" y="5261246"/>
            <a:ext cx="6883272" cy="369332"/>
          </a:xfrm>
          <a:prstGeom prst="rect">
            <a:avLst/>
          </a:prstGeom>
          <a:noFill/>
        </p:spPr>
        <p:txBody>
          <a:bodyPr wrap="square" rtlCol="0">
            <a:spAutoFit/>
          </a:bodyPr>
          <a:lstStyle/>
          <a:p>
            <a:r>
              <a:rPr lang="en-US" dirty="0"/>
              <a:t>type of the variable: factor</a:t>
            </a:r>
          </a:p>
        </p:txBody>
      </p:sp>
    </p:spTree>
    <p:extLst>
      <p:ext uri="{BB962C8B-B14F-4D97-AF65-F5344CB8AC3E}">
        <p14:creationId xmlns:p14="http://schemas.microsoft.com/office/powerpoint/2010/main" val="365003044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CC921B-DC81-40ED-B9E7-BCACE8D65DE5}"/>
              </a:ext>
            </a:extLst>
          </p:cNvPr>
          <p:cNvSpPr>
            <a:spLocks noGrp="1"/>
          </p:cNvSpPr>
          <p:nvPr>
            <p:ph type="body" sz="quarter" idx="10"/>
          </p:nvPr>
        </p:nvSpPr>
        <p:spPr/>
        <p:txBody>
          <a:bodyPr/>
          <a:lstStyle/>
          <a:p>
            <a:r>
              <a:rPr lang="en-US" dirty="0"/>
              <a:t>Census R: factor and characters</a:t>
            </a:r>
          </a:p>
          <a:p>
            <a:endParaRPr lang="en-US" dirty="0"/>
          </a:p>
        </p:txBody>
      </p:sp>
      <p:pic>
        <p:nvPicPr>
          <p:cNvPr id="3" name="Picture 2">
            <a:extLst>
              <a:ext uri="{FF2B5EF4-FFF2-40B4-BE49-F238E27FC236}">
                <a16:creationId xmlns:a16="http://schemas.microsoft.com/office/drawing/2014/main" id="{EB4F697B-9815-4B71-8BA1-9D6363DDBC60}"/>
              </a:ext>
            </a:extLst>
          </p:cNvPr>
          <p:cNvPicPr>
            <a:picLocks noChangeAspect="1"/>
          </p:cNvPicPr>
          <p:nvPr/>
        </p:nvPicPr>
        <p:blipFill>
          <a:blip r:embed="rId2"/>
          <a:stretch>
            <a:fillRect/>
          </a:stretch>
        </p:blipFill>
        <p:spPr>
          <a:xfrm>
            <a:off x="854833" y="1711108"/>
            <a:ext cx="8289167" cy="1953443"/>
          </a:xfrm>
          <a:prstGeom prst="rect">
            <a:avLst/>
          </a:prstGeom>
        </p:spPr>
      </p:pic>
      <p:sp>
        <p:nvSpPr>
          <p:cNvPr id="4" name="TextBox 3">
            <a:extLst>
              <a:ext uri="{FF2B5EF4-FFF2-40B4-BE49-F238E27FC236}">
                <a16:creationId xmlns:a16="http://schemas.microsoft.com/office/drawing/2014/main" id="{8D60CC43-A95B-4F1B-9C4D-177A222EC568}"/>
              </a:ext>
            </a:extLst>
          </p:cNvPr>
          <p:cNvSpPr txBox="1"/>
          <p:nvPr/>
        </p:nvSpPr>
        <p:spPr>
          <a:xfrm>
            <a:off x="560587" y="937375"/>
            <a:ext cx="7935522" cy="369332"/>
          </a:xfrm>
          <a:prstGeom prst="rect">
            <a:avLst/>
          </a:prstGeom>
          <a:noFill/>
        </p:spPr>
        <p:txBody>
          <a:bodyPr wrap="square" rtlCol="0">
            <a:spAutoFit/>
          </a:bodyPr>
          <a:lstStyle/>
          <a:p>
            <a:r>
              <a:rPr lang="en-US" dirty="0"/>
              <a:t>function table will count frequencies of each value in the variable</a:t>
            </a:r>
          </a:p>
        </p:txBody>
      </p:sp>
    </p:spTree>
    <p:extLst>
      <p:ext uri="{BB962C8B-B14F-4D97-AF65-F5344CB8AC3E}">
        <p14:creationId xmlns:p14="http://schemas.microsoft.com/office/powerpoint/2010/main" val="318393173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CC921B-DC81-40ED-B9E7-BCACE8D65DE5}"/>
              </a:ext>
            </a:extLst>
          </p:cNvPr>
          <p:cNvSpPr>
            <a:spLocks noGrp="1"/>
          </p:cNvSpPr>
          <p:nvPr>
            <p:ph type="body" sz="quarter" idx="10"/>
          </p:nvPr>
        </p:nvSpPr>
        <p:spPr/>
        <p:txBody>
          <a:bodyPr/>
          <a:lstStyle/>
          <a:p>
            <a:r>
              <a:rPr lang="en-US" dirty="0"/>
              <a:t>Census R: factor and characters</a:t>
            </a:r>
          </a:p>
          <a:p>
            <a:endParaRPr lang="en-US" dirty="0"/>
          </a:p>
        </p:txBody>
      </p:sp>
      <p:pic>
        <p:nvPicPr>
          <p:cNvPr id="3" name="Picture 2">
            <a:extLst>
              <a:ext uri="{FF2B5EF4-FFF2-40B4-BE49-F238E27FC236}">
                <a16:creationId xmlns:a16="http://schemas.microsoft.com/office/drawing/2014/main" id="{24FBABE6-3988-4ED9-92B6-74E4825CCD15}"/>
              </a:ext>
            </a:extLst>
          </p:cNvPr>
          <p:cNvPicPr>
            <a:picLocks noChangeAspect="1"/>
          </p:cNvPicPr>
          <p:nvPr/>
        </p:nvPicPr>
        <p:blipFill rotWithShape="1">
          <a:blip r:embed="rId2"/>
          <a:srcRect r="20753"/>
          <a:stretch/>
        </p:blipFill>
        <p:spPr>
          <a:xfrm>
            <a:off x="574372" y="2319665"/>
            <a:ext cx="7246275" cy="1952161"/>
          </a:xfrm>
          <a:prstGeom prst="rect">
            <a:avLst/>
          </a:prstGeom>
        </p:spPr>
      </p:pic>
      <p:sp>
        <p:nvSpPr>
          <p:cNvPr id="4" name="TextBox 3">
            <a:extLst>
              <a:ext uri="{FF2B5EF4-FFF2-40B4-BE49-F238E27FC236}">
                <a16:creationId xmlns:a16="http://schemas.microsoft.com/office/drawing/2014/main" id="{5C599448-B992-455B-B536-0993304EF700}"/>
              </a:ext>
            </a:extLst>
          </p:cNvPr>
          <p:cNvSpPr txBox="1"/>
          <p:nvPr/>
        </p:nvSpPr>
        <p:spPr>
          <a:xfrm>
            <a:off x="261914" y="983325"/>
            <a:ext cx="8523678" cy="923330"/>
          </a:xfrm>
          <a:prstGeom prst="rect">
            <a:avLst/>
          </a:prstGeom>
          <a:noFill/>
        </p:spPr>
        <p:txBody>
          <a:bodyPr wrap="square" rtlCol="0">
            <a:spAutoFit/>
          </a:bodyPr>
          <a:lstStyle/>
          <a:p>
            <a:pPr marL="285750" indent="-285750">
              <a:buFont typeface="Arial" panose="020B0604020202020204" pitchFamily="34" charset="0"/>
              <a:buChar char="•"/>
            </a:pPr>
            <a:r>
              <a:rPr lang="en-US" dirty="0"/>
              <a:t>create another </a:t>
            </a:r>
            <a:r>
              <a:rPr lang="en-US" dirty="0" err="1"/>
              <a:t>dataframe</a:t>
            </a:r>
            <a:r>
              <a:rPr lang="en-US" dirty="0"/>
              <a:t> with</a:t>
            </a:r>
            <a:r>
              <a:rPr lang="hy-AM" dirty="0"/>
              <a:t> </a:t>
            </a:r>
            <a:r>
              <a:rPr lang="en-US" dirty="0"/>
              <a:t>with only region 8</a:t>
            </a:r>
          </a:p>
          <a:p>
            <a:pPr marL="285750" indent="-285750">
              <a:buFont typeface="Arial" panose="020B0604020202020204" pitchFamily="34" charset="0"/>
              <a:buChar char="•"/>
            </a:pPr>
            <a:r>
              <a:rPr lang="en-US" dirty="0"/>
              <a:t>You can see that there are no very happy people here </a:t>
            </a:r>
            <a:r>
              <a:rPr lang="en-US" dirty="0">
                <a:sym typeface="Wingdings" panose="05000000000000000000" pitchFamily="2" charset="2"/>
              </a:rPr>
              <a:t></a:t>
            </a:r>
          </a:p>
          <a:p>
            <a:pPr marL="285750" indent="-285750">
              <a:buFont typeface="Arial" panose="020B0604020202020204" pitchFamily="34" charset="0"/>
              <a:buChar char="•"/>
            </a:pPr>
            <a:r>
              <a:rPr lang="en-US" dirty="0">
                <a:sym typeface="Wingdings" panose="05000000000000000000" pitchFamily="2" charset="2"/>
              </a:rPr>
              <a:t>So the count value for Very Happy is 0</a:t>
            </a:r>
            <a:r>
              <a:rPr lang="en-US" dirty="0"/>
              <a:t> </a:t>
            </a:r>
          </a:p>
        </p:txBody>
      </p:sp>
    </p:spTree>
    <p:extLst>
      <p:ext uri="{BB962C8B-B14F-4D97-AF65-F5344CB8AC3E}">
        <p14:creationId xmlns:p14="http://schemas.microsoft.com/office/powerpoint/2010/main" val="140053481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CC921B-DC81-40ED-B9E7-BCACE8D65DE5}"/>
              </a:ext>
            </a:extLst>
          </p:cNvPr>
          <p:cNvSpPr>
            <a:spLocks noGrp="1"/>
          </p:cNvSpPr>
          <p:nvPr>
            <p:ph type="body" sz="quarter" idx="10"/>
          </p:nvPr>
        </p:nvSpPr>
        <p:spPr/>
        <p:txBody>
          <a:bodyPr/>
          <a:lstStyle/>
          <a:p>
            <a:r>
              <a:rPr lang="en-US" dirty="0"/>
              <a:t>Census R: factor and characters</a:t>
            </a:r>
          </a:p>
          <a:p>
            <a:endParaRPr lang="en-US" dirty="0"/>
          </a:p>
        </p:txBody>
      </p:sp>
      <p:sp>
        <p:nvSpPr>
          <p:cNvPr id="4" name="TextBox 3">
            <a:extLst>
              <a:ext uri="{FF2B5EF4-FFF2-40B4-BE49-F238E27FC236}">
                <a16:creationId xmlns:a16="http://schemas.microsoft.com/office/drawing/2014/main" id="{C7CA89D3-1AE9-44B6-B1AF-3B111B66EBD6}"/>
              </a:ext>
            </a:extLst>
          </p:cNvPr>
          <p:cNvSpPr txBox="1"/>
          <p:nvPr/>
        </p:nvSpPr>
        <p:spPr>
          <a:xfrm>
            <a:off x="317053" y="900615"/>
            <a:ext cx="8266360" cy="1200329"/>
          </a:xfrm>
          <a:prstGeom prst="rect">
            <a:avLst/>
          </a:prstGeom>
          <a:noFill/>
        </p:spPr>
        <p:txBody>
          <a:bodyPr wrap="square" rtlCol="0">
            <a:spAutoFit/>
          </a:bodyPr>
          <a:lstStyle/>
          <a:p>
            <a:pPr marL="285750" indent="-285750">
              <a:buFont typeface="Arial" panose="020B0604020202020204" pitchFamily="34" charset="0"/>
              <a:buChar char="•"/>
            </a:pPr>
            <a:r>
              <a:rPr lang="en-US" dirty="0"/>
              <a:t>Now change the type of variable happy to character</a:t>
            </a:r>
          </a:p>
          <a:p>
            <a:pPr marL="285750" indent="-285750">
              <a:buFont typeface="Arial" panose="020B0604020202020204" pitchFamily="34" charset="0"/>
              <a:buChar char="•"/>
            </a:pPr>
            <a:r>
              <a:rPr lang="en-US" dirty="0"/>
              <a:t>Subset it again</a:t>
            </a:r>
          </a:p>
          <a:p>
            <a:pPr marL="285750" indent="-285750">
              <a:buFont typeface="Arial" panose="020B0604020202020204" pitchFamily="34" charset="0"/>
              <a:buChar char="•"/>
            </a:pPr>
            <a:r>
              <a:rPr lang="en-US" dirty="0"/>
              <a:t>count the frequencies</a:t>
            </a:r>
          </a:p>
          <a:p>
            <a:pPr marL="285750" indent="-285750">
              <a:buFont typeface="Arial" panose="020B0604020202020204" pitchFamily="34" charset="0"/>
              <a:buChar char="•"/>
            </a:pPr>
            <a:r>
              <a:rPr lang="en-US" dirty="0"/>
              <a:t>Very happy is not even in the table</a:t>
            </a:r>
          </a:p>
        </p:txBody>
      </p:sp>
      <p:pic>
        <p:nvPicPr>
          <p:cNvPr id="5" name="Picture 4">
            <a:extLst>
              <a:ext uri="{FF2B5EF4-FFF2-40B4-BE49-F238E27FC236}">
                <a16:creationId xmlns:a16="http://schemas.microsoft.com/office/drawing/2014/main" id="{37829649-0CF3-406B-946A-38ABF567BD0E}"/>
              </a:ext>
            </a:extLst>
          </p:cNvPr>
          <p:cNvPicPr>
            <a:picLocks noChangeAspect="1"/>
          </p:cNvPicPr>
          <p:nvPr/>
        </p:nvPicPr>
        <p:blipFill>
          <a:blip r:embed="rId2"/>
          <a:stretch>
            <a:fillRect/>
          </a:stretch>
        </p:blipFill>
        <p:spPr>
          <a:xfrm>
            <a:off x="430724" y="2329407"/>
            <a:ext cx="8502139" cy="2000503"/>
          </a:xfrm>
          <a:prstGeom prst="rect">
            <a:avLst/>
          </a:prstGeom>
        </p:spPr>
      </p:pic>
      <p:sp>
        <p:nvSpPr>
          <p:cNvPr id="6" name="TextBox 5">
            <a:extLst>
              <a:ext uri="{FF2B5EF4-FFF2-40B4-BE49-F238E27FC236}">
                <a16:creationId xmlns:a16="http://schemas.microsoft.com/office/drawing/2014/main" id="{C5E8BFD4-C907-4504-BA05-4C84A24AA12B}"/>
              </a:ext>
            </a:extLst>
          </p:cNvPr>
          <p:cNvSpPr txBox="1"/>
          <p:nvPr/>
        </p:nvSpPr>
        <p:spPr>
          <a:xfrm>
            <a:off x="546802" y="4824724"/>
            <a:ext cx="6938412" cy="369332"/>
          </a:xfrm>
          <a:prstGeom prst="rect">
            <a:avLst/>
          </a:prstGeom>
          <a:noFill/>
        </p:spPr>
        <p:txBody>
          <a:bodyPr wrap="square" rtlCol="0">
            <a:spAutoFit/>
          </a:bodyPr>
          <a:lstStyle/>
          <a:p>
            <a:r>
              <a:rPr lang="en-US" dirty="0"/>
              <a:t>One reason why you need a factor() variable</a:t>
            </a:r>
          </a:p>
        </p:txBody>
      </p:sp>
    </p:spTree>
    <p:extLst>
      <p:ext uri="{BB962C8B-B14F-4D97-AF65-F5344CB8AC3E}">
        <p14:creationId xmlns:p14="http://schemas.microsoft.com/office/powerpoint/2010/main" val="416737187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A4DE070-0B98-482D-9008-F6D91FB9BEA4}"/>
              </a:ext>
            </a:extLst>
          </p:cNvPr>
          <p:cNvSpPr>
            <a:spLocks noGrp="1"/>
          </p:cNvSpPr>
          <p:nvPr>
            <p:ph type="body" sz="quarter" idx="10"/>
          </p:nvPr>
        </p:nvSpPr>
        <p:spPr/>
        <p:txBody>
          <a:bodyPr/>
          <a:lstStyle/>
          <a:p>
            <a:r>
              <a:rPr lang="en-US" dirty="0"/>
              <a:t>R markdown</a:t>
            </a:r>
          </a:p>
        </p:txBody>
      </p:sp>
    </p:spTree>
    <p:extLst>
      <p:ext uri="{BB962C8B-B14F-4D97-AF65-F5344CB8AC3E}">
        <p14:creationId xmlns:p14="http://schemas.microsoft.com/office/powerpoint/2010/main" val="327085655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FC762E1-82FB-4528-9113-0F24004A45FD}"/>
              </a:ext>
            </a:extLst>
          </p:cNvPr>
          <p:cNvSpPr>
            <a:spLocks noGrp="1"/>
          </p:cNvSpPr>
          <p:nvPr>
            <p:ph type="body" sz="quarter" idx="10"/>
          </p:nvPr>
        </p:nvSpPr>
        <p:spPr/>
        <p:txBody>
          <a:bodyPr/>
          <a:lstStyle/>
          <a:p>
            <a:r>
              <a:rPr lang="en-US" dirty="0"/>
              <a:t>R markdown</a:t>
            </a:r>
          </a:p>
        </p:txBody>
      </p:sp>
      <p:sp>
        <p:nvSpPr>
          <p:cNvPr id="3" name="TextBox 2">
            <a:extLst>
              <a:ext uri="{FF2B5EF4-FFF2-40B4-BE49-F238E27FC236}">
                <a16:creationId xmlns:a16="http://schemas.microsoft.com/office/drawing/2014/main" id="{9FA6A2B3-982B-44B9-ABC1-31F809467D71}"/>
              </a:ext>
            </a:extLst>
          </p:cNvPr>
          <p:cNvSpPr txBox="1"/>
          <p:nvPr/>
        </p:nvSpPr>
        <p:spPr>
          <a:xfrm>
            <a:off x="307863" y="843677"/>
            <a:ext cx="7917142" cy="3139321"/>
          </a:xfrm>
          <a:prstGeom prst="rect">
            <a:avLst/>
          </a:prstGeom>
          <a:noFill/>
        </p:spPr>
        <p:txBody>
          <a:bodyPr wrap="square" rtlCol="0">
            <a:spAutoFit/>
          </a:bodyPr>
          <a:lstStyle/>
          <a:p>
            <a:pPr marL="285750" indent="-285750">
              <a:buFont typeface="Arial" panose="020B0604020202020204" pitchFamily="34" charset="0"/>
              <a:buChar char="•"/>
            </a:pPr>
            <a:r>
              <a:rPr lang="en-US" dirty="0"/>
              <a:t>R Markdown documents are fully reproducible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It allows to combine text and code together in one report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You can use multiple languages within markdown file (R, python, SQL)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solidFill>
                  <a:srgbClr val="404040"/>
                </a:solidFill>
                <a:latin typeface="Source Sans Pro"/>
              </a:rPr>
              <a:t>R Markdown supports dozens of static and dynamic output formats including HTML, PDF, MS Word, Beamer, HTML5 slides, </a:t>
            </a:r>
            <a:r>
              <a:rPr lang="en-US" dirty="0" err="1">
                <a:solidFill>
                  <a:srgbClr val="404040"/>
                </a:solidFill>
                <a:latin typeface="Source Sans Pro"/>
              </a:rPr>
              <a:t>etc</a:t>
            </a:r>
            <a:endParaRPr lang="en-US" dirty="0">
              <a:solidFill>
                <a:srgbClr val="404040"/>
              </a:solidFill>
              <a:latin typeface="Source Sans Pro"/>
            </a:endParaRPr>
          </a:p>
          <a:p>
            <a:pPr marL="285750" indent="-285750">
              <a:buFont typeface="Arial" panose="020B0604020202020204" pitchFamily="34" charset="0"/>
              <a:buChar char="•"/>
            </a:pPr>
            <a:endParaRPr lang="en-US" dirty="0">
              <a:solidFill>
                <a:srgbClr val="404040"/>
              </a:solidFill>
              <a:latin typeface="Source Sans Pro"/>
            </a:endParaRPr>
          </a:p>
          <a:p>
            <a:pPr marL="285750" indent="-285750">
              <a:buFont typeface="Arial" panose="020B0604020202020204" pitchFamily="34" charset="0"/>
              <a:buChar char="•"/>
            </a:pPr>
            <a:r>
              <a:rPr lang="en-US" dirty="0">
                <a:solidFill>
                  <a:srgbClr val="404040"/>
                </a:solidFill>
                <a:latin typeface="Source Sans Pro"/>
              </a:rPr>
              <a:t>R markdown is run in its own environment</a:t>
            </a:r>
          </a:p>
          <a:p>
            <a:pPr marL="285750" indent="-285750">
              <a:buFont typeface="Arial" panose="020B0604020202020204" pitchFamily="34" charset="0"/>
              <a:buChar char="•"/>
            </a:pPr>
            <a:endParaRPr lang="en-US" dirty="0"/>
          </a:p>
        </p:txBody>
      </p:sp>
      <p:pic>
        <p:nvPicPr>
          <p:cNvPr id="9218" name="Picture 2" descr="https://d33wubrfki0l68.cloudfront.net/6d2d611d3fd21938c75b12adc3f3c144f0cc7559/80071/images/bandthree2.png">
            <a:extLst>
              <a:ext uri="{FF2B5EF4-FFF2-40B4-BE49-F238E27FC236}">
                <a16:creationId xmlns:a16="http://schemas.microsoft.com/office/drawing/2014/main" id="{CC42A50C-D5D5-4728-9976-5E55F1A201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9395" y="3184317"/>
            <a:ext cx="3094797" cy="3610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309727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FC762E1-82FB-4528-9113-0F24004A45FD}"/>
              </a:ext>
            </a:extLst>
          </p:cNvPr>
          <p:cNvSpPr>
            <a:spLocks noGrp="1"/>
          </p:cNvSpPr>
          <p:nvPr>
            <p:ph type="body" sz="quarter" idx="10"/>
          </p:nvPr>
        </p:nvSpPr>
        <p:spPr/>
        <p:txBody>
          <a:bodyPr/>
          <a:lstStyle/>
          <a:p>
            <a:r>
              <a:rPr lang="en-US" dirty="0"/>
              <a:t>R markdown</a:t>
            </a:r>
          </a:p>
        </p:txBody>
      </p:sp>
      <p:pic>
        <p:nvPicPr>
          <p:cNvPr id="3" name="Picture 2">
            <a:extLst>
              <a:ext uri="{FF2B5EF4-FFF2-40B4-BE49-F238E27FC236}">
                <a16:creationId xmlns:a16="http://schemas.microsoft.com/office/drawing/2014/main" id="{4E6D6360-EBA1-4A43-9210-CECCC8A878EA}"/>
              </a:ext>
            </a:extLst>
          </p:cNvPr>
          <p:cNvPicPr>
            <a:picLocks noChangeAspect="1"/>
          </p:cNvPicPr>
          <p:nvPr/>
        </p:nvPicPr>
        <p:blipFill>
          <a:blip r:embed="rId2"/>
          <a:stretch>
            <a:fillRect/>
          </a:stretch>
        </p:blipFill>
        <p:spPr>
          <a:xfrm>
            <a:off x="1518648" y="1241000"/>
            <a:ext cx="6880966" cy="5194669"/>
          </a:xfrm>
          <a:prstGeom prst="rect">
            <a:avLst/>
          </a:prstGeom>
        </p:spPr>
      </p:pic>
      <p:sp>
        <p:nvSpPr>
          <p:cNvPr id="4" name="TextBox 3">
            <a:extLst>
              <a:ext uri="{FF2B5EF4-FFF2-40B4-BE49-F238E27FC236}">
                <a16:creationId xmlns:a16="http://schemas.microsoft.com/office/drawing/2014/main" id="{0E36E7BD-571B-4546-AD14-C2F2FA2A4092}"/>
              </a:ext>
            </a:extLst>
          </p:cNvPr>
          <p:cNvSpPr txBox="1"/>
          <p:nvPr/>
        </p:nvSpPr>
        <p:spPr>
          <a:xfrm>
            <a:off x="482472" y="891425"/>
            <a:ext cx="7917142" cy="584775"/>
          </a:xfrm>
          <a:prstGeom prst="rect">
            <a:avLst/>
          </a:prstGeom>
          <a:noFill/>
        </p:spPr>
        <p:txBody>
          <a:bodyPr wrap="square" rtlCol="0">
            <a:spAutoFit/>
          </a:bodyPr>
          <a:lstStyle/>
          <a:p>
            <a:r>
              <a:rPr lang="en-US" sz="3200" b="1" dirty="0"/>
              <a:t>The workflow</a:t>
            </a:r>
          </a:p>
        </p:txBody>
      </p:sp>
    </p:spTree>
    <p:extLst>
      <p:ext uri="{BB962C8B-B14F-4D97-AF65-F5344CB8AC3E}">
        <p14:creationId xmlns:p14="http://schemas.microsoft.com/office/powerpoint/2010/main" val="311473565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FC762E1-82FB-4528-9113-0F24004A45FD}"/>
              </a:ext>
            </a:extLst>
          </p:cNvPr>
          <p:cNvSpPr>
            <a:spLocks noGrp="1"/>
          </p:cNvSpPr>
          <p:nvPr>
            <p:ph type="body" sz="quarter" idx="10"/>
          </p:nvPr>
        </p:nvSpPr>
        <p:spPr/>
        <p:txBody>
          <a:bodyPr/>
          <a:lstStyle/>
          <a:p>
            <a:r>
              <a:rPr lang="en-US" dirty="0"/>
              <a:t>R markdown</a:t>
            </a:r>
          </a:p>
        </p:txBody>
      </p:sp>
      <p:pic>
        <p:nvPicPr>
          <p:cNvPr id="3" name="Picture 2">
            <a:extLst>
              <a:ext uri="{FF2B5EF4-FFF2-40B4-BE49-F238E27FC236}">
                <a16:creationId xmlns:a16="http://schemas.microsoft.com/office/drawing/2014/main" id="{801DB258-F252-4951-9637-2D0F234CD16B}"/>
              </a:ext>
            </a:extLst>
          </p:cNvPr>
          <p:cNvPicPr>
            <a:picLocks noChangeAspect="1"/>
          </p:cNvPicPr>
          <p:nvPr/>
        </p:nvPicPr>
        <p:blipFill>
          <a:blip r:embed="rId2"/>
          <a:stretch>
            <a:fillRect/>
          </a:stretch>
        </p:blipFill>
        <p:spPr>
          <a:xfrm>
            <a:off x="298673" y="1974830"/>
            <a:ext cx="7200326" cy="3455018"/>
          </a:xfrm>
          <a:prstGeom prst="rect">
            <a:avLst/>
          </a:prstGeom>
        </p:spPr>
      </p:pic>
      <p:sp>
        <p:nvSpPr>
          <p:cNvPr id="4" name="TextBox 3">
            <a:extLst>
              <a:ext uri="{FF2B5EF4-FFF2-40B4-BE49-F238E27FC236}">
                <a16:creationId xmlns:a16="http://schemas.microsoft.com/office/drawing/2014/main" id="{E1952186-C0C5-4975-B8A8-D45CABF43B98}"/>
              </a:ext>
            </a:extLst>
          </p:cNvPr>
          <p:cNvSpPr txBox="1"/>
          <p:nvPr/>
        </p:nvSpPr>
        <p:spPr>
          <a:xfrm>
            <a:off x="289483" y="873045"/>
            <a:ext cx="7705773" cy="369332"/>
          </a:xfrm>
          <a:prstGeom prst="rect">
            <a:avLst/>
          </a:prstGeom>
          <a:noFill/>
        </p:spPr>
        <p:txBody>
          <a:bodyPr wrap="square" rtlCol="0">
            <a:spAutoFit/>
          </a:bodyPr>
          <a:lstStyle/>
          <a:p>
            <a:r>
              <a:rPr lang="en-US" dirty="0"/>
              <a:t>To open new markdown file</a:t>
            </a:r>
          </a:p>
        </p:txBody>
      </p:sp>
    </p:spTree>
    <p:extLst>
      <p:ext uri="{BB962C8B-B14F-4D97-AF65-F5344CB8AC3E}">
        <p14:creationId xmlns:p14="http://schemas.microsoft.com/office/powerpoint/2010/main" val="388909999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FC762E1-82FB-4528-9113-0F24004A45FD}"/>
              </a:ext>
            </a:extLst>
          </p:cNvPr>
          <p:cNvSpPr>
            <a:spLocks noGrp="1"/>
          </p:cNvSpPr>
          <p:nvPr>
            <p:ph type="body" sz="quarter" idx="10"/>
          </p:nvPr>
        </p:nvSpPr>
        <p:spPr/>
        <p:txBody>
          <a:bodyPr/>
          <a:lstStyle/>
          <a:p>
            <a:r>
              <a:rPr lang="en-US" dirty="0"/>
              <a:t>R markdown</a:t>
            </a:r>
          </a:p>
        </p:txBody>
      </p:sp>
      <p:sp>
        <p:nvSpPr>
          <p:cNvPr id="6" name="Rectangle 5">
            <a:extLst>
              <a:ext uri="{FF2B5EF4-FFF2-40B4-BE49-F238E27FC236}">
                <a16:creationId xmlns:a16="http://schemas.microsoft.com/office/drawing/2014/main" id="{2DB87BB0-E481-491D-8DA4-0C944B771564}"/>
              </a:ext>
            </a:extLst>
          </p:cNvPr>
          <p:cNvSpPr/>
          <p:nvPr/>
        </p:nvSpPr>
        <p:spPr>
          <a:xfrm>
            <a:off x="197280" y="1084739"/>
            <a:ext cx="8804276" cy="1754326"/>
          </a:xfrm>
          <a:prstGeom prst="rect">
            <a:avLst/>
          </a:prstGeom>
        </p:spPr>
        <p:txBody>
          <a:bodyPr wrap="square">
            <a:spAutoFit/>
          </a:bodyPr>
          <a:lstStyle/>
          <a:p>
            <a:r>
              <a:rPr lang="en-US" dirty="0"/>
              <a:t>The document below is a template R Markdown document. It includes the most familiar parts of an R Markdown document:</a:t>
            </a:r>
          </a:p>
          <a:p>
            <a:endParaRPr lang="en-US" dirty="0"/>
          </a:p>
          <a:p>
            <a:pPr marL="285750" indent="-285750">
              <a:buFont typeface="Arial" panose="020B0604020202020204" pitchFamily="34" charset="0"/>
              <a:buChar char="•"/>
            </a:pPr>
            <a:r>
              <a:rPr lang="en-US" dirty="0"/>
              <a:t>A </a:t>
            </a:r>
            <a:r>
              <a:rPr lang="en-US" dirty="0">
                <a:hlinkClick r:id="rId2"/>
              </a:rPr>
              <a:t>YAML</a:t>
            </a:r>
            <a:r>
              <a:rPr lang="en-US" dirty="0"/>
              <a:t> header that contains some metadata </a:t>
            </a:r>
            <a:r>
              <a:rPr lang="en-US" b="1" dirty="0"/>
              <a:t>(1)</a:t>
            </a:r>
          </a:p>
          <a:p>
            <a:pPr marL="285750" indent="-285750">
              <a:buFont typeface="Arial" panose="020B0604020202020204" pitchFamily="34" charset="0"/>
              <a:buChar char="•"/>
            </a:pPr>
            <a:r>
              <a:rPr lang="en-US" dirty="0"/>
              <a:t>Narrative text written in Markdown </a:t>
            </a:r>
            <a:r>
              <a:rPr lang="en-US" b="1" dirty="0"/>
              <a:t>(2)</a:t>
            </a:r>
          </a:p>
          <a:p>
            <a:pPr marL="285750" indent="-285750">
              <a:buFont typeface="Arial" panose="020B0604020202020204" pitchFamily="34" charset="0"/>
              <a:buChar char="•"/>
            </a:pPr>
            <a:r>
              <a:rPr lang="en-US" dirty="0"/>
              <a:t>R code chunks surrounded by </a:t>
            </a:r>
            <a:r>
              <a:rPr lang="en-US" b="1" dirty="0"/>
              <a:t>```{r} </a:t>
            </a:r>
            <a:r>
              <a:rPr lang="en-US" dirty="0"/>
              <a:t>and</a:t>
            </a:r>
            <a:r>
              <a:rPr lang="en-US" b="1" dirty="0"/>
              <a:t> ```</a:t>
            </a:r>
            <a:r>
              <a:rPr lang="en-US" dirty="0"/>
              <a:t>; a syntax that comes from the </a:t>
            </a:r>
            <a:r>
              <a:rPr lang="en-US" dirty="0" err="1"/>
              <a:t>knitr</a:t>
            </a:r>
            <a:r>
              <a:rPr lang="en-US" dirty="0"/>
              <a:t> package </a:t>
            </a:r>
            <a:r>
              <a:rPr lang="en-US" b="1" dirty="0"/>
              <a:t>(3)</a:t>
            </a:r>
          </a:p>
        </p:txBody>
      </p:sp>
      <p:pic>
        <p:nvPicPr>
          <p:cNvPr id="7" name="Picture 6">
            <a:extLst>
              <a:ext uri="{FF2B5EF4-FFF2-40B4-BE49-F238E27FC236}">
                <a16:creationId xmlns:a16="http://schemas.microsoft.com/office/drawing/2014/main" id="{23A3DF03-4B45-4E64-A7DD-606F52F48C2E}"/>
              </a:ext>
            </a:extLst>
          </p:cNvPr>
          <p:cNvPicPr>
            <a:picLocks noChangeAspect="1"/>
          </p:cNvPicPr>
          <p:nvPr/>
        </p:nvPicPr>
        <p:blipFill>
          <a:blip r:embed="rId3"/>
          <a:stretch>
            <a:fillRect/>
          </a:stretch>
        </p:blipFill>
        <p:spPr>
          <a:xfrm>
            <a:off x="445713" y="3429000"/>
            <a:ext cx="8112031" cy="2787674"/>
          </a:xfrm>
          <a:prstGeom prst="rect">
            <a:avLst/>
          </a:prstGeom>
        </p:spPr>
      </p:pic>
      <p:sp>
        <p:nvSpPr>
          <p:cNvPr id="8" name="Oval 7">
            <a:extLst>
              <a:ext uri="{FF2B5EF4-FFF2-40B4-BE49-F238E27FC236}">
                <a16:creationId xmlns:a16="http://schemas.microsoft.com/office/drawing/2014/main" id="{39186811-83A9-4B86-8996-935ACD4543BE}"/>
              </a:ext>
            </a:extLst>
          </p:cNvPr>
          <p:cNvSpPr/>
          <p:nvPr/>
        </p:nvSpPr>
        <p:spPr>
          <a:xfrm>
            <a:off x="3487585" y="3933298"/>
            <a:ext cx="413548" cy="3675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0" name="Oval 9">
            <a:extLst>
              <a:ext uri="{FF2B5EF4-FFF2-40B4-BE49-F238E27FC236}">
                <a16:creationId xmlns:a16="http://schemas.microsoft.com/office/drawing/2014/main" id="{13508D4D-995C-4A7A-9198-BEEBCD820A7E}"/>
              </a:ext>
            </a:extLst>
          </p:cNvPr>
          <p:cNvSpPr/>
          <p:nvPr/>
        </p:nvSpPr>
        <p:spPr>
          <a:xfrm>
            <a:off x="8400379" y="4822837"/>
            <a:ext cx="413548" cy="3675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2" name="Oval 11">
            <a:extLst>
              <a:ext uri="{FF2B5EF4-FFF2-40B4-BE49-F238E27FC236}">
                <a16:creationId xmlns:a16="http://schemas.microsoft.com/office/drawing/2014/main" id="{1B1FF919-AA66-41FA-9955-DEBD39E2CBA5}"/>
              </a:ext>
            </a:extLst>
          </p:cNvPr>
          <p:cNvSpPr/>
          <p:nvPr/>
        </p:nvSpPr>
        <p:spPr>
          <a:xfrm>
            <a:off x="2982904" y="5726104"/>
            <a:ext cx="413548" cy="3675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Tree>
    <p:extLst>
      <p:ext uri="{BB962C8B-B14F-4D97-AF65-F5344CB8AC3E}">
        <p14:creationId xmlns:p14="http://schemas.microsoft.com/office/powerpoint/2010/main" val="214023894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079EC7-6084-43F2-BFBD-9262B40CFD01}"/>
              </a:ext>
            </a:extLst>
          </p:cNvPr>
          <p:cNvSpPr>
            <a:spLocks noGrp="1"/>
          </p:cNvSpPr>
          <p:nvPr>
            <p:ph type="body" sz="quarter" idx="10"/>
          </p:nvPr>
        </p:nvSpPr>
        <p:spPr/>
        <p:txBody>
          <a:bodyPr/>
          <a:lstStyle/>
          <a:p>
            <a:endParaRPr lang="en-US"/>
          </a:p>
        </p:txBody>
      </p:sp>
      <p:pic>
        <p:nvPicPr>
          <p:cNvPr id="3" name="Picture 2">
            <a:extLst>
              <a:ext uri="{FF2B5EF4-FFF2-40B4-BE49-F238E27FC236}">
                <a16:creationId xmlns:a16="http://schemas.microsoft.com/office/drawing/2014/main" id="{8D272E91-45F2-441E-B11F-C23BA4E3DF39}"/>
              </a:ext>
            </a:extLst>
          </p:cNvPr>
          <p:cNvPicPr>
            <a:picLocks noChangeAspect="1"/>
          </p:cNvPicPr>
          <p:nvPr/>
        </p:nvPicPr>
        <p:blipFill>
          <a:blip r:embed="rId2"/>
          <a:stretch>
            <a:fillRect/>
          </a:stretch>
        </p:blipFill>
        <p:spPr>
          <a:xfrm>
            <a:off x="745101" y="1830549"/>
            <a:ext cx="7883547" cy="4290785"/>
          </a:xfrm>
          <a:prstGeom prst="rect">
            <a:avLst/>
          </a:prstGeom>
        </p:spPr>
      </p:pic>
      <p:sp>
        <p:nvSpPr>
          <p:cNvPr id="4" name="TextBox 3">
            <a:extLst>
              <a:ext uri="{FF2B5EF4-FFF2-40B4-BE49-F238E27FC236}">
                <a16:creationId xmlns:a16="http://schemas.microsoft.com/office/drawing/2014/main" id="{B9AC789B-F6CE-4F03-8C7C-8CC726613C39}"/>
              </a:ext>
            </a:extLst>
          </p:cNvPr>
          <p:cNvSpPr txBox="1"/>
          <p:nvPr/>
        </p:nvSpPr>
        <p:spPr>
          <a:xfrm>
            <a:off x="505447" y="928185"/>
            <a:ext cx="8082561" cy="646331"/>
          </a:xfrm>
          <a:prstGeom prst="rect">
            <a:avLst/>
          </a:prstGeom>
          <a:noFill/>
        </p:spPr>
        <p:txBody>
          <a:bodyPr wrap="square" rtlCol="0">
            <a:spAutoFit/>
          </a:bodyPr>
          <a:lstStyle/>
          <a:p>
            <a:pPr marL="285750" indent="-285750">
              <a:buFont typeface="Arial" panose="020B0604020202020204" pitchFamily="34" charset="0"/>
              <a:buChar char="•"/>
            </a:pPr>
            <a:r>
              <a:rPr lang="en-US" dirty="0"/>
              <a:t>Now you can knit your report to different formats</a:t>
            </a:r>
          </a:p>
          <a:p>
            <a:pPr marL="285750" indent="-285750">
              <a:buFont typeface="Arial" panose="020B0604020202020204" pitchFamily="34" charset="0"/>
              <a:buChar char="•"/>
            </a:pPr>
            <a:r>
              <a:rPr lang="en-US" dirty="0"/>
              <a:t>For pdf files, you need to have </a:t>
            </a:r>
            <a:r>
              <a:rPr lang="en-US" dirty="0" err="1"/>
              <a:t>MikTex</a:t>
            </a:r>
            <a:r>
              <a:rPr lang="en-US" dirty="0"/>
              <a:t> installed (it is going to take a lot of time)</a:t>
            </a:r>
          </a:p>
        </p:txBody>
      </p:sp>
    </p:spTree>
    <p:extLst>
      <p:ext uri="{BB962C8B-B14F-4D97-AF65-F5344CB8AC3E}">
        <p14:creationId xmlns:p14="http://schemas.microsoft.com/office/powerpoint/2010/main" val="22762266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C42CC60-5B22-4616-B29C-707770EA3649}"/>
              </a:ext>
            </a:extLst>
          </p:cNvPr>
          <p:cNvSpPr>
            <a:spLocks noGrp="1"/>
          </p:cNvSpPr>
          <p:nvPr>
            <p:ph type="body" sz="quarter" idx="10"/>
          </p:nvPr>
        </p:nvSpPr>
        <p:spPr/>
        <p:txBody>
          <a:bodyPr/>
          <a:lstStyle/>
          <a:p>
            <a:r>
              <a:rPr lang="en-US" dirty="0"/>
              <a:t>Common errors</a:t>
            </a:r>
          </a:p>
        </p:txBody>
      </p:sp>
    </p:spTree>
    <p:extLst>
      <p:ext uri="{BB962C8B-B14F-4D97-AF65-F5344CB8AC3E}">
        <p14:creationId xmlns:p14="http://schemas.microsoft.com/office/powerpoint/2010/main" val="192287387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5E023D-9C9F-480C-B279-F282F836453F}"/>
              </a:ext>
            </a:extLst>
          </p:cNvPr>
          <p:cNvSpPr>
            <a:spLocks noGrp="1"/>
          </p:cNvSpPr>
          <p:nvPr>
            <p:ph type="body" sz="quarter" idx="10"/>
          </p:nvPr>
        </p:nvSpPr>
        <p:spPr/>
        <p:txBody>
          <a:bodyPr/>
          <a:lstStyle/>
          <a:p>
            <a:r>
              <a:rPr lang="en-US" dirty="0"/>
              <a:t>Common errors</a:t>
            </a:r>
          </a:p>
        </p:txBody>
      </p:sp>
      <p:sp>
        <p:nvSpPr>
          <p:cNvPr id="4" name="TextBox 3">
            <a:extLst>
              <a:ext uri="{FF2B5EF4-FFF2-40B4-BE49-F238E27FC236}">
                <a16:creationId xmlns:a16="http://schemas.microsoft.com/office/drawing/2014/main" id="{14DD6FDE-DACA-49E6-8C96-BDDC9AB21AAB}"/>
              </a:ext>
            </a:extLst>
          </p:cNvPr>
          <p:cNvSpPr txBox="1"/>
          <p:nvPr/>
        </p:nvSpPr>
        <p:spPr>
          <a:xfrm>
            <a:off x="261914" y="946565"/>
            <a:ext cx="7278440" cy="2585323"/>
          </a:xfrm>
          <a:prstGeom prst="rect">
            <a:avLst/>
          </a:prstGeom>
          <a:noFill/>
        </p:spPr>
        <p:txBody>
          <a:bodyPr wrap="square" rtlCol="0">
            <a:spAutoFit/>
          </a:bodyPr>
          <a:lstStyle/>
          <a:p>
            <a:pPr marL="285750" indent="-285750">
              <a:buFont typeface="Arial" panose="020B0604020202020204" pitchFamily="34" charset="0"/>
              <a:buChar char="•"/>
            </a:pPr>
            <a:r>
              <a:rPr lang="en-US" dirty="0"/>
              <a:t>Check for spelling errors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Check for typos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Check for missed comma or quotation</a:t>
            </a:r>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339253216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F009211-5526-4819-8151-3A580F342C1B}"/>
              </a:ext>
            </a:extLst>
          </p:cNvPr>
          <p:cNvSpPr>
            <a:spLocks noGrp="1"/>
          </p:cNvSpPr>
          <p:nvPr>
            <p:ph type="body" sz="quarter" idx="10"/>
          </p:nvPr>
        </p:nvSpPr>
        <p:spPr/>
        <p:txBody>
          <a:bodyPr/>
          <a:lstStyle/>
          <a:p>
            <a:r>
              <a:rPr lang="en-US" dirty="0"/>
              <a:t>Errors</a:t>
            </a:r>
          </a:p>
        </p:txBody>
      </p:sp>
      <p:pic>
        <p:nvPicPr>
          <p:cNvPr id="4" name="Picture 3">
            <a:extLst>
              <a:ext uri="{FF2B5EF4-FFF2-40B4-BE49-F238E27FC236}">
                <a16:creationId xmlns:a16="http://schemas.microsoft.com/office/drawing/2014/main" id="{2CE78490-C2D8-405C-8685-BE30E5F48FD4}"/>
              </a:ext>
            </a:extLst>
          </p:cNvPr>
          <p:cNvPicPr>
            <a:picLocks noChangeAspect="1"/>
          </p:cNvPicPr>
          <p:nvPr/>
        </p:nvPicPr>
        <p:blipFill>
          <a:blip r:embed="rId2"/>
          <a:stretch>
            <a:fillRect/>
          </a:stretch>
        </p:blipFill>
        <p:spPr>
          <a:xfrm>
            <a:off x="552336" y="1695546"/>
            <a:ext cx="8334346" cy="1865261"/>
          </a:xfrm>
          <a:prstGeom prst="rect">
            <a:avLst/>
          </a:prstGeom>
        </p:spPr>
      </p:pic>
      <p:sp>
        <p:nvSpPr>
          <p:cNvPr id="5" name="TextBox 4">
            <a:extLst>
              <a:ext uri="{FF2B5EF4-FFF2-40B4-BE49-F238E27FC236}">
                <a16:creationId xmlns:a16="http://schemas.microsoft.com/office/drawing/2014/main" id="{BD750A89-5645-41B4-B38B-862856CDCF26}"/>
              </a:ext>
            </a:extLst>
          </p:cNvPr>
          <p:cNvSpPr txBox="1"/>
          <p:nvPr/>
        </p:nvSpPr>
        <p:spPr>
          <a:xfrm>
            <a:off x="330838" y="928185"/>
            <a:ext cx="8349070" cy="369332"/>
          </a:xfrm>
          <a:prstGeom prst="rect">
            <a:avLst/>
          </a:prstGeom>
          <a:noFill/>
        </p:spPr>
        <p:txBody>
          <a:bodyPr wrap="square" rtlCol="0">
            <a:spAutoFit/>
          </a:bodyPr>
          <a:lstStyle/>
          <a:p>
            <a:r>
              <a:rPr lang="en-US" dirty="0"/>
              <a:t>When reading the data</a:t>
            </a:r>
          </a:p>
        </p:txBody>
      </p:sp>
      <p:sp>
        <p:nvSpPr>
          <p:cNvPr id="6" name="TextBox 5">
            <a:extLst>
              <a:ext uri="{FF2B5EF4-FFF2-40B4-BE49-F238E27FC236}">
                <a16:creationId xmlns:a16="http://schemas.microsoft.com/office/drawing/2014/main" id="{A7524A79-5444-4AE4-9396-632200907BA5}"/>
              </a:ext>
            </a:extLst>
          </p:cNvPr>
          <p:cNvSpPr txBox="1"/>
          <p:nvPr/>
        </p:nvSpPr>
        <p:spPr>
          <a:xfrm>
            <a:off x="248129" y="3597865"/>
            <a:ext cx="8018231" cy="923330"/>
          </a:xfrm>
          <a:prstGeom prst="rect">
            <a:avLst/>
          </a:prstGeom>
          <a:noFill/>
        </p:spPr>
        <p:txBody>
          <a:bodyPr wrap="square" rtlCol="0">
            <a:spAutoFit/>
          </a:bodyPr>
          <a:lstStyle/>
          <a:p>
            <a:pPr marL="285750" indent="-285750">
              <a:buFont typeface="Arial" panose="020B0604020202020204" pitchFamily="34" charset="0"/>
              <a:buChar char="•"/>
            </a:pPr>
            <a:r>
              <a:rPr lang="en-US" dirty="0"/>
              <a:t>typo/spelling error – not </a:t>
            </a:r>
            <a:r>
              <a:rPr lang="en-US" i="1" dirty="0" err="1"/>
              <a:t>censas</a:t>
            </a:r>
            <a:r>
              <a:rPr lang="en-US" dirty="0"/>
              <a:t> but </a:t>
            </a:r>
            <a:r>
              <a:rPr lang="en-US" i="1" dirty="0"/>
              <a:t>census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the name is right, than the file is not in your working directory</a:t>
            </a:r>
          </a:p>
        </p:txBody>
      </p:sp>
    </p:spTree>
    <p:extLst>
      <p:ext uri="{BB962C8B-B14F-4D97-AF65-F5344CB8AC3E}">
        <p14:creationId xmlns:p14="http://schemas.microsoft.com/office/powerpoint/2010/main" val="229184654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7AEADF-1DBC-4042-9EFA-094CC6515622}"/>
              </a:ext>
            </a:extLst>
          </p:cNvPr>
          <p:cNvSpPr>
            <a:spLocks noGrp="1"/>
          </p:cNvSpPr>
          <p:nvPr>
            <p:ph type="body" sz="quarter" idx="10"/>
          </p:nvPr>
        </p:nvSpPr>
        <p:spPr/>
        <p:txBody>
          <a:bodyPr/>
          <a:lstStyle/>
          <a:p>
            <a:r>
              <a:rPr lang="en-US" dirty="0"/>
              <a:t>errors</a:t>
            </a:r>
          </a:p>
        </p:txBody>
      </p:sp>
      <p:sp>
        <p:nvSpPr>
          <p:cNvPr id="3" name="TextBox 2">
            <a:extLst>
              <a:ext uri="{FF2B5EF4-FFF2-40B4-BE49-F238E27FC236}">
                <a16:creationId xmlns:a16="http://schemas.microsoft.com/office/drawing/2014/main" id="{37307AB9-A9A2-4AA3-9513-1135E80BBCCA}"/>
              </a:ext>
            </a:extLst>
          </p:cNvPr>
          <p:cNvSpPr txBox="1"/>
          <p:nvPr/>
        </p:nvSpPr>
        <p:spPr>
          <a:xfrm>
            <a:off x="183799" y="840880"/>
            <a:ext cx="8408804" cy="1200329"/>
          </a:xfrm>
          <a:prstGeom prst="rect">
            <a:avLst/>
          </a:prstGeom>
          <a:noFill/>
        </p:spPr>
        <p:txBody>
          <a:bodyPr wrap="square" rtlCol="0">
            <a:spAutoFit/>
          </a:bodyPr>
          <a:lstStyle/>
          <a:p>
            <a:r>
              <a:rPr lang="en-US" dirty="0"/>
              <a:t>Could not find the function</a:t>
            </a:r>
          </a:p>
          <a:p>
            <a:endParaRPr lang="en-US" dirty="0"/>
          </a:p>
          <a:p>
            <a:pPr marL="742950" lvl="1" indent="-285750">
              <a:buFont typeface="Arial" panose="020B0604020202020204" pitchFamily="34" charset="0"/>
              <a:buChar char="•"/>
            </a:pPr>
            <a:r>
              <a:rPr lang="en-US" dirty="0"/>
              <a:t>Typo, misspelling</a:t>
            </a:r>
          </a:p>
          <a:p>
            <a:pPr marL="742950" lvl="1" indent="-285750">
              <a:buFont typeface="Arial" panose="020B0604020202020204" pitchFamily="34" charset="0"/>
              <a:buChar char="•"/>
            </a:pPr>
            <a:r>
              <a:rPr lang="en-US" dirty="0"/>
              <a:t>Forgot to call library that the given function belongs to </a:t>
            </a:r>
          </a:p>
        </p:txBody>
      </p:sp>
      <p:pic>
        <p:nvPicPr>
          <p:cNvPr id="5" name="Picture 4">
            <a:extLst>
              <a:ext uri="{FF2B5EF4-FFF2-40B4-BE49-F238E27FC236}">
                <a16:creationId xmlns:a16="http://schemas.microsoft.com/office/drawing/2014/main" id="{0B5B4600-CA4F-47AC-9991-AC1CEC7C3907}"/>
              </a:ext>
            </a:extLst>
          </p:cNvPr>
          <p:cNvPicPr>
            <a:picLocks noChangeAspect="1"/>
          </p:cNvPicPr>
          <p:nvPr/>
        </p:nvPicPr>
        <p:blipFill>
          <a:blip r:embed="rId2"/>
          <a:stretch>
            <a:fillRect/>
          </a:stretch>
        </p:blipFill>
        <p:spPr>
          <a:xfrm>
            <a:off x="565183" y="2566631"/>
            <a:ext cx="8514488" cy="1197549"/>
          </a:xfrm>
          <a:prstGeom prst="rect">
            <a:avLst/>
          </a:prstGeom>
        </p:spPr>
      </p:pic>
      <p:sp>
        <p:nvSpPr>
          <p:cNvPr id="6" name="TextBox 5">
            <a:extLst>
              <a:ext uri="{FF2B5EF4-FFF2-40B4-BE49-F238E27FC236}">
                <a16:creationId xmlns:a16="http://schemas.microsoft.com/office/drawing/2014/main" id="{46D099A8-2BC9-491D-B196-00CADBABD7F2}"/>
              </a:ext>
            </a:extLst>
          </p:cNvPr>
          <p:cNvSpPr txBox="1"/>
          <p:nvPr/>
        </p:nvSpPr>
        <p:spPr>
          <a:xfrm>
            <a:off x="436523" y="4029793"/>
            <a:ext cx="8284739" cy="646331"/>
          </a:xfrm>
          <a:prstGeom prst="rect">
            <a:avLst/>
          </a:prstGeom>
          <a:noFill/>
        </p:spPr>
        <p:txBody>
          <a:bodyPr wrap="square" rtlCol="0">
            <a:spAutoFit/>
          </a:bodyPr>
          <a:lstStyle/>
          <a:p>
            <a:pPr marL="285750" indent="-285750">
              <a:buFont typeface="Arial" panose="020B0604020202020204" pitchFamily="34" charset="0"/>
              <a:buChar char="•"/>
            </a:pPr>
            <a:r>
              <a:rPr lang="en-US" dirty="0"/>
              <a:t>To use function </a:t>
            </a:r>
            <a:r>
              <a:rPr lang="en-US" dirty="0" err="1"/>
              <a:t>qplot</a:t>
            </a:r>
            <a:r>
              <a:rPr lang="en-US" dirty="0"/>
              <a:t>() from ggplot2 library, first call library(ggplot2).</a:t>
            </a:r>
          </a:p>
          <a:p>
            <a:pPr marL="285750" indent="-285750">
              <a:buFont typeface="Arial" panose="020B0604020202020204" pitchFamily="34" charset="0"/>
              <a:buChar char="•"/>
            </a:pPr>
            <a:r>
              <a:rPr lang="en-US" dirty="0"/>
              <a:t>Remember need to call library only once per R session</a:t>
            </a:r>
          </a:p>
        </p:txBody>
      </p:sp>
    </p:spTree>
    <p:extLst>
      <p:ext uri="{BB962C8B-B14F-4D97-AF65-F5344CB8AC3E}">
        <p14:creationId xmlns:p14="http://schemas.microsoft.com/office/powerpoint/2010/main" val="280126853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7AEADF-1DBC-4042-9EFA-094CC6515622}"/>
              </a:ext>
            </a:extLst>
          </p:cNvPr>
          <p:cNvSpPr>
            <a:spLocks noGrp="1"/>
          </p:cNvSpPr>
          <p:nvPr>
            <p:ph type="body" sz="quarter" idx="10"/>
          </p:nvPr>
        </p:nvSpPr>
        <p:spPr/>
        <p:txBody>
          <a:bodyPr/>
          <a:lstStyle/>
          <a:p>
            <a:r>
              <a:rPr lang="en-US" dirty="0"/>
              <a:t>errors</a:t>
            </a:r>
          </a:p>
        </p:txBody>
      </p:sp>
      <p:pic>
        <p:nvPicPr>
          <p:cNvPr id="3" name="Picture 2">
            <a:extLst>
              <a:ext uri="{FF2B5EF4-FFF2-40B4-BE49-F238E27FC236}">
                <a16:creationId xmlns:a16="http://schemas.microsoft.com/office/drawing/2014/main" id="{28F7338B-460A-41A7-BA27-A59DDDB5A54B}"/>
              </a:ext>
            </a:extLst>
          </p:cNvPr>
          <p:cNvPicPr>
            <a:picLocks noChangeAspect="1"/>
          </p:cNvPicPr>
          <p:nvPr/>
        </p:nvPicPr>
        <p:blipFill>
          <a:blip r:embed="rId2"/>
          <a:stretch>
            <a:fillRect/>
          </a:stretch>
        </p:blipFill>
        <p:spPr>
          <a:xfrm>
            <a:off x="234272" y="2306094"/>
            <a:ext cx="8505370" cy="1353823"/>
          </a:xfrm>
          <a:prstGeom prst="rect">
            <a:avLst/>
          </a:prstGeom>
        </p:spPr>
      </p:pic>
      <p:sp>
        <p:nvSpPr>
          <p:cNvPr id="4" name="TextBox 3">
            <a:extLst>
              <a:ext uri="{FF2B5EF4-FFF2-40B4-BE49-F238E27FC236}">
                <a16:creationId xmlns:a16="http://schemas.microsoft.com/office/drawing/2014/main" id="{E8104D41-C906-4F75-B1D9-3BAA447F4CD6}"/>
              </a:ext>
            </a:extLst>
          </p:cNvPr>
          <p:cNvSpPr txBox="1"/>
          <p:nvPr/>
        </p:nvSpPr>
        <p:spPr>
          <a:xfrm>
            <a:off x="179204" y="987920"/>
            <a:ext cx="8661528" cy="646331"/>
          </a:xfrm>
          <a:prstGeom prst="rect">
            <a:avLst/>
          </a:prstGeom>
          <a:noFill/>
        </p:spPr>
        <p:txBody>
          <a:bodyPr wrap="square" rtlCol="0">
            <a:spAutoFit/>
          </a:bodyPr>
          <a:lstStyle/>
          <a:p>
            <a:pPr marL="285750" indent="-285750">
              <a:buFont typeface="Arial" panose="020B0604020202020204" pitchFamily="34" charset="0"/>
              <a:buChar char="•"/>
            </a:pPr>
            <a:r>
              <a:rPr lang="en-US" dirty="0" err="1"/>
              <a:t>Subseting</a:t>
            </a:r>
            <a:r>
              <a:rPr lang="en-US" dirty="0"/>
              <a:t> the </a:t>
            </a:r>
            <a:r>
              <a:rPr lang="en-US" dirty="0" err="1"/>
              <a:t>mtcars</a:t>
            </a:r>
            <a:r>
              <a:rPr lang="en-US" dirty="0"/>
              <a:t> </a:t>
            </a:r>
            <a:r>
              <a:rPr lang="en-US" dirty="0" err="1"/>
              <a:t>dataframe</a:t>
            </a:r>
            <a:r>
              <a:rPr lang="en-US" dirty="0"/>
              <a:t> where the variable </a:t>
            </a:r>
            <a:r>
              <a:rPr lang="en-US" dirty="0" err="1"/>
              <a:t>drot</a:t>
            </a:r>
            <a:r>
              <a:rPr lang="en-US" dirty="0"/>
              <a:t>&gt;3</a:t>
            </a:r>
          </a:p>
          <a:p>
            <a:pPr marL="285750" indent="-285750">
              <a:buFont typeface="Arial" panose="020B0604020202020204" pitchFamily="34" charset="0"/>
              <a:buChar char="•"/>
            </a:pPr>
            <a:r>
              <a:rPr lang="en-US" dirty="0"/>
              <a:t>No error is returned, however the resulting </a:t>
            </a:r>
            <a:r>
              <a:rPr lang="en-US" dirty="0" err="1"/>
              <a:t>dataframe</a:t>
            </a:r>
            <a:r>
              <a:rPr lang="en-US" dirty="0"/>
              <a:t> has 0 rows</a:t>
            </a:r>
          </a:p>
        </p:txBody>
      </p:sp>
      <p:pic>
        <p:nvPicPr>
          <p:cNvPr id="5" name="Picture 4">
            <a:extLst>
              <a:ext uri="{FF2B5EF4-FFF2-40B4-BE49-F238E27FC236}">
                <a16:creationId xmlns:a16="http://schemas.microsoft.com/office/drawing/2014/main" id="{A79AECF7-0B20-452C-A079-6AC401550398}"/>
              </a:ext>
            </a:extLst>
          </p:cNvPr>
          <p:cNvPicPr>
            <a:picLocks noChangeAspect="1"/>
          </p:cNvPicPr>
          <p:nvPr/>
        </p:nvPicPr>
        <p:blipFill>
          <a:blip r:embed="rId3"/>
          <a:stretch>
            <a:fillRect/>
          </a:stretch>
        </p:blipFill>
        <p:spPr>
          <a:xfrm>
            <a:off x="179204" y="4606169"/>
            <a:ext cx="7848217" cy="1456516"/>
          </a:xfrm>
          <a:prstGeom prst="rect">
            <a:avLst/>
          </a:prstGeom>
        </p:spPr>
      </p:pic>
      <p:sp>
        <p:nvSpPr>
          <p:cNvPr id="6" name="TextBox 5">
            <a:extLst>
              <a:ext uri="{FF2B5EF4-FFF2-40B4-BE49-F238E27FC236}">
                <a16:creationId xmlns:a16="http://schemas.microsoft.com/office/drawing/2014/main" id="{392490B1-6180-464E-BA98-661656DD3BE3}"/>
              </a:ext>
            </a:extLst>
          </p:cNvPr>
          <p:cNvSpPr txBox="1"/>
          <p:nvPr/>
        </p:nvSpPr>
        <p:spPr>
          <a:xfrm>
            <a:off x="234272" y="3887349"/>
            <a:ext cx="7701250" cy="461665"/>
          </a:xfrm>
          <a:prstGeom prst="rect">
            <a:avLst/>
          </a:prstGeom>
          <a:noFill/>
        </p:spPr>
        <p:txBody>
          <a:bodyPr wrap="square" rtlCol="0">
            <a:spAutoFit/>
          </a:bodyPr>
          <a:lstStyle/>
          <a:p>
            <a:pPr algn="ctr"/>
            <a:r>
              <a:rPr lang="en-US" sz="2400" dirty="0"/>
              <a:t>Why ?</a:t>
            </a:r>
          </a:p>
        </p:txBody>
      </p:sp>
    </p:spTree>
    <p:extLst>
      <p:ext uri="{BB962C8B-B14F-4D97-AF65-F5344CB8AC3E}">
        <p14:creationId xmlns:p14="http://schemas.microsoft.com/office/powerpoint/2010/main" val="86120953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7AEADF-1DBC-4042-9EFA-094CC6515622}"/>
              </a:ext>
            </a:extLst>
          </p:cNvPr>
          <p:cNvSpPr>
            <a:spLocks noGrp="1"/>
          </p:cNvSpPr>
          <p:nvPr>
            <p:ph type="body" sz="quarter" idx="10"/>
          </p:nvPr>
        </p:nvSpPr>
        <p:spPr/>
        <p:txBody>
          <a:bodyPr/>
          <a:lstStyle/>
          <a:p>
            <a:r>
              <a:rPr lang="en-US" dirty="0"/>
              <a:t>errors</a:t>
            </a:r>
          </a:p>
        </p:txBody>
      </p:sp>
      <p:pic>
        <p:nvPicPr>
          <p:cNvPr id="3" name="Picture 2">
            <a:extLst>
              <a:ext uri="{FF2B5EF4-FFF2-40B4-BE49-F238E27FC236}">
                <a16:creationId xmlns:a16="http://schemas.microsoft.com/office/drawing/2014/main" id="{6990BDCF-DA91-45B8-9265-F01BBDA631F5}"/>
              </a:ext>
            </a:extLst>
          </p:cNvPr>
          <p:cNvPicPr>
            <a:picLocks noChangeAspect="1"/>
          </p:cNvPicPr>
          <p:nvPr/>
        </p:nvPicPr>
        <p:blipFill rotWithShape="1">
          <a:blip r:embed="rId2"/>
          <a:srcRect r="6281"/>
          <a:stretch/>
        </p:blipFill>
        <p:spPr>
          <a:xfrm>
            <a:off x="363235" y="2066162"/>
            <a:ext cx="8569628" cy="1025535"/>
          </a:xfrm>
          <a:prstGeom prst="rect">
            <a:avLst/>
          </a:prstGeom>
        </p:spPr>
      </p:pic>
      <p:sp>
        <p:nvSpPr>
          <p:cNvPr id="4" name="TextBox 3">
            <a:extLst>
              <a:ext uri="{FF2B5EF4-FFF2-40B4-BE49-F238E27FC236}">
                <a16:creationId xmlns:a16="http://schemas.microsoft.com/office/drawing/2014/main" id="{71458469-1776-4F63-AB35-8E2EC81464FD}"/>
              </a:ext>
            </a:extLst>
          </p:cNvPr>
          <p:cNvSpPr txBox="1"/>
          <p:nvPr/>
        </p:nvSpPr>
        <p:spPr>
          <a:xfrm>
            <a:off x="317053" y="960350"/>
            <a:ext cx="8316905" cy="369332"/>
          </a:xfrm>
          <a:prstGeom prst="rect">
            <a:avLst/>
          </a:prstGeom>
          <a:noFill/>
        </p:spPr>
        <p:txBody>
          <a:bodyPr wrap="square" rtlCol="0">
            <a:spAutoFit/>
          </a:bodyPr>
          <a:lstStyle/>
          <a:p>
            <a:r>
              <a:rPr lang="en-US" dirty="0" err="1"/>
              <a:t>Subseting</a:t>
            </a:r>
            <a:r>
              <a:rPr lang="en-US" dirty="0"/>
              <a:t> the </a:t>
            </a:r>
            <a:r>
              <a:rPr lang="en-US" dirty="0" err="1"/>
              <a:t>dataframe</a:t>
            </a:r>
            <a:r>
              <a:rPr lang="en-US" dirty="0"/>
              <a:t> census by taking all the rows and columns 20 to 25</a:t>
            </a:r>
          </a:p>
        </p:txBody>
      </p:sp>
      <p:sp>
        <p:nvSpPr>
          <p:cNvPr id="5" name="TextBox 4">
            <a:extLst>
              <a:ext uri="{FF2B5EF4-FFF2-40B4-BE49-F238E27FC236}">
                <a16:creationId xmlns:a16="http://schemas.microsoft.com/office/drawing/2014/main" id="{2305CD32-0F5F-416C-AFCC-13E18888203A}"/>
              </a:ext>
            </a:extLst>
          </p:cNvPr>
          <p:cNvSpPr txBox="1"/>
          <p:nvPr/>
        </p:nvSpPr>
        <p:spPr>
          <a:xfrm>
            <a:off x="363235" y="3473801"/>
            <a:ext cx="8495877" cy="369332"/>
          </a:xfrm>
          <a:prstGeom prst="rect">
            <a:avLst/>
          </a:prstGeom>
          <a:noFill/>
        </p:spPr>
        <p:txBody>
          <a:bodyPr wrap="square" rtlCol="0">
            <a:spAutoFit/>
          </a:bodyPr>
          <a:lstStyle/>
          <a:p>
            <a:r>
              <a:rPr lang="en-US" dirty="0"/>
              <a:t>census has only 23 columns</a:t>
            </a:r>
          </a:p>
        </p:txBody>
      </p:sp>
    </p:spTree>
    <p:extLst>
      <p:ext uri="{BB962C8B-B14F-4D97-AF65-F5344CB8AC3E}">
        <p14:creationId xmlns:p14="http://schemas.microsoft.com/office/powerpoint/2010/main" val="341602607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60096FA-CD71-4187-9107-448835ECBD2D}"/>
              </a:ext>
            </a:extLst>
          </p:cNvPr>
          <p:cNvSpPr>
            <a:spLocks noGrp="1"/>
          </p:cNvSpPr>
          <p:nvPr>
            <p:ph type="body" sz="quarter" idx="10"/>
          </p:nvPr>
        </p:nvSpPr>
        <p:spPr/>
        <p:txBody>
          <a:bodyPr/>
          <a:lstStyle/>
          <a:p>
            <a:r>
              <a:rPr lang="en-US" dirty="0"/>
              <a:t>errors</a:t>
            </a:r>
          </a:p>
        </p:txBody>
      </p:sp>
      <p:pic>
        <p:nvPicPr>
          <p:cNvPr id="5" name="Picture 4">
            <a:extLst>
              <a:ext uri="{FF2B5EF4-FFF2-40B4-BE49-F238E27FC236}">
                <a16:creationId xmlns:a16="http://schemas.microsoft.com/office/drawing/2014/main" id="{E49E3D15-3B2E-41A0-8BBE-7AB54ED35363}"/>
              </a:ext>
            </a:extLst>
          </p:cNvPr>
          <p:cNvPicPr>
            <a:picLocks noChangeAspect="1"/>
          </p:cNvPicPr>
          <p:nvPr/>
        </p:nvPicPr>
        <p:blipFill>
          <a:blip r:embed="rId2"/>
          <a:stretch>
            <a:fillRect/>
          </a:stretch>
        </p:blipFill>
        <p:spPr>
          <a:xfrm>
            <a:off x="274690" y="2715630"/>
            <a:ext cx="8658173" cy="1774435"/>
          </a:xfrm>
          <a:prstGeom prst="rect">
            <a:avLst/>
          </a:prstGeom>
        </p:spPr>
      </p:pic>
      <p:sp>
        <p:nvSpPr>
          <p:cNvPr id="6" name="TextBox 5">
            <a:extLst>
              <a:ext uri="{FF2B5EF4-FFF2-40B4-BE49-F238E27FC236}">
                <a16:creationId xmlns:a16="http://schemas.microsoft.com/office/drawing/2014/main" id="{0F826A5F-0494-4BDB-95F4-7458F9CD4127}"/>
              </a:ext>
            </a:extLst>
          </p:cNvPr>
          <p:cNvSpPr txBox="1"/>
          <p:nvPr/>
        </p:nvSpPr>
        <p:spPr>
          <a:xfrm>
            <a:off x="312458" y="960350"/>
            <a:ext cx="8022826" cy="646331"/>
          </a:xfrm>
          <a:prstGeom prst="rect">
            <a:avLst/>
          </a:prstGeom>
          <a:noFill/>
        </p:spPr>
        <p:txBody>
          <a:bodyPr wrap="square" rtlCol="0">
            <a:spAutoFit/>
          </a:bodyPr>
          <a:lstStyle/>
          <a:p>
            <a:r>
              <a:rPr lang="en-US" dirty="0"/>
              <a:t>While trying to install the library….</a:t>
            </a:r>
          </a:p>
          <a:p>
            <a:r>
              <a:rPr lang="en-US" dirty="0"/>
              <a:t>typo….</a:t>
            </a:r>
          </a:p>
        </p:txBody>
      </p:sp>
    </p:spTree>
    <p:extLst>
      <p:ext uri="{BB962C8B-B14F-4D97-AF65-F5344CB8AC3E}">
        <p14:creationId xmlns:p14="http://schemas.microsoft.com/office/powerpoint/2010/main" val="147284827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7AEADF-1DBC-4042-9EFA-094CC6515622}"/>
              </a:ext>
            </a:extLst>
          </p:cNvPr>
          <p:cNvSpPr>
            <a:spLocks noGrp="1"/>
          </p:cNvSpPr>
          <p:nvPr>
            <p:ph type="body" sz="quarter" idx="10"/>
          </p:nvPr>
        </p:nvSpPr>
        <p:spPr/>
        <p:txBody>
          <a:bodyPr/>
          <a:lstStyle/>
          <a:p>
            <a:r>
              <a:rPr lang="en-US" dirty="0"/>
              <a:t>errors</a:t>
            </a:r>
          </a:p>
        </p:txBody>
      </p:sp>
      <p:pic>
        <p:nvPicPr>
          <p:cNvPr id="3" name="Picture 2">
            <a:extLst>
              <a:ext uri="{FF2B5EF4-FFF2-40B4-BE49-F238E27FC236}">
                <a16:creationId xmlns:a16="http://schemas.microsoft.com/office/drawing/2014/main" id="{D42D2169-D542-4298-AD5F-DDE493E846AF}"/>
              </a:ext>
            </a:extLst>
          </p:cNvPr>
          <p:cNvPicPr>
            <a:picLocks noChangeAspect="1"/>
          </p:cNvPicPr>
          <p:nvPr/>
        </p:nvPicPr>
        <p:blipFill>
          <a:blip r:embed="rId2"/>
          <a:stretch>
            <a:fillRect/>
          </a:stretch>
        </p:blipFill>
        <p:spPr>
          <a:xfrm>
            <a:off x="615727" y="2578334"/>
            <a:ext cx="6954087" cy="2127685"/>
          </a:xfrm>
          <a:prstGeom prst="rect">
            <a:avLst/>
          </a:prstGeom>
        </p:spPr>
      </p:pic>
      <p:sp>
        <p:nvSpPr>
          <p:cNvPr id="4" name="TextBox 3">
            <a:extLst>
              <a:ext uri="{FF2B5EF4-FFF2-40B4-BE49-F238E27FC236}">
                <a16:creationId xmlns:a16="http://schemas.microsoft.com/office/drawing/2014/main" id="{A87F0DA2-D348-4C47-A715-E9D7FE80ED31}"/>
              </a:ext>
            </a:extLst>
          </p:cNvPr>
          <p:cNvSpPr txBox="1"/>
          <p:nvPr/>
        </p:nvSpPr>
        <p:spPr>
          <a:xfrm>
            <a:off x="574372" y="987920"/>
            <a:ext cx="8119320" cy="923330"/>
          </a:xfrm>
          <a:prstGeom prst="rect">
            <a:avLst/>
          </a:prstGeom>
          <a:noFill/>
        </p:spPr>
        <p:txBody>
          <a:bodyPr wrap="square" rtlCol="0">
            <a:spAutoFit/>
          </a:bodyPr>
          <a:lstStyle/>
          <a:p>
            <a:pPr marL="285750" indent="-285750">
              <a:buFont typeface="Arial" panose="020B0604020202020204" pitchFamily="34" charset="0"/>
              <a:buChar char="•"/>
            </a:pPr>
            <a:r>
              <a:rPr lang="en-US" dirty="0"/>
              <a:t>Plus sign in the console and nothing is happening</a:t>
            </a:r>
          </a:p>
          <a:p>
            <a:pPr marL="285750" indent="-285750">
              <a:buFont typeface="Arial" panose="020B0604020202020204" pitchFamily="34" charset="0"/>
              <a:buChar char="•"/>
            </a:pPr>
            <a:r>
              <a:rPr lang="en-US" dirty="0"/>
              <a:t>you forgot to close the parenthesis</a:t>
            </a:r>
          </a:p>
          <a:p>
            <a:pPr marL="285750" indent="-285750">
              <a:buFont typeface="Arial" panose="020B0604020202020204" pitchFamily="34" charset="0"/>
              <a:buChar char="•"/>
            </a:pPr>
            <a:r>
              <a:rPr lang="en-US" dirty="0"/>
              <a:t>hit ESC while in console and fix the code </a:t>
            </a:r>
          </a:p>
        </p:txBody>
      </p:sp>
    </p:spTree>
    <p:extLst>
      <p:ext uri="{BB962C8B-B14F-4D97-AF65-F5344CB8AC3E}">
        <p14:creationId xmlns:p14="http://schemas.microsoft.com/office/powerpoint/2010/main" val="388157861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7AEADF-1DBC-4042-9EFA-094CC6515622}"/>
              </a:ext>
            </a:extLst>
          </p:cNvPr>
          <p:cNvSpPr>
            <a:spLocks noGrp="1"/>
          </p:cNvSpPr>
          <p:nvPr>
            <p:ph type="body" sz="quarter" idx="10"/>
          </p:nvPr>
        </p:nvSpPr>
        <p:spPr/>
        <p:txBody>
          <a:bodyPr/>
          <a:lstStyle/>
          <a:p>
            <a:r>
              <a:rPr lang="en-US" dirty="0"/>
              <a:t>errors</a:t>
            </a:r>
          </a:p>
        </p:txBody>
      </p:sp>
      <p:pic>
        <p:nvPicPr>
          <p:cNvPr id="3" name="Picture 2">
            <a:extLst>
              <a:ext uri="{FF2B5EF4-FFF2-40B4-BE49-F238E27FC236}">
                <a16:creationId xmlns:a16="http://schemas.microsoft.com/office/drawing/2014/main" id="{069B2ABB-1746-472F-B686-84DF4C1DA0CD}"/>
              </a:ext>
            </a:extLst>
          </p:cNvPr>
          <p:cNvPicPr>
            <a:picLocks noChangeAspect="1"/>
          </p:cNvPicPr>
          <p:nvPr/>
        </p:nvPicPr>
        <p:blipFill>
          <a:blip r:embed="rId2"/>
          <a:stretch>
            <a:fillRect/>
          </a:stretch>
        </p:blipFill>
        <p:spPr>
          <a:xfrm>
            <a:off x="294078" y="2396549"/>
            <a:ext cx="8247980" cy="4048638"/>
          </a:xfrm>
          <a:prstGeom prst="rect">
            <a:avLst/>
          </a:prstGeom>
        </p:spPr>
      </p:pic>
      <p:sp>
        <p:nvSpPr>
          <p:cNvPr id="4" name="TextBox 3">
            <a:extLst>
              <a:ext uri="{FF2B5EF4-FFF2-40B4-BE49-F238E27FC236}">
                <a16:creationId xmlns:a16="http://schemas.microsoft.com/office/drawing/2014/main" id="{59BF6A66-5CFE-4922-B922-ABCA2F30F74A}"/>
              </a:ext>
            </a:extLst>
          </p:cNvPr>
          <p:cNvSpPr txBox="1"/>
          <p:nvPr/>
        </p:nvSpPr>
        <p:spPr>
          <a:xfrm>
            <a:off x="349218" y="1075224"/>
            <a:ext cx="8041206" cy="646331"/>
          </a:xfrm>
          <a:prstGeom prst="rect">
            <a:avLst/>
          </a:prstGeom>
          <a:noFill/>
        </p:spPr>
        <p:txBody>
          <a:bodyPr wrap="square" rtlCol="0">
            <a:spAutoFit/>
          </a:bodyPr>
          <a:lstStyle/>
          <a:p>
            <a:pPr marL="285750" indent="-285750">
              <a:buFont typeface="Arial" panose="020B0604020202020204" pitchFamily="34" charset="0"/>
              <a:buChar char="•"/>
            </a:pPr>
            <a:r>
              <a:rPr lang="en-US" dirty="0"/>
              <a:t>Some part of the code is in green,</a:t>
            </a:r>
          </a:p>
          <a:p>
            <a:pPr marL="285750" indent="-285750">
              <a:buFont typeface="Arial" panose="020B0604020202020204" pitchFamily="34" charset="0"/>
              <a:buChar char="•"/>
            </a:pPr>
            <a:r>
              <a:rPr lang="en-US" dirty="0"/>
              <a:t>error indicators</a:t>
            </a:r>
          </a:p>
        </p:txBody>
      </p:sp>
      <p:sp>
        <p:nvSpPr>
          <p:cNvPr id="5" name="Rectangle 4">
            <a:extLst>
              <a:ext uri="{FF2B5EF4-FFF2-40B4-BE49-F238E27FC236}">
                <a16:creationId xmlns:a16="http://schemas.microsoft.com/office/drawing/2014/main" id="{C6B51A08-8C77-4BC5-ABBD-3E388612ABDC}"/>
              </a:ext>
            </a:extLst>
          </p:cNvPr>
          <p:cNvSpPr/>
          <p:nvPr/>
        </p:nvSpPr>
        <p:spPr>
          <a:xfrm>
            <a:off x="82710" y="2396549"/>
            <a:ext cx="675461" cy="419724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44CFE5E1-DE62-4A83-A98F-3D2DAF71C993}"/>
              </a:ext>
            </a:extLst>
          </p:cNvPr>
          <p:cNvCxnSpPr/>
          <p:nvPr/>
        </p:nvCxnSpPr>
        <p:spPr>
          <a:xfrm flipH="1">
            <a:off x="588157" y="1507152"/>
            <a:ext cx="1093604" cy="8225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964751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7AEADF-1DBC-4042-9EFA-094CC6515622}"/>
              </a:ext>
            </a:extLst>
          </p:cNvPr>
          <p:cNvSpPr>
            <a:spLocks noGrp="1"/>
          </p:cNvSpPr>
          <p:nvPr>
            <p:ph type="body" sz="quarter" idx="10"/>
          </p:nvPr>
        </p:nvSpPr>
        <p:spPr/>
        <p:txBody>
          <a:bodyPr/>
          <a:lstStyle/>
          <a:p>
            <a:r>
              <a:rPr lang="en-US" dirty="0"/>
              <a:t>errors</a:t>
            </a:r>
          </a:p>
        </p:txBody>
      </p:sp>
      <p:pic>
        <p:nvPicPr>
          <p:cNvPr id="3" name="Picture 2">
            <a:extLst>
              <a:ext uri="{FF2B5EF4-FFF2-40B4-BE49-F238E27FC236}">
                <a16:creationId xmlns:a16="http://schemas.microsoft.com/office/drawing/2014/main" id="{4BE3FE62-2B09-4F23-8F75-F62071B23404}"/>
              </a:ext>
            </a:extLst>
          </p:cNvPr>
          <p:cNvPicPr>
            <a:picLocks noChangeAspect="1"/>
          </p:cNvPicPr>
          <p:nvPr/>
        </p:nvPicPr>
        <p:blipFill>
          <a:blip r:embed="rId2"/>
          <a:stretch>
            <a:fillRect/>
          </a:stretch>
        </p:blipFill>
        <p:spPr>
          <a:xfrm>
            <a:off x="294078" y="2396549"/>
            <a:ext cx="8247980" cy="4048638"/>
          </a:xfrm>
          <a:prstGeom prst="rect">
            <a:avLst/>
          </a:prstGeom>
        </p:spPr>
      </p:pic>
      <p:sp>
        <p:nvSpPr>
          <p:cNvPr id="4" name="TextBox 3">
            <a:extLst>
              <a:ext uri="{FF2B5EF4-FFF2-40B4-BE49-F238E27FC236}">
                <a16:creationId xmlns:a16="http://schemas.microsoft.com/office/drawing/2014/main" id="{748D7E08-4F11-4F4F-BA5E-8937F8ACDFDF}"/>
              </a:ext>
            </a:extLst>
          </p:cNvPr>
          <p:cNvSpPr txBox="1"/>
          <p:nvPr/>
        </p:nvSpPr>
        <p:spPr>
          <a:xfrm>
            <a:off x="211369" y="909805"/>
            <a:ext cx="8477728" cy="646331"/>
          </a:xfrm>
          <a:prstGeom prst="rect">
            <a:avLst/>
          </a:prstGeom>
          <a:noFill/>
        </p:spPr>
        <p:txBody>
          <a:bodyPr wrap="square" rtlCol="0">
            <a:spAutoFit/>
          </a:bodyPr>
          <a:lstStyle/>
          <a:p>
            <a:pPr marL="285750" indent="-285750">
              <a:buFont typeface="Arial" panose="020B0604020202020204" pitchFamily="34" charset="0"/>
              <a:buChar char="•"/>
            </a:pPr>
            <a:r>
              <a:rPr lang="en-US" dirty="0"/>
              <a:t>The strings</a:t>
            </a:r>
            <a:r>
              <a:rPr lang="hy-AM" dirty="0"/>
              <a:t> </a:t>
            </a:r>
            <a:r>
              <a:rPr lang="en-US" dirty="0"/>
              <a:t>need to be in quotation marks.</a:t>
            </a:r>
          </a:p>
          <a:p>
            <a:pPr marL="285750" indent="-285750">
              <a:buFont typeface="Arial" panose="020B0604020202020204" pitchFamily="34" charset="0"/>
              <a:buChar char="•"/>
            </a:pPr>
            <a:r>
              <a:rPr lang="en-US" dirty="0"/>
              <a:t>Try to find the problem here </a:t>
            </a:r>
          </a:p>
        </p:txBody>
      </p:sp>
    </p:spTree>
    <p:extLst>
      <p:ext uri="{BB962C8B-B14F-4D97-AF65-F5344CB8AC3E}">
        <p14:creationId xmlns:p14="http://schemas.microsoft.com/office/powerpoint/2010/main" val="346089629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ESM 315-Design and analysis of experiments.potx" id="{C4DD6018-FA68-40CC-B089-DC691B0DE238}" vid="{87CA98C4-DCD9-428E-B767-83C349E2CDE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CSE 252 - Data Science</Template>
  <TotalTime>3134</TotalTime>
  <Words>3001</Words>
  <Application>Microsoft Office PowerPoint</Application>
  <PresentationFormat>On-screen Show (4:3)</PresentationFormat>
  <Paragraphs>496</Paragraphs>
  <Slides>129</Slides>
  <Notes>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129</vt:i4>
      </vt:variant>
    </vt:vector>
  </HeadingPairs>
  <TitlesOfParts>
    <vt:vector size="141" baseType="lpstr">
      <vt:lpstr>Arial</vt:lpstr>
      <vt:lpstr>Calibri</vt:lpstr>
      <vt:lpstr>Calibri Light</vt:lpstr>
      <vt:lpstr>Courier New</vt:lpstr>
      <vt:lpstr>Helvetica Neue</vt:lpstr>
      <vt:lpstr>karmina-sans</vt:lpstr>
      <vt:lpstr>lato</vt:lpstr>
      <vt:lpstr>Lora</vt:lpstr>
      <vt:lpstr>Open Sans</vt:lpstr>
      <vt:lpstr>Roboto Mono</vt:lpstr>
      <vt:lpstr>Source Sans Pro</vt:lpstr>
      <vt:lpstr>Office Theme</vt:lpstr>
      <vt:lpstr>Intro to 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PC1</dc:creator>
  <cp:lastModifiedBy>PC1</cp:lastModifiedBy>
  <cp:revision>112</cp:revision>
  <cp:lastPrinted>2017-05-29T15:33:05Z</cp:lastPrinted>
  <dcterms:created xsi:type="dcterms:W3CDTF">2018-05-27T15:03:13Z</dcterms:created>
  <dcterms:modified xsi:type="dcterms:W3CDTF">2019-09-11T11:30:21Z</dcterms:modified>
</cp:coreProperties>
</file>